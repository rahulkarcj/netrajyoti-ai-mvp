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NetraJyoti is a Bengali-first eye-care guidance MVP. I will show the user problem, the safety architecture, the live user journey, and the evidence for what is currently implemented. Time: 25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need is simple and human: a user must understand what to do next. The product addresses uncertainty about urgency, language access, and service navigation. Time: 40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path determines the route. The React app sends fixed codes, PostgreSQL retrieves matching criteria, and Java locks Urgent, Human Support, or Routine. Only after that lock does PostgreSQL retrieve guidance. Optional local Ollama can explain the already selected route. Java validates it and returns fallback copy if needed. Time: 65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implementation and evidence slide. The live stack uses React, Java, PostgreSQL, and optional local Ollama. Jira records 11 resolved linked delivery stories. The current automated evidence is deliberately limited to Java unit tests for routing and output validation; full pilot validation is still required. Time: 50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user moves through a short common intake: consent, symptoms, and urgent-sign checking. Java returns one route. The result pages then provide urgent care direction, routine service direction, or visible human support. Return and restart actions stay available throughout. Time: 55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on the core outcome: the capstone provides a working safety-guidance MVP. Its most important design decision is that Java, not the model, selects the route. Clinical approval, operational service data, and broader validation are the next pilot gates. Time: 40 seconds.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2B39"/>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B3AE934-30F0-41DA-8EBA-FBF987258E8B}"/>
              </a:ext>
            </a:extLst>
          </p:cNvPr>
          <p:cNvSpPr>
            <a:spLocks noGrp="1"/>
          </p:cNvSpPr>
          <p:nvPr/>
        </p:nvSpPr>
        <p:spPr>
          <a:xfrm>
            <a:off x="742950" y="866775"/>
            <a:ext cx="952500" cy="57150"/>
          </a:xfrm>
          <a:prstGeom prst="rect">
            <a:avLst/>
          </a:prstGeom>
          <a:solidFill>
            <a:srgbClr val="00A28F"/>
          </a:solidFill>
          <a:ln w="9525">
            <a:solidFill>
              <a:srgbClr val="00A28F"/>
            </a:solidFill>
          </a:ln>
        </p:spPr>
      </p:sp>
      <p:sp>
        <p:nvSpPr>
          <p:cNvPr id="2" name="Rectangle 1">
            <a:extLst>
              <a:ext uri="{FF2B5EF4-FFF2-40B4-BE49-F238E27FC236}">
                <a16:creationId xmlns:a16="http://schemas.microsoft.com/office/drawing/2014/main" id="{C3CF3C36-3CF5-4B83-AD10-28F75EE9162F}"/>
              </a:ext>
            </a:extLst>
          </p:cNvPr>
          <p:cNvSpPr>
            <a:spLocks noGrp="1"/>
          </p:cNvSpPr>
          <p:nvPr/>
        </p:nvSpPr>
        <p:spPr>
          <a:xfrm>
            <a:off x="742950" y="1200150"/>
            <a:ext cx="5334000" cy="714375"/>
          </a:xfrm>
          <a:prstGeom prst="rect">
            <a:avLst/>
          </a:prstGeom>
          <a:noFill/>
          <a:ln w="0">
            <a:noFill/>
          </a:ln>
        </p:spPr>
        <p:txBody>
          <a:bodyPr>
            <a:normAutofit/>
          </a:bodyPr>
          <a:lstStyle/>
          <a:p>
            <a:pPr>
              <a:buNone/>
              <a:defRPr sz="3900" b="1">
                <a:solidFill>
                  <a:srgbClr val="FFFFFF"/>
                </a:solidFill>
                <a:latin typeface="Arial"/>
                <a:ea typeface="Arial"/>
                <a:cs typeface="Arial"/>
              </a:defRPr>
            </a:pPr>
            <a:r>
              <a:rPr sz="3900" b="1">
                <a:solidFill>
                  <a:srgbClr val="FFFFFF"/>
                </a:solidFill>
                <a:latin typeface="Arial"/>
                <a:ea typeface="Arial"/>
                <a:cs typeface="Arial"/>
              </a:rPr>
              <a:t>NETRAJYOTI AI</a:t>
            </a:r>
          </a:p>
        </p:txBody>
      </p:sp>
      <p:sp>
        <p:nvSpPr>
          <p:cNvPr id="3" name="Rectangle 2">
            <a:extLst>
              <a:ext uri="{FF2B5EF4-FFF2-40B4-BE49-F238E27FC236}">
                <a16:creationId xmlns:a16="http://schemas.microsoft.com/office/drawing/2014/main" id="{A26DD914-328F-4695-A959-01DD7BD28B61}"/>
              </a:ext>
            </a:extLst>
          </p:cNvPr>
          <p:cNvSpPr>
            <a:spLocks noGrp="1"/>
          </p:cNvSpPr>
          <p:nvPr/>
        </p:nvSpPr>
        <p:spPr>
          <a:xfrm>
            <a:off x="752475" y="2143125"/>
            <a:ext cx="4857750" cy="895350"/>
          </a:xfrm>
          <a:prstGeom prst="rect">
            <a:avLst/>
          </a:prstGeom>
          <a:noFill/>
          <a:ln w="0">
            <a:noFill/>
          </a:ln>
        </p:spPr>
        <p:txBody>
          <a:bodyPr>
            <a:normAutofit/>
          </a:bodyPr>
          <a:lstStyle/>
          <a:p>
            <a:pPr>
              <a:buNone/>
              <a:defRPr sz="2175" b="0">
                <a:solidFill>
                  <a:srgbClr val="D5EBE8"/>
                </a:solidFill>
                <a:latin typeface="Arial"/>
                <a:ea typeface="Arial"/>
                <a:cs typeface="Arial"/>
              </a:defRPr>
            </a:pPr>
            <a:r>
              <a:rPr sz="2175" b="0">
                <a:solidFill>
                  <a:srgbClr val="D5EBE8"/>
                </a:solidFill>
                <a:latin typeface="Arial"/>
                <a:ea typeface="Arial"/>
                <a:cs typeface="Arial"/>
              </a:rPr>
              <a:t>Bengali-first eye-care guidance</a:t>
            </a:r>
          </a:p>
          <a:p>
            <a:pPr>
              <a:buNone/>
              <a:defRPr sz="2175" b="0">
                <a:solidFill>
                  <a:srgbClr val="D5EBE8"/>
                </a:solidFill>
                <a:latin typeface="Arial"/>
                <a:ea typeface="Arial"/>
                <a:cs typeface="Arial"/>
              </a:defRPr>
            </a:pPr>
            <a:r>
              <a:rPr sz="2175" b="0">
                <a:solidFill>
                  <a:srgbClr val="D5EBE8"/>
                </a:solidFill>
                <a:latin typeface="Arial"/>
                <a:ea typeface="Arial"/>
                <a:cs typeface="Arial"/>
              </a:rPr>
              <a:t>for safer next steps</a:t>
            </a:r>
          </a:p>
        </p:txBody>
      </p:sp>
      <p:sp>
        <p:nvSpPr>
          <p:cNvPr id="4" name="Rectangle 3">
            <a:extLst>
              <a:ext uri="{FF2B5EF4-FFF2-40B4-BE49-F238E27FC236}">
                <a16:creationId xmlns:a16="http://schemas.microsoft.com/office/drawing/2014/main" id="{98E6B39D-6233-415D-A7CE-5E30011975CA}"/>
              </a:ext>
            </a:extLst>
          </p:cNvPr>
          <p:cNvSpPr>
            <a:spLocks noGrp="1"/>
          </p:cNvSpPr>
          <p:nvPr/>
        </p:nvSpPr>
        <p:spPr>
          <a:xfrm>
            <a:off x="762000" y="5810250"/>
            <a:ext cx="2381250" cy="209550"/>
          </a:xfrm>
          <a:prstGeom prst="rect">
            <a:avLst/>
          </a:prstGeom>
          <a:noFill/>
          <a:ln w="0">
            <a:noFill/>
          </a:ln>
        </p:spPr>
        <p:txBody>
          <a:bodyPr>
            <a:normAutofit fontScale="73809"/>
          </a:bodyPr>
          <a:lstStyle/>
          <a:p>
            <a:pPr>
              <a:buNone/>
              <a:defRPr sz="1050" b="0">
                <a:solidFill>
                  <a:srgbClr val="A5C6C2"/>
                </a:solidFill>
                <a:latin typeface="Arial"/>
                <a:ea typeface="Arial"/>
                <a:cs typeface="Arial"/>
              </a:defRPr>
            </a:pPr>
            <a:r>
              <a:rPr sz="1050" b="0">
                <a:solidFill>
                  <a:srgbClr val="A5C6C2"/>
                </a:solidFill>
                <a:latin typeface="Arial"/>
                <a:ea typeface="Arial"/>
                <a:cs typeface="Arial"/>
              </a:rPr>
              <a:t>Capstone presentation</a:t>
            </a:r>
          </a:p>
        </p:txBody>
      </p:sp>
      <p:sp>
        <p:nvSpPr>
          <p:cNvPr id="5" name="Rectangle: Rounded Corners 4">
            <a:extLst>
              <a:ext uri="{FF2B5EF4-FFF2-40B4-BE49-F238E27FC236}">
                <a16:creationId xmlns:a16="http://schemas.microsoft.com/office/drawing/2014/main" id="{315828C0-C0A6-42B1-82CD-517BC41DE834}"/>
              </a:ext>
            </a:extLst>
          </p:cNvPr>
          <p:cNvSpPr>
            <a:spLocks noGrp="1"/>
          </p:cNvSpPr>
          <p:nvPr/>
        </p:nvSpPr>
        <p:spPr>
          <a:xfrm>
            <a:off x="6772275" y="933450"/>
            <a:ext cx="3867150" cy="4819650"/>
          </a:xfrm>
          <a:prstGeom prst="roundRect">
            <a:avLst>
              <a:gd name="adj" fmla="val 1970"/>
            </a:avLst>
          </a:prstGeom>
          <a:solidFill>
            <a:srgbClr val="0B3A4A"/>
          </a:solidFill>
          <a:ln w="9525">
            <a:solidFill>
              <a:srgbClr val="0B3A4A"/>
            </a:solidFill>
          </a:ln>
        </p:spPr>
      </p:sp>
      <p:sp>
        <p:nvSpPr>
          <p:cNvPr id="6" name="Rectangle 5">
            <a:extLst>
              <a:ext uri="{FF2B5EF4-FFF2-40B4-BE49-F238E27FC236}">
                <a16:creationId xmlns:a16="http://schemas.microsoft.com/office/drawing/2014/main" id="{2791AE37-9DE3-4440-9B67-3A083AABD639}"/>
              </a:ext>
            </a:extLst>
          </p:cNvPr>
          <p:cNvSpPr>
            <a:spLocks noGrp="1"/>
          </p:cNvSpPr>
          <p:nvPr/>
        </p:nvSpPr>
        <p:spPr>
          <a:xfrm>
            <a:off x="7258050" y="1514475"/>
            <a:ext cx="2857500" cy="1409700"/>
          </a:xfrm>
          <a:prstGeom prst="rect">
            <a:avLst/>
          </a:prstGeom>
          <a:noFill/>
          <a:ln w="0">
            <a:noFill/>
          </a:ln>
        </p:spPr>
        <p:txBody>
          <a:bodyPr>
            <a:normAutofit/>
          </a:bodyPr>
          <a:lstStyle/>
          <a:p>
            <a:pPr>
              <a:buNone/>
              <a:defRPr sz="2475" b="1">
                <a:solidFill>
                  <a:srgbClr val="FFFFFF"/>
                </a:solidFill>
                <a:latin typeface="Arial"/>
                <a:ea typeface="Arial"/>
                <a:cs typeface="Arial"/>
              </a:defRPr>
            </a:pPr>
            <a:r>
              <a:rPr sz="2475" b="1">
                <a:solidFill>
                  <a:srgbClr val="FFFFFF"/>
                </a:solidFill>
                <a:latin typeface="Arial"/>
                <a:ea typeface="Arial"/>
                <a:cs typeface="Arial"/>
              </a:rPr>
              <a:t>GUIDANCE</a:t>
            </a:r>
          </a:p>
          <a:p>
            <a:pPr>
              <a:buNone/>
              <a:defRPr sz="2475" b="1">
                <a:solidFill>
                  <a:srgbClr val="FFFFFF"/>
                </a:solidFill>
                <a:latin typeface="Arial"/>
                <a:ea typeface="Arial"/>
                <a:cs typeface="Arial"/>
              </a:defRPr>
            </a:pPr>
            <a:r>
              <a:rPr sz="2475" b="1">
                <a:solidFill>
                  <a:srgbClr val="FFFFFF"/>
                </a:solidFill>
                <a:latin typeface="Arial"/>
                <a:ea typeface="Arial"/>
                <a:cs typeface="Arial"/>
              </a:rPr>
              <a:t>WITHOUT</a:t>
            </a:r>
          </a:p>
          <a:p>
            <a:pPr>
              <a:buNone/>
              <a:defRPr sz="2475" b="1">
                <a:solidFill>
                  <a:srgbClr val="FFFFFF"/>
                </a:solidFill>
                <a:latin typeface="Arial"/>
                <a:ea typeface="Arial"/>
                <a:cs typeface="Arial"/>
              </a:defRPr>
            </a:pPr>
            <a:r>
              <a:rPr sz="2475" b="1">
                <a:solidFill>
                  <a:srgbClr val="FFFFFF"/>
                </a:solidFill>
                <a:latin typeface="Arial"/>
                <a:ea typeface="Arial"/>
                <a:cs typeface="Arial"/>
              </a:rPr>
              <a:t>DIAGNOSIS</a:t>
            </a:r>
          </a:p>
        </p:txBody>
      </p:sp>
      <p:sp>
        <p:nvSpPr>
          <p:cNvPr id="7" name="Rectangle 6">
            <a:extLst>
              <a:ext uri="{FF2B5EF4-FFF2-40B4-BE49-F238E27FC236}">
                <a16:creationId xmlns:a16="http://schemas.microsoft.com/office/drawing/2014/main" id="{81772D4F-572F-495E-883A-63122DB9C7BF}"/>
              </a:ext>
            </a:extLst>
          </p:cNvPr>
          <p:cNvSpPr>
            <a:spLocks noGrp="1"/>
          </p:cNvSpPr>
          <p:nvPr/>
        </p:nvSpPr>
        <p:spPr>
          <a:xfrm>
            <a:off x="7486650" y="3305175"/>
            <a:ext cx="2381250" cy="38100"/>
          </a:xfrm>
          <a:prstGeom prst="rect">
            <a:avLst/>
          </a:prstGeom>
          <a:solidFill>
            <a:srgbClr val="00A28F"/>
          </a:solidFill>
          <a:ln w="9525">
            <a:solidFill>
              <a:srgbClr val="00A28F"/>
            </a:solidFill>
          </a:ln>
        </p:spPr>
      </p:sp>
      <p:sp>
        <p:nvSpPr>
          <p:cNvPr id="8" name="Rectangle 7">
            <a:extLst>
              <a:ext uri="{FF2B5EF4-FFF2-40B4-BE49-F238E27FC236}">
                <a16:creationId xmlns:a16="http://schemas.microsoft.com/office/drawing/2014/main" id="{D174E303-2C4B-49E0-9B9C-D56FD2F1263B}"/>
              </a:ext>
            </a:extLst>
          </p:cNvPr>
          <p:cNvSpPr>
            <a:spLocks noGrp="1"/>
          </p:cNvSpPr>
          <p:nvPr/>
        </p:nvSpPr>
        <p:spPr>
          <a:xfrm>
            <a:off x="7381875" y="3714750"/>
            <a:ext cx="2657475" cy="1114425"/>
          </a:xfrm>
          <a:prstGeom prst="rect">
            <a:avLst/>
          </a:prstGeom>
          <a:noFill/>
          <a:ln w="0">
            <a:noFill/>
          </a:ln>
        </p:spPr>
        <p:txBody>
          <a:bodyPr>
            <a:normAutofit fontScale="93125"/>
          </a:bodyPr>
          <a:lstStyle/>
          <a:p>
            <a:pPr>
              <a:buNone/>
              <a:defRPr sz="1350" b="0">
                <a:solidFill>
                  <a:srgbClr val="D5EBE8"/>
                </a:solidFill>
                <a:latin typeface="Arial"/>
                <a:ea typeface="Arial"/>
                <a:cs typeface="Arial"/>
              </a:defRPr>
            </a:pPr>
            <a:r>
              <a:rPr sz="1350" b="0">
                <a:solidFill>
                  <a:srgbClr val="D5EBE8"/>
                </a:solidFill>
                <a:latin typeface="Arial"/>
                <a:ea typeface="Arial"/>
                <a:cs typeface="Arial"/>
              </a:rPr>
              <a:t>A deterministic Java engine selects the safe route. PostgreSQL supplies approved demo context. Local Ollama explains only the route that Java has locked.</a:t>
            </a:r>
          </a:p>
        </p:txBody>
      </p:sp>
      <p:sp>
        <p:nvSpPr>
          <p:cNvPr id="9" name="Rectangle: Rounded Corners 8">
            <a:extLst>
              <a:ext uri="{FF2B5EF4-FFF2-40B4-BE49-F238E27FC236}">
                <a16:creationId xmlns:a16="http://schemas.microsoft.com/office/drawing/2014/main" id="{90EB5F28-5E01-41B7-BEF1-A35DA4D9C13F}"/>
              </a:ext>
            </a:extLst>
          </p:cNvPr>
          <p:cNvSpPr>
            <a:spLocks noGrp="1"/>
          </p:cNvSpPr>
          <p:nvPr/>
        </p:nvSpPr>
        <p:spPr>
          <a:xfrm>
            <a:off x="7010400" y="5133975"/>
            <a:ext cx="3390900" cy="323850"/>
          </a:xfrm>
          <a:prstGeom prst="roundRect">
            <a:avLst>
              <a:gd name="adj" fmla="val 23529"/>
            </a:avLst>
          </a:prstGeom>
          <a:solidFill>
            <a:srgbClr val="00A28F"/>
          </a:solidFill>
          <a:ln w="9525">
            <a:solidFill>
              <a:srgbClr val="00A28F"/>
            </a:solidFill>
          </a:ln>
        </p:spPr>
      </p:sp>
      <p:sp>
        <p:nvSpPr>
          <p:cNvPr id="10" name="Rectangle 9">
            <a:extLst>
              <a:ext uri="{FF2B5EF4-FFF2-40B4-BE49-F238E27FC236}">
                <a16:creationId xmlns:a16="http://schemas.microsoft.com/office/drawing/2014/main" id="{9A05A3D5-2BAA-4650-918C-795EDBBCCFC1}"/>
              </a:ext>
            </a:extLst>
          </p:cNvPr>
          <p:cNvSpPr>
            <a:spLocks noGrp="1"/>
          </p:cNvSpPr>
          <p:nvPr/>
        </p:nvSpPr>
        <p:spPr>
          <a:xfrm>
            <a:off x="7162800" y="5219700"/>
            <a:ext cx="3086100" cy="161925"/>
          </a:xfrm>
          <a:prstGeom prst="rect">
            <a:avLst/>
          </a:prstGeom>
          <a:noFill/>
          <a:ln w="0">
            <a:noFill/>
          </a:ln>
        </p:spPr>
        <p:txBody>
          <a:bodyPr>
            <a:normAutofit fontScale="56061"/>
          </a:bodyPr>
          <a:lstStyle/>
          <a:p>
            <a:pPr>
              <a:buNone/>
              <a:defRPr sz="825" b="1">
                <a:solidFill>
                  <a:srgbClr val="FFFFFF"/>
                </a:solidFill>
                <a:latin typeface="Arial"/>
                <a:ea typeface="Arial"/>
                <a:cs typeface="Arial"/>
              </a:defRPr>
            </a:pPr>
            <a:r>
              <a:rPr sz="825" b="1">
                <a:solidFill>
                  <a:srgbClr val="FFFFFF"/>
                </a:solidFill>
                <a:latin typeface="Arial"/>
                <a:ea typeface="Arial"/>
                <a:cs typeface="Arial"/>
              </a:rPr>
              <a:t>SAFE ROUTING  ·  BENGALI-FIRST UX</a:t>
            </a:r>
          </a:p>
        </p:txBody>
      </p:sp>
      <p:sp>
        <p:nvSpPr>
          <p:cNvPr id="12" name="Rectangle 11">
            <a:extLst>
              <a:ext uri="{FF2B5EF4-FFF2-40B4-BE49-F238E27FC236}">
                <a16:creationId xmlns:a16="http://schemas.microsoft.com/office/drawing/2014/main" id="{4111D248-69A8-4DEE-8F9A-006E0E320C72}"/>
              </a:ext>
            </a:extLst>
          </p:cNvPr>
          <p:cNvSpPr>
            <a:spLocks noGrp="1"/>
          </p:cNvSpPr>
          <p:nvPr/>
        </p:nvSpPr>
        <p:spPr>
          <a:xfrm>
            <a:off x="0" y="0"/>
            <a:ext cx="12192000" cy="6858000"/>
          </a:xfrm>
          <a:prstGeom prst="rect">
            <a:avLst/>
          </a:prstGeom>
          <a:solidFill>
            <a:srgbClr val="FCF8F2"/>
          </a:solidFill>
          <a:ln w="0">
            <a:noFill/>
          </a:ln>
        </p:spPr>
      </p:sp>
      <p:sp>
        <p:nvSpPr>
          <p:cNvPr id="13" name="Rectangle 12">
            <a:extLst>
              <a:ext uri="{FF2B5EF4-FFF2-40B4-BE49-F238E27FC236}">
                <a16:creationId xmlns:a16="http://schemas.microsoft.com/office/drawing/2014/main" id="{47247C34-4A64-46F6-B47D-611BD39EA1E4}"/>
              </a:ext>
            </a:extLst>
          </p:cNvPr>
          <p:cNvSpPr>
            <a:spLocks noGrp="1"/>
          </p:cNvSpPr>
          <p:nvPr/>
        </p:nvSpPr>
        <p:spPr>
          <a:xfrm>
            <a:off x="0" y="0"/>
            <a:ext cx="4191000" cy="6858000"/>
          </a:xfrm>
          <a:prstGeom prst="rect">
            <a:avLst/>
          </a:prstGeom>
          <a:solidFill>
            <a:srgbClr val="202A44"/>
          </a:solidFill>
          <a:ln w="0">
            <a:noFill/>
          </a:ln>
        </p:spPr>
      </p:sp>
      <p:sp>
        <p:nvSpPr>
          <p:cNvPr id="14" name="Rectangle 13">
            <a:extLst>
              <a:ext uri="{FF2B5EF4-FFF2-40B4-BE49-F238E27FC236}">
                <a16:creationId xmlns:a16="http://schemas.microsoft.com/office/drawing/2014/main" id="{0DCD1AE7-81D0-4CD2-8E89-0ED284E34449}"/>
              </a:ext>
            </a:extLst>
          </p:cNvPr>
          <p:cNvSpPr>
            <a:spLocks noGrp="1"/>
          </p:cNvSpPr>
          <p:nvPr/>
        </p:nvSpPr>
        <p:spPr>
          <a:xfrm>
            <a:off x="4191000" y="0"/>
            <a:ext cx="133350" cy="6858000"/>
          </a:xfrm>
          <a:prstGeom prst="rect">
            <a:avLst/>
          </a:prstGeom>
          <a:solidFill>
            <a:srgbClr val="E7A048"/>
          </a:solidFill>
          <a:ln w="0">
            <a:noFill/>
          </a:ln>
        </p:spPr>
      </p:sp>
      <p:sp>
        <p:nvSpPr>
          <p:cNvPr id="15" name="Rectangle 14">
            <a:extLst>
              <a:ext uri="{FF2B5EF4-FFF2-40B4-BE49-F238E27FC236}">
                <a16:creationId xmlns:a16="http://schemas.microsoft.com/office/drawing/2014/main" id="{EF1A34FA-4A86-4222-9F0D-C2C5E4E4ED50}"/>
              </a:ext>
            </a:extLst>
          </p:cNvPr>
          <p:cNvSpPr>
            <a:spLocks noGrp="1"/>
          </p:cNvSpPr>
          <p:nvPr/>
        </p:nvSpPr>
        <p:spPr>
          <a:xfrm>
            <a:off x="704850" y="685800"/>
            <a:ext cx="2476500" cy="209550"/>
          </a:xfrm>
          <a:prstGeom prst="rect">
            <a:avLst/>
          </a:prstGeom>
          <a:noFill/>
          <a:ln w="0">
            <a:noFill/>
          </a:ln>
        </p:spPr>
        <p:txBody>
          <a:bodyPr>
            <a:noAutofit/>
          </a:bodyPr>
          <a:lstStyle/>
          <a:p>
            <a:pPr>
              <a:buNone/>
              <a:defRPr sz="1275" b="1">
                <a:solidFill>
                  <a:srgbClr val="E7A048"/>
                </a:solidFill>
                <a:latin typeface="Arial"/>
                <a:ea typeface="Arial"/>
                <a:cs typeface="Arial"/>
              </a:defRPr>
            </a:pPr>
            <a:r>
              <a:rPr sz="1275" b="1">
                <a:solidFill>
                  <a:srgbClr val="E7A048"/>
                </a:solidFill>
                <a:latin typeface="Arial"/>
                <a:ea typeface="Arial"/>
                <a:cs typeface="Arial"/>
              </a:rPr>
              <a:t>NETRAJYOTI AI</a:t>
            </a:r>
          </a:p>
        </p:txBody>
      </p:sp>
      <p:sp>
        <p:nvSpPr>
          <p:cNvPr id="16" name="Rectangle 15">
            <a:extLst>
              <a:ext uri="{FF2B5EF4-FFF2-40B4-BE49-F238E27FC236}">
                <a16:creationId xmlns:a16="http://schemas.microsoft.com/office/drawing/2014/main" id="{B66F25E2-F812-4D62-AF82-1CA9F8123A5F}"/>
              </a:ext>
            </a:extLst>
          </p:cNvPr>
          <p:cNvSpPr>
            <a:spLocks noGrp="1"/>
          </p:cNvSpPr>
          <p:nvPr/>
        </p:nvSpPr>
        <p:spPr>
          <a:xfrm>
            <a:off x="704850" y="1352550"/>
            <a:ext cx="3238500" cy="1314450"/>
          </a:xfrm>
          <a:prstGeom prst="rect">
            <a:avLst/>
          </a:prstGeom>
          <a:noFill/>
          <a:ln w="0">
            <a:noFill/>
          </a:ln>
        </p:spPr>
        <p:txBody>
          <a:bodyPr>
            <a:noAutofit/>
          </a:bodyPr>
          <a:lstStyle/>
          <a:p>
            <a:pPr>
              <a:buNone/>
              <a:defRPr sz="2850" b="1">
                <a:solidFill>
                  <a:srgbClr val="FFFFFF"/>
                </a:solidFill>
                <a:latin typeface="Arial"/>
                <a:ea typeface="Arial"/>
                <a:cs typeface="Arial"/>
              </a:defRPr>
            </a:pPr>
            <a:r>
              <a:rPr sz="2850" b="1">
                <a:solidFill>
                  <a:srgbClr val="FFFFFF"/>
                </a:solidFill>
                <a:latin typeface="Arial"/>
                <a:ea typeface="Arial"/>
                <a:cs typeface="Arial"/>
              </a:rPr>
              <a:t>Reliable Bengali</a:t>
            </a:r>
          </a:p>
          <a:p>
            <a:pPr>
              <a:buNone/>
              <a:defRPr sz="2850" b="1">
                <a:solidFill>
                  <a:srgbClr val="FFFFFF"/>
                </a:solidFill>
                <a:latin typeface="Arial"/>
                <a:ea typeface="Arial"/>
                <a:cs typeface="Arial"/>
              </a:defRPr>
            </a:pPr>
            <a:r>
              <a:rPr sz="2850" b="1">
                <a:solidFill>
                  <a:srgbClr val="FFFFFF"/>
                </a:solidFill>
                <a:latin typeface="Arial"/>
                <a:ea typeface="Arial"/>
                <a:cs typeface="Arial"/>
              </a:rPr>
              <a:t>eye-care guidance</a:t>
            </a:r>
          </a:p>
        </p:txBody>
      </p:sp>
      <p:sp>
        <p:nvSpPr>
          <p:cNvPr id="17" name="Rectangle 16">
            <a:extLst>
              <a:ext uri="{FF2B5EF4-FFF2-40B4-BE49-F238E27FC236}">
                <a16:creationId xmlns:a16="http://schemas.microsoft.com/office/drawing/2014/main" id="{80274F59-3C43-42E8-AA85-A195C551F7C5}"/>
              </a:ext>
            </a:extLst>
          </p:cNvPr>
          <p:cNvSpPr>
            <a:spLocks noGrp="1"/>
          </p:cNvSpPr>
          <p:nvPr/>
        </p:nvSpPr>
        <p:spPr>
          <a:xfrm>
            <a:off x="704850" y="3048000"/>
            <a:ext cx="2000250" cy="47625"/>
          </a:xfrm>
          <a:prstGeom prst="rect">
            <a:avLst/>
          </a:prstGeom>
          <a:solidFill>
            <a:srgbClr val="237A7A"/>
          </a:solidFill>
          <a:ln w="0">
            <a:noFill/>
          </a:ln>
        </p:spPr>
      </p:sp>
      <p:sp>
        <p:nvSpPr>
          <p:cNvPr id="18" name="Rectangle 17">
            <a:extLst>
              <a:ext uri="{FF2B5EF4-FFF2-40B4-BE49-F238E27FC236}">
                <a16:creationId xmlns:a16="http://schemas.microsoft.com/office/drawing/2014/main" id="{1514DC4E-D581-4411-B2FE-66F67D0803B3}"/>
              </a:ext>
            </a:extLst>
          </p:cNvPr>
          <p:cNvSpPr>
            <a:spLocks noGrp="1"/>
          </p:cNvSpPr>
          <p:nvPr/>
        </p:nvSpPr>
        <p:spPr>
          <a:xfrm>
            <a:off x="704850" y="3352800"/>
            <a:ext cx="2952750" cy="619125"/>
          </a:xfrm>
          <a:prstGeom prst="rect">
            <a:avLst/>
          </a:prstGeom>
          <a:noFill/>
          <a:ln w="0">
            <a:noFill/>
          </a:ln>
        </p:spPr>
        <p:txBody>
          <a:bodyPr>
            <a:noAutofit/>
          </a:bodyPr>
          <a:lstStyle/>
          <a:p>
            <a:pPr>
              <a:buNone/>
              <a:defRPr sz="1575">
                <a:solidFill>
                  <a:srgbClr val="DCE4F3"/>
                </a:solidFill>
                <a:latin typeface="Arial"/>
                <a:ea typeface="Arial"/>
                <a:cs typeface="Arial"/>
              </a:defRPr>
            </a:pPr>
            <a:r>
              <a:rPr sz="1575">
                <a:solidFill>
                  <a:srgbClr val="DCE4F3"/>
                </a:solidFill>
                <a:latin typeface="Arial"/>
                <a:ea typeface="Arial"/>
                <a:cs typeface="Arial"/>
              </a:rPr>
              <a:t>Clear Bengali guidance</a:t>
            </a:r>
          </a:p>
          <a:p>
            <a:pPr>
              <a:buNone/>
              <a:defRPr sz="1575">
                <a:solidFill>
                  <a:srgbClr val="DCE4F3"/>
                </a:solidFill>
                <a:latin typeface="Arial"/>
                <a:ea typeface="Arial"/>
                <a:cs typeface="Arial"/>
              </a:defRPr>
            </a:pPr>
            <a:r>
              <a:rPr sz="1575">
                <a:solidFill>
                  <a:srgbClr val="DCE4F3"/>
                </a:solidFill>
                <a:latin typeface="Arial"/>
                <a:ea typeface="Arial"/>
                <a:cs typeface="Arial"/>
              </a:rPr>
              <a:t>for your next eye-care step</a:t>
            </a:r>
          </a:p>
        </p:txBody>
      </p:sp>
      <p:sp>
        <p:nvSpPr>
          <p:cNvPr id="19" name="Rectangle 18">
            <a:extLst>
              <a:ext uri="{FF2B5EF4-FFF2-40B4-BE49-F238E27FC236}">
                <a16:creationId xmlns:a16="http://schemas.microsoft.com/office/drawing/2014/main" id="{79A964B3-AA9A-4177-B4FC-8EF2DD3CBD02}"/>
              </a:ext>
            </a:extLst>
          </p:cNvPr>
          <p:cNvSpPr>
            <a:spLocks noGrp="1"/>
          </p:cNvSpPr>
          <p:nvPr/>
        </p:nvSpPr>
        <p:spPr>
          <a:xfrm>
            <a:off x="704850" y="5715000"/>
            <a:ext cx="2857500" cy="457200"/>
          </a:xfrm>
          <a:prstGeom prst="rect">
            <a:avLst/>
          </a:prstGeom>
          <a:noFill/>
          <a:ln w="0">
            <a:noFill/>
          </a:ln>
        </p:spPr>
        <p:txBody>
          <a:bodyPr>
            <a:noAutofit/>
          </a:bodyPr>
          <a:lstStyle/>
          <a:p>
            <a:pPr>
              <a:buNone/>
              <a:defRPr sz="1200">
                <a:solidFill>
                  <a:srgbClr val="B7C4DF"/>
                </a:solidFill>
                <a:latin typeface="Arial"/>
                <a:ea typeface="Arial"/>
                <a:cs typeface="Arial"/>
              </a:defRPr>
            </a:pPr>
            <a:r>
              <a:rPr sz="1200">
                <a:solidFill>
                  <a:srgbClr val="B7C4DF"/>
                </a:solidFill>
                <a:latin typeface="Arial"/>
                <a:ea typeface="Arial"/>
                <a:cs typeface="Arial"/>
              </a:rPr>
              <a:t>Bengali-first interaction</a:t>
            </a:r>
          </a:p>
          <a:p>
            <a:pPr>
              <a:buNone/>
              <a:defRPr sz="1200">
                <a:solidFill>
                  <a:srgbClr val="B7C4DF"/>
                </a:solidFill>
                <a:latin typeface="Arial"/>
                <a:ea typeface="Arial"/>
                <a:cs typeface="Arial"/>
              </a:defRPr>
            </a:pPr>
            <a:r>
              <a:rPr sz="1200">
                <a:solidFill>
                  <a:srgbClr val="B7C4DF"/>
                </a:solidFill>
                <a:latin typeface="Arial"/>
                <a:ea typeface="Arial"/>
                <a:cs typeface="Arial"/>
              </a:rPr>
              <a:t>for rural West Bengal</a:t>
            </a:r>
          </a:p>
        </p:txBody>
      </p:sp>
      <p:sp>
        <p:nvSpPr>
          <p:cNvPr id="20" name="Rectangle 19">
            <a:extLst>
              <a:ext uri="{FF2B5EF4-FFF2-40B4-BE49-F238E27FC236}">
                <a16:creationId xmlns:a16="http://schemas.microsoft.com/office/drawing/2014/main" id="{1A39089A-EC06-452A-BA3F-B31746CC34DE}"/>
              </a:ext>
            </a:extLst>
          </p:cNvPr>
          <p:cNvSpPr>
            <a:spLocks noGrp="1"/>
          </p:cNvSpPr>
          <p:nvPr/>
        </p:nvSpPr>
        <p:spPr>
          <a:xfrm>
            <a:off x="4905375" y="1200150"/>
            <a:ext cx="6191250" cy="2019300"/>
          </a:xfrm>
          <a:prstGeom prst="rect">
            <a:avLst/>
          </a:prstGeom>
          <a:noFill/>
          <a:ln w="0">
            <a:noFill/>
          </a:ln>
        </p:spPr>
        <p:txBody>
          <a:bodyPr>
            <a:noAutofit/>
          </a:bodyPr>
          <a:lstStyle/>
          <a:p>
            <a:pPr>
              <a:buNone/>
              <a:defRPr sz="2475" b="1">
                <a:solidFill>
                  <a:srgbClr val="202A44"/>
                </a:solidFill>
                <a:latin typeface="Arial"/>
                <a:ea typeface="Arial"/>
                <a:cs typeface="Arial"/>
              </a:defRPr>
            </a:pPr>
            <a:r>
              <a:rPr sz="2475" b="1">
                <a:solidFill>
                  <a:srgbClr val="202A44"/>
                </a:solidFill>
                <a:latin typeface="Arial"/>
                <a:ea typeface="Arial"/>
                <a:cs typeface="Arial"/>
              </a:rPr>
              <a:t>How can reliable health information reach people who do not use English or have limited digital access?</a:t>
            </a:r>
          </a:p>
        </p:txBody>
      </p:sp>
      <p:sp>
        <p:nvSpPr>
          <p:cNvPr id="21" name="Rectangle 20">
            <a:extLst>
              <a:ext uri="{FF2B5EF4-FFF2-40B4-BE49-F238E27FC236}">
                <a16:creationId xmlns:a16="http://schemas.microsoft.com/office/drawing/2014/main" id="{5EE365DB-6857-4576-81CC-B173DE0DF910}"/>
              </a:ext>
            </a:extLst>
          </p:cNvPr>
          <p:cNvSpPr>
            <a:spLocks noGrp="1"/>
          </p:cNvSpPr>
          <p:nvPr/>
        </p:nvSpPr>
        <p:spPr>
          <a:xfrm>
            <a:off x="4933950" y="3467100"/>
            <a:ext cx="5905500" cy="514350"/>
          </a:xfrm>
          <a:prstGeom prst="rect">
            <a:avLst/>
          </a:prstGeom>
          <a:noFill/>
          <a:ln w="0">
            <a:noFill/>
          </a:ln>
        </p:spPr>
        <p:txBody>
          <a:bodyPr>
            <a:noAutofit/>
          </a:bodyPr>
          <a:lstStyle/>
          <a:p>
            <a:pPr>
              <a:buNone/>
              <a:defRPr sz="1500">
                <a:solidFill>
                  <a:srgbClr val="56647A"/>
                </a:solidFill>
                <a:latin typeface="Arial"/>
                <a:ea typeface="Arial"/>
                <a:cs typeface="Arial"/>
              </a:defRPr>
            </a:pPr>
            <a:r>
              <a:rPr sz="1500">
                <a:solidFill>
                  <a:srgbClr val="56647A"/>
                </a:solidFill>
                <a:latin typeface="Arial"/>
                <a:ea typeface="Arial"/>
                <a:cs typeface="Arial"/>
              </a:rPr>
              <a:t>NetraJyoti helps people identify a safe next step without diagnosing or replacing clinical care.</a:t>
            </a:r>
          </a:p>
        </p:txBody>
      </p:sp>
      <p:sp>
        <p:nvSpPr>
          <p:cNvPr id="22" name="Rectangle 21">
            <a:extLst>
              <a:ext uri="{FF2B5EF4-FFF2-40B4-BE49-F238E27FC236}">
                <a16:creationId xmlns:a16="http://schemas.microsoft.com/office/drawing/2014/main" id="{F1525FAB-5963-4EF7-99CE-9D8FCE2904D6}"/>
              </a:ext>
            </a:extLst>
          </p:cNvPr>
          <p:cNvSpPr>
            <a:spLocks noGrp="1"/>
          </p:cNvSpPr>
          <p:nvPr/>
        </p:nvSpPr>
        <p:spPr>
          <a:xfrm>
            <a:off x="4972050" y="4629150"/>
            <a:ext cx="1809750" cy="238125"/>
          </a:xfrm>
          <a:prstGeom prst="rect">
            <a:avLst/>
          </a:prstGeom>
          <a:noFill/>
          <a:ln w="0">
            <a:noFill/>
          </a:ln>
        </p:spPr>
        <p:txBody>
          <a:bodyPr>
            <a:noAutofit/>
          </a:bodyPr>
          <a:lstStyle/>
          <a:p>
            <a:pPr>
              <a:buNone/>
              <a:defRPr sz="1275" b="1">
                <a:solidFill>
                  <a:srgbClr val="237A7A"/>
                </a:solidFill>
                <a:latin typeface="Arial"/>
                <a:ea typeface="Arial"/>
                <a:cs typeface="Arial"/>
              </a:defRPr>
            </a:pPr>
            <a:r>
              <a:rPr sz="1275" b="1">
                <a:solidFill>
                  <a:srgbClr val="237A7A"/>
                </a:solidFill>
                <a:latin typeface="Arial"/>
                <a:ea typeface="Arial"/>
                <a:cs typeface="Arial"/>
              </a:rPr>
              <a:t>Fixed Bengali selections</a:t>
            </a:r>
          </a:p>
        </p:txBody>
      </p:sp>
      <p:sp>
        <p:nvSpPr>
          <p:cNvPr id="23" name="Arrow: Right 22">
            <a:extLst>
              <a:ext uri="{FF2B5EF4-FFF2-40B4-BE49-F238E27FC236}">
                <a16:creationId xmlns:a16="http://schemas.microsoft.com/office/drawing/2014/main" id="{41C791DE-9F0D-4E4A-8D4A-5F46B85FC542}"/>
              </a:ext>
            </a:extLst>
          </p:cNvPr>
          <p:cNvSpPr>
            <a:spLocks noGrp="1"/>
          </p:cNvSpPr>
          <p:nvPr/>
        </p:nvSpPr>
        <p:spPr>
          <a:xfrm>
            <a:off x="6858000" y="4648200"/>
            <a:ext cx="323850" cy="171450"/>
          </a:xfrm>
          <a:prstGeom prst="rightArrow">
            <a:avLst/>
          </a:prstGeom>
          <a:solidFill>
            <a:srgbClr val="DE664C"/>
          </a:solidFill>
          <a:ln w="0">
            <a:noFill/>
          </a:ln>
        </p:spPr>
      </p:sp>
      <p:sp>
        <p:nvSpPr>
          <p:cNvPr id="24" name="Rectangle 23">
            <a:extLst>
              <a:ext uri="{FF2B5EF4-FFF2-40B4-BE49-F238E27FC236}">
                <a16:creationId xmlns:a16="http://schemas.microsoft.com/office/drawing/2014/main" id="{4095C6DC-B15A-4914-9EBD-680767F85372}"/>
              </a:ext>
            </a:extLst>
          </p:cNvPr>
          <p:cNvSpPr>
            <a:spLocks noGrp="1"/>
          </p:cNvSpPr>
          <p:nvPr/>
        </p:nvSpPr>
        <p:spPr>
          <a:xfrm>
            <a:off x="7353300" y="4629150"/>
            <a:ext cx="1809750" cy="238125"/>
          </a:xfrm>
          <a:prstGeom prst="rect">
            <a:avLst/>
          </a:prstGeom>
          <a:noFill/>
          <a:ln w="0">
            <a:noFill/>
          </a:ln>
        </p:spPr>
        <p:txBody>
          <a:bodyPr>
            <a:noAutofit/>
          </a:bodyPr>
          <a:lstStyle/>
          <a:p>
            <a:pPr>
              <a:buNone/>
              <a:defRPr sz="1275" b="1">
                <a:solidFill>
                  <a:srgbClr val="4656A8"/>
                </a:solidFill>
                <a:latin typeface="Arial"/>
                <a:ea typeface="Arial"/>
                <a:cs typeface="Arial"/>
              </a:defRPr>
            </a:pPr>
            <a:r>
              <a:rPr sz="1275" b="1">
                <a:solidFill>
                  <a:srgbClr val="4656A8"/>
                </a:solidFill>
                <a:latin typeface="Arial"/>
                <a:ea typeface="Arial"/>
                <a:cs typeface="Arial"/>
              </a:rPr>
              <a:t>Deterministic route</a:t>
            </a:r>
          </a:p>
        </p:txBody>
      </p:sp>
      <p:sp>
        <p:nvSpPr>
          <p:cNvPr id="25" name="Arrow: Right 24">
            <a:extLst>
              <a:ext uri="{FF2B5EF4-FFF2-40B4-BE49-F238E27FC236}">
                <a16:creationId xmlns:a16="http://schemas.microsoft.com/office/drawing/2014/main" id="{8918F76F-4A54-4968-A685-7355FFF0C594}"/>
              </a:ext>
            </a:extLst>
          </p:cNvPr>
          <p:cNvSpPr>
            <a:spLocks noGrp="1"/>
          </p:cNvSpPr>
          <p:nvPr/>
        </p:nvSpPr>
        <p:spPr>
          <a:xfrm>
            <a:off x="9239250" y="4648200"/>
            <a:ext cx="323850" cy="171450"/>
          </a:xfrm>
          <a:prstGeom prst="rightArrow">
            <a:avLst/>
          </a:prstGeom>
          <a:solidFill>
            <a:srgbClr val="DE664C"/>
          </a:solidFill>
          <a:ln w="0">
            <a:noFill/>
          </a:ln>
        </p:spPr>
      </p:sp>
      <p:sp>
        <p:nvSpPr>
          <p:cNvPr id="26" name="Rectangle 25">
            <a:extLst>
              <a:ext uri="{FF2B5EF4-FFF2-40B4-BE49-F238E27FC236}">
                <a16:creationId xmlns:a16="http://schemas.microsoft.com/office/drawing/2014/main" id="{0CE05A5C-16C4-4697-8ACE-4CC5D5463A0C}"/>
              </a:ext>
            </a:extLst>
          </p:cNvPr>
          <p:cNvSpPr>
            <a:spLocks noGrp="1"/>
          </p:cNvSpPr>
          <p:nvPr/>
        </p:nvSpPr>
        <p:spPr>
          <a:xfrm>
            <a:off x="9734550" y="4629150"/>
            <a:ext cx="1809750" cy="238125"/>
          </a:xfrm>
          <a:prstGeom prst="rect">
            <a:avLst/>
          </a:prstGeom>
          <a:noFill/>
          <a:ln w="0">
            <a:noFill/>
          </a:ln>
        </p:spPr>
        <p:txBody>
          <a:bodyPr>
            <a:noAutofit/>
          </a:bodyPr>
          <a:lstStyle/>
          <a:p>
            <a:pPr>
              <a:buNone/>
              <a:defRPr sz="1275" b="1">
                <a:solidFill>
                  <a:srgbClr val="202A44"/>
                </a:solidFill>
                <a:latin typeface="Arial"/>
                <a:ea typeface="Arial"/>
                <a:cs typeface="Arial"/>
              </a:defRPr>
            </a:pPr>
            <a:r>
              <a:rPr sz="1275" b="1">
                <a:solidFill>
                  <a:srgbClr val="202A44"/>
                </a:solidFill>
                <a:latin typeface="Arial"/>
                <a:ea typeface="Arial"/>
                <a:cs typeface="Arial"/>
              </a:rPr>
              <a:t>Clear next action</a:t>
            </a:r>
          </a:p>
        </p:txBody>
      </p:sp>
    </p:spTree>
    <p:extLst>
      <p:ext uri="{BB962C8B-B14F-4D97-AF65-F5344CB8AC3E}">
        <p14:creationId xmlns:p14="http://schemas.microsoft.com/office/powerpoint/2010/main" val="1934723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05486E1-F15D-4D65-BD1B-0799475F5C6F}"/>
              </a:ext>
            </a:extLst>
          </p:cNvPr>
          <p:cNvSpPr>
            <a:spLocks noGrp="1"/>
          </p:cNvSpPr>
          <p:nvPr/>
        </p:nvSpPr>
        <p:spPr>
          <a:xfrm>
            <a:off x="704850" y="495300"/>
            <a:ext cx="419100" cy="209550"/>
          </a:xfrm>
          <a:prstGeom prst="rect">
            <a:avLst/>
          </a:prstGeom>
          <a:noFill/>
          <a:ln w="0">
            <a:noFill/>
          </a:ln>
        </p:spPr>
        <p:txBody>
          <a:bodyPr>
            <a:normAutofit fontScale="86111"/>
          </a:bodyPr>
          <a:lstStyle/>
          <a:p>
            <a:pPr>
              <a:buNone/>
              <a:defRPr sz="900" b="1">
                <a:solidFill>
                  <a:srgbClr val="00A28F"/>
                </a:solidFill>
                <a:latin typeface="Arial"/>
                <a:ea typeface="Arial"/>
                <a:cs typeface="Arial"/>
              </a:defRPr>
            </a:pPr>
            <a:r>
              <a:rPr sz="900" b="1">
                <a:solidFill>
                  <a:srgbClr val="00A28F"/>
                </a:solidFill>
                <a:latin typeface="Arial"/>
                <a:ea typeface="Arial"/>
                <a:cs typeface="Arial"/>
              </a:rPr>
              <a:t>02</a:t>
            </a:r>
          </a:p>
        </p:txBody>
      </p:sp>
      <p:sp>
        <p:nvSpPr>
          <p:cNvPr id="2" name="Rectangle 1">
            <a:extLst>
              <a:ext uri="{FF2B5EF4-FFF2-40B4-BE49-F238E27FC236}">
                <a16:creationId xmlns:a16="http://schemas.microsoft.com/office/drawing/2014/main" id="{4B4A2C28-2BD5-4B60-9118-5F7811900845}"/>
              </a:ext>
            </a:extLst>
          </p:cNvPr>
          <p:cNvSpPr>
            <a:spLocks noGrp="1"/>
          </p:cNvSpPr>
          <p:nvPr/>
        </p:nvSpPr>
        <p:spPr>
          <a:xfrm>
            <a:off x="704850" y="790575"/>
            <a:ext cx="9525000" cy="447675"/>
          </a:xfrm>
          <a:prstGeom prst="rect">
            <a:avLst/>
          </a:prstGeom>
          <a:noFill/>
          <a:ln w="0">
            <a:noFill/>
          </a:ln>
        </p:spPr>
        <p:txBody>
          <a:bodyPr>
            <a:normAutofit fontScale="91667"/>
          </a:bodyPr>
          <a:lstStyle/>
          <a:p>
            <a:pPr>
              <a:buNone/>
              <a:defRPr sz="2550" b="1">
                <a:solidFill>
                  <a:srgbClr val="092F3E"/>
                </a:solidFill>
                <a:latin typeface="Arial"/>
                <a:ea typeface="Arial"/>
                <a:cs typeface="Arial"/>
              </a:defRPr>
            </a:pPr>
            <a:r>
              <a:rPr sz="2550" b="1">
                <a:solidFill>
                  <a:srgbClr val="092F3E"/>
                </a:solidFill>
                <a:latin typeface="Arial"/>
                <a:ea typeface="Arial"/>
                <a:cs typeface="Arial"/>
              </a:rPr>
              <a:t>The user problem</a:t>
            </a:r>
          </a:p>
        </p:txBody>
      </p:sp>
      <p:sp>
        <p:nvSpPr>
          <p:cNvPr id="3" name="Rectangle 2">
            <a:extLst>
              <a:ext uri="{FF2B5EF4-FFF2-40B4-BE49-F238E27FC236}">
                <a16:creationId xmlns:a16="http://schemas.microsoft.com/office/drawing/2014/main" id="{3EBE3258-BC76-4829-AA10-15EAF54A06EF}"/>
              </a:ext>
            </a:extLst>
          </p:cNvPr>
          <p:cNvSpPr>
            <a:spLocks noGrp="1"/>
          </p:cNvSpPr>
          <p:nvPr/>
        </p:nvSpPr>
        <p:spPr>
          <a:xfrm>
            <a:off x="723900" y="1323975"/>
            <a:ext cx="9144000" cy="266700"/>
          </a:xfrm>
          <a:prstGeom prst="rect">
            <a:avLst/>
          </a:prstGeom>
          <a:noFill/>
          <a:ln w="0">
            <a:noFill/>
          </a:ln>
        </p:spPr>
        <p:txBody>
          <a:bodyPr>
            <a:normAutofit fontScale="95833"/>
          </a:bodyPr>
          <a:lstStyle/>
          <a:p>
            <a:pPr>
              <a:buNone/>
              <a:defRPr sz="1200" b="0">
                <a:solidFill>
                  <a:srgbClr val="5B7180"/>
                </a:solidFill>
                <a:latin typeface="Arial"/>
                <a:ea typeface="Arial"/>
                <a:cs typeface="Arial"/>
              </a:defRPr>
            </a:pPr>
            <a:r>
              <a:rPr sz="1200" b="0">
                <a:solidFill>
                  <a:srgbClr val="5B7180"/>
                </a:solidFill>
                <a:latin typeface="Arial"/>
                <a:ea typeface="Arial"/>
                <a:cs typeface="Arial"/>
              </a:rPr>
              <a:t>Uncertainty can delay appropriate eye care before a person reaches a trusted service</a:t>
            </a:r>
          </a:p>
        </p:txBody>
      </p:sp>
      <p:sp>
        <p:nvSpPr>
          <p:cNvPr id="4" name="Rectangle 3">
            <a:extLst>
              <a:ext uri="{FF2B5EF4-FFF2-40B4-BE49-F238E27FC236}">
                <a16:creationId xmlns:a16="http://schemas.microsoft.com/office/drawing/2014/main" id="{86D63BCD-3654-4B23-9A4F-B4F9AA67F473}"/>
              </a:ext>
            </a:extLst>
          </p:cNvPr>
          <p:cNvSpPr>
            <a:spLocks noGrp="1"/>
          </p:cNvSpPr>
          <p:nvPr/>
        </p:nvSpPr>
        <p:spPr>
          <a:xfrm>
            <a:off x="704850" y="1762125"/>
            <a:ext cx="1066800" cy="47625"/>
          </a:xfrm>
          <a:prstGeom prst="rect">
            <a:avLst/>
          </a:prstGeom>
          <a:solidFill>
            <a:srgbClr val="00A28F"/>
          </a:solidFill>
          <a:ln w="9525">
            <a:solidFill>
              <a:srgbClr val="00A28F"/>
            </a:solidFill>
          </a:ln>
        </p:spPr>
      </p:sp>
      <p:sp>
        <p:nvSpPr>
          <p:cNvPr id="5" name="Rectangle 4">
            <a:extLst>
              <a:ext uri="{FF2B5EF4-FFF2-40B4-BE49-F238E27FC236}">
                <a16:creationId xmlns:a16="http://schemas.microsoft.com/office/drawing/2014/main" id="{ED049EB7-FD3C-4667-A6A6-5B08B4E4AD2F}"/>
              </a:ext>
            </a:extLst>
          </p:cNvPr>
          <p:cNvSpPr>
            <a:spLocks noGrp="1"/>
          </p:cNvSpPr>
          <p:nvPr/>
        </p:nvSpPr>
        <p:spPr>
          <a:xfrm>
            <a:off x="704850" y="6457950"/>
            <a:ext cx="10782300" cy="9525"/>
          </a:xfrm>
          <a:prstGeom prst="rect">
            <a:avLst/>
          </a:prstGeom>
          <a:solidFill>
            <a:srgbClr val="C9DFDE"/>
          </a:solidFill>
          <a:ln w="9525">
            <a:solidFill>
              <a:srgbClr val="C9DFDE"/>
            </a:solidFill>
          </a:ln>
        </p:spPr>
      </p:sp>
      <p:sp>
        <p:nvSpPr>
          <p:cNvPr id="6" name="Rectangle 5">
            <a:extLst>
              <a:ext uri="{FF2B5EF4-FFF2-40B4-BE49-F238E27FC236}">
                <a16:creationId xmlns:a16="http://schemas.microsoft.com/office/drawing/2014/main" id="{7442B85D-B684-4020-B8EB-3C77B943DF0F}"/>
              </a:ext>
            </a:extLst>
          </p:cNvPr>
          <p:cNvSpPr>
            <a:spLocks noGrp="1"/>
          </p:cNvSpPr>
          <p:nvPr/>
        </p:nvSpPr>
        <p:spPr>
          <a:xfrm>
            <a:off x="704850" y="6581775"/>
            <a:ext cx="2952750" cy="142875"/>
          </a:xfrm>
          <a:prstGeom prst="rect">
            <a:avLst/>
          </a:prstGeom>
          <a:noFill/>
          <a:ln w="0">
            <a:noFill/>
          </a:ln>
        </p:spPr>
        <p:txBody>
          <a:bodyPr>
            <a:normAutofit fontScale="50000"/>
          </a:bodyPr>
          <a:lstStyle/>
          <a:p>
            <a:pPr>
              <a:buNone/>
              <a:defRPr sz="675" b="0">
                <a:solidFill>
                  <a:srgbClr val="5B7180"/>
                </a:solidFill>
                <a:latin typeface="Arial"/>
                <a:ea typeface="Arial"/>
                <a:cs typeface="Arial"/>
              </a:defRPr>
            </a:pPr>
            <a:r>
              <a:rPr sz="675" b="0">
                <a:solidFill>
                  <a:srgbClr val="5B7180"/>
                </a:solidFill>
                <a:latin typeface="Arial"/>
                <a:ea typeface="Arial"/>
                <a:cs typeface="Arial"/>
              </a:rPr>
              <a:t>NETRAJYOTI AI  /  CAPSTONE MVP</a:t>
            </a:r>
          </a:p>
        </p:txBody>
      </p:sp>
      <p:sp>
        <p:nvSpPr>
          <p:cNvPr id="7" name="Rectangle 6">
            <a:extLst>
              <a:ext uri="{FF2B5EF4-FFF2-40B4-BE49-F238E27FC236}">
                <a16:creationId xmlns:a16="http://schemas.microsoft.com/office/drawing/2014/main" id="{33604F27-A9C3-4C5A-B582-493560AFCE50}"/>
              </a:ext>
            </a:extLst>
          </p:cNvPr>
          <p:cNvSpPr>
            <a:spLocks noGrp="1"/>
          </p:cNvSpPr>
          <p:nvPr/>
        </p:nvSpPr>
        <p:spPr>
          <a:xfrm>
            <a:off x="10991850" y="6581775"/>
            <a:ext cx="495300" cy="142875"/>
          </a:xfrm>
          <a:prstGeom prst="rect">
            <a:avLst/>
          </a:prstGeom>
          <a:noFill/>
          <a:ln w="0">
            <a:noFill/>
          </a:ln>
        </p:spPr>
        <p:txBody>
          <a:bodyPr>
            <a:normAutofit fontScale="50000"/>
          </a:bodyPr>
          <a:lstStyle/>
          <a:p>
            <a:pPr>
              <a:buNone/>
              <a:defRPr sz="675" b="0">
                <a:solidFill>
                  <a:srgbClr val="5B7180"/>
                </a:solidFill>
                <a:latin typeface="Arial"/>
                <a:ea typeface="Arial"/>
                <a:cs typeface="Arial"/>
              </a:defRPr>
            </a:pPr>
            <a:r>
              <a:rPr sz="675" b="0">
                <a:solidFill>
                  <a:srgbClr val="5B7180"/>
                </a:solidFill>
                <a:latin typeface="Arial"/>
                <a:ea typeface="Arial"/>
                <a:cs typeface="Arial"/>
              </a:rPr>
              <a:t>02</a:t>
            </a:r>
          </a:p>
        </p:txBody>
      </p:sp>
      <p:sp>
        <p:nvSpPr>
          <p:cNvPr id="8" name="Rectangle 7">
            <a:extLst>
              <a:ext uri="{FF2B5EF4-FFF2-40B4-BE49-F238E27FC236}">
                <a16:creationId xmlns:a16="http://schemas.microsoft.com/office/drawing/2014/main" id="{8066A282-51F4-4C6E-ABF7-B9EF3FE6E229}"/>
              </a:ext>
            </a:extLst>
          </p:cNvPr>
          <p:cNvSpPr>
            <a:spLocks noGrp="1"/>
          </p:cNvSpPr>
          <p:nvPr/>
        </p:nvSpPr>
        <p:spPr>
          <a:xfrm>
            <a:off x="723900" y="2276475"/>
            <a:ext cx="7810500" cy="304800"/>
          </a:xfrm>
          <a:prstGeom prst="rect">
            <a:avLst/>
          </a:prstGeom>
          <a:noFill/>
          <a:ln w="0">
            <a:noFill/>
          </a:ln>
        </p:spPr>
        <p:txBody>
          <a:bodyPr>
            <a:normAutofit fontScale="88889"/>
          </a:bodyPr>
          <a:lstStyle/>
          <a:p>
            <a:pPr>
              <a:buNone/>
              <a:defRPr sz="1575" b="0">
                <a:solidFill>
                  <a:srgbClr val="5B7180"/>
                </a:solidFill>
                <a:latin typeface="Arial"/>
                <a:ea typeface="Arial"/>
                <a:cs typeface="Arial"/>
              </a:defRPr>
            </a:pPr>
            <a:r>
              <a:rPr sz="1575" b="0">
                <a:solidFill>
                  <a:srgbClr val="5B7180"/>
                </a:solidFill>
                <a:latin typeface="Arial"/>
                <a:ea typeface="Arial"/>
                <a:cs typeface="Arial"/>
              </a:rPr>
              <a:t>A person with an eye concern often needs one simple answer:</a:t>
            </a:r>
          </a:p>
        </p:txBody>
      </p:sp>
      <p:sp>
        <p:nvSpPr>
          <p:cNvPr id="9" name="Rectangle 8">
            <a:extLst>
              <a:ext uri="{FF2B5EF4-FFF2-40B4-BE49-F238E27FC236}">
                <a16:creationId xmlns:a16="http://schemas.microsoft.com/office/drawing/2014/main" id="{231EA09C-74AF-4219-889E-43C4A4F31FEA}"/>
              </a:ext>
            </a:extLst>
          </p:cNvPr>
          <p:cNvSpPr>
            <a:spLocks noGrp="1"/>
          </p:cNvSpPr>
          <p:nvPr/>
        </p:nvSpPr>
        <p:spPr>
          <a:xfrm>
            <a:off x="723900" y="2667000"/>
            <a:ext cx="7429500" cy="504825"/>
          </a:xfrm>
          <a:prstGeom prst="rect">
            <a:avLst/>
          </a:prstGeom>
          <a:noFill/>
          <a:ln w="0">
            <a:noFill/>
          </a:ln>
        </p:spPr>
        <p:txBody>
          <a:bodyPr>
            <a:normAutofit fontScale="97748"/>
          </a:bodyPr>
          <a:lstStyle/>
          <a:p>
            <a:pPr>
              <a:buNone/>
              <a:defRPr sz="2775" b="1">
                <a:solidFill>
                  <a:srgbClr val="092F3E"/>
                </a:solidFill>
                <a:latin typeface="Arial"/>
                <a:ea typeface="Arial"/>
                <a:cs typeface="Arial"/>
              </a:defRPr>
            </a:pPr>
            <a:r>
              <a:rPr sz="2775" b="1">
                <a:solidFill>
                  <a:srgbClr val="092F3E"/>
                </a:solidFill>
                <a:latin typeface="Arial"/>
                <a:ea typeface="Arial"/>
                <a:cs typeface="Arial"/>
              </a:rPr>
              <a:t>What should I do next?</a:t>
            </a:r>
          </a:p>
        </p:txBody>
      </p:sp>
      <p:sp>
        <p:nvSpPr>
          <p:cNvPr id="10" name="Rectangle 9">
            <a:extLst>
              <a:ext uri="{FF2B5EF4-FFF2-40B4-BE49-F238E27FC236}">
                <a16:creationId xmlns:a16="http://schemas.microsoft.com/office/drawing/2014/main" id="{0B4BE655-A3F4-4A2B-AE06-B3B30A327B17}"/>
              </a:ext>
            </a:extLst>
          </p:cNvPr>
          <p:cNvSpPr>
            <a:spLocks noGrp="1"/>
          </p:cNvSpPr>
          <p:nvPr/>
        </p:nvSpPr>
        <p:spPr>
          <a:xfrm>
            <a:off x="781050" y="3695700"/>
            <a:ext cx="3143250" cy="28575"/>
          </a:xfrm>
          <a:prstGeom prst="rect">
            <a:avLst/>
          </a:prstGeom>
          <a:solidFill>
            <a:srgbClr val="E2524B"/>
          </a:solidFill>
          <a:ln w="9525">
            <a:solidFill>
              <a:srgbClr val="E2524B"/>
            </a:solidFill>
          </a:ln>
        </p:spPr>
      </p:sp>
      <p:sp>
        <p:nvSpPr>
          <p:cNvPr id="11" name="Rectangle 10">
            <a:extLst>
              <a:ext uri="{FF2B5EF4-FFF2-40B4-BE49-F238E27FC236}">
                <a16:creationId xmlns:a16="http://schemas.microsoft.com/office/drawing/2014/main" id="{0F520709-F50C-4E05-A686-A93100701E8B}"/>
              </a:ext>
            </a:extLst>
          </p:cNvPr>
          <p:cNvSpPr>
            <a:spLocks noGrp="1"/>
          </p:cNvSpPr>
          <p:nvPr/>
        </p:nvSpPr>
        <p:spPr>
          <a:xfrm>
            <a:off x="781050" y="3867150"/>
            <a:ext cx="323850" cy="209550"/>
          </a:xfrm>
          <a:prstGeom prst="rect">
            <a:avLst/>
          </a:prstGeom>
          <a:noFill/>
          <a:ln w="0">
            <a:noFill/>
          </a:ln>
        </p:spPr>
        <p:txBody>
          <a:bodyPr>
            <a:normAutofit fontScale="79487"/>
          </a:bodyPr>
          <a:lstStyle/>
          <a:p>
            <a:pPr>
              <a:buNone/>
              <a:defRPr sz="975" b="1">
                <a:solidFill>
                  <a:srgbClr val="E2524B"/>
                </a:solidFill>
                <a:latin typeface="Arial"/>
                <a:ea typeface="Arial"/>
                <a:cs typeface="Arial"/>
              </a:defRPr>
            </a:pPr>
            <a:r>
              <a:rPr sz="975" b="1">
                <a:solidFill>
                  <a:srgbClr val="E2524B"/>
                </a:solidFill>
                <a:latin typeface="Arial"/>
                <a:ea typeface="Arial"/>
                <a:cs typeface="Arial"/>
              </a:rPr>
              <a:t>01</a:t>
            </a:r>
          </a:p>
        </p:txBody>
      </p:sp>
      <p:sp>
        <p:nvSpPr>
          <p:cNvPr id="12" name="Rectangle 11">
            <a:extLst>
              <a:ext uri="{FF2B5EF4-FFF2-40B4-BE49-F238E27FC236}">
                <a16:creationId xmlns:a16="http://schemas.microsoft.com/office/drawing/2014/main" id="{6CCE2207-7CB2-4D79-ADD2-22704C915655}"/>
              </a:ext>
            </a:extLst>
          </p:cNvPr>
          <p:cNvSpPr>
            <a:spLocks noGrp="1"/>
          </p:cNvSpPr>
          <p:nvPr/>
        </p:nvSpPr>
        <p:spPr>
          <a:xfrm>
            <a:off x="1238250" y="3857625"/>
            <a:ext cx="2647950" cy="238125"/>
          </a:xfrm>
          <a:prstGeom prst="rect">
            <a:avLst/>
          </a:prstGeom>
          <a:noFill/>
          <a:ln w="0">
            <a:noFill/>
          </a:ln>
        </p:spPr>
        <p:txBody>
          <a:bodyPr>
            <a:normAutofit fontScale="71296"/>
          </a:bodyPr>
          <a:lstStyle/>
          <a:p>
            <a:pPr>
              <a:buNone/>
              <a:defRPr sz="1350" b="1">
                <a:solidFill>
                  <a:srgbClr val="092F3E"/>
                </a:solidFill>
                <a:latin typeface="Arial"/>
                <a:ea typeface="Arial"/>
                <a:cs typeface="Arial"/>
              </a:defRPr>
            </a:pPr>
            <a:r>
              <a:rPr sz="1350" b="1">
                <a:solidFill>
                  <a:srgbClr val="092F3E"/>
                </a:solidFill>
                <a:latin typeface="Arial"/>
                <a:ea typeface="Arial"/>
                <a:cs typeface="Arial"/>
              </a:rPr>
              <a:t>Urgency is unclear</a:t>
            </a:r>
          </a:p>
        </p:txBody>
      </p:sp>
      <p:sp>
        <p:nvSpPr>
          <p:cNvPr id="13" name="Rectangle 12">
            <a:extLst>
              <a:ext uri="{FF2B5EF4-FFF2-40B4-BE49-F238E27FC236}">
                <a16:creationId xmlns:a16="http://schemas.microsoft.com/office/drawing/2014/main" id="{465B43EE-74FF-465F-AA28-58BDB6645B00}"/>
              </a:ext>
            </a:extLst>
          </p:cNvPr>
          <p:cNvSpPr>
            <a:spLocks noGrp="1"/>
          </p:cNvSpPr>
          <p:nvPr/>
        </p:nvSpPr>
        <p:spPr>
          <a:xfrm>
            <a:off x="1238250" y="4171950"/>
            <a:ext cx="2619375" cy="476250"/>
          </a:xfrm>
          <a:prstGeom prst="rect">
            <a:avLst/>
          </a:prstGeom>
          <a:noFill/>
          <a:ln w="0">
            <a:noFill/>
          </a:ln>
        </p:spPr>
        <p:txBody>
          <a:bodyPr>
            <a:normAutofit fontScale="84110"/>
          </a:bodyPr>
          <a:lstStyle/>
          <a:p>
            <a:pPr>
              <a:buNone/>
              <a:defRPr sz="1125" b="0">
                <a:solidFill>
                  <a:srgbClr val="5B7180"/>
                </a:solidFill>
                <a:latin typeface="Arial"/>
                <a:ea typeface="Arial"/>
                <a:cs typeface="Arial"/>
              </a:defRPr>
            </a:pPr>
            <a:r>
              <a:rPr sz="1125" b="0">
                <a:solidFill>
                  <a:srgbClr val="5B7180"/>
                </a:solidFill>
                <a:latin typeface="Arial"/>
                <a:ea typeface="Arial"/>
                <a:cs typeface="Arial"/>
              </a:rPr>
              <a:t>Symptoms may feel serious, but the user may not know whether today requires urgent care.</a:t>
            </a:r>
          </a:p>
        </p:txBody>
      </p:sp>
      <p:sp>
        <p:nvSpPr>
          <p:cNvPr id="14" name="Rectangle 13">
            <a:extLst>
              <a:ext uri="{FF2B5EF4-FFF2-40B4-BE49-F238E27FC236}">
                <a16:creationId xmlns:a16="http://schemas.microsoft.com/office/drawing/2014/main" id="{ACCB9048-97D7-4C94-9620-22B3F8AA3AE4}"/>
              </a:ext>
            </a:extLst>
          </p:cNvPr>
          <p:cNvSpPr>
            <a:spLocks noGrp="1"/>
          </p:cNvSpPr>
          <p:nvPr/>
        </p:nvSpPr>
        <p:spPr>
          <a:xfrm>
            <a:off x="4410075" y="3695700"/>
            <a:ext cx="3143250" cy="28575"/>
          </a:xfrm>
          <a:prstGeom prst="rect">
            <a:avLst/>
          </a:prstGeom>
          <a:solidFill>
            <a:srgbClr val="00A28F"/>
          </a:solidFill>
          <a:ln w="9525">
            <a:solidFill>
              <a:srgbClr val="00A28F"/>
            </a:solidFill>
          </a:ln>
        </p:spPr>
      </p:sp>
      <p:sp>
        <p:nvSpPr>
          <p:cNvPr id="15" name="Rectangle 14">
            <a:extLst>
              <a:ext uri="{FF2B5EF4-FFF2-40B4-BE49-F238E27FC236}">
                <a16:creationId xmlns:a16="http://schemas.microsoft.com/office/drawing/2014/main" id="{77C1BFD1-DF6B-4B83-80A2-C1FBCDC374A8}"/>
              </a:ext>
            </a:extLst>
          </p:cNvPr>
          <p:cNvSpPr>
            <a:spLocks noGrp="1"/>
          </p:cNvSpPr>
          <p:nvPr/>
        </p:nvSpPr>
        <p:spPr>
          <a:xfrm>
            <a:off x="4410075" y="3867150"/>
            <a:ext cx="323850" cy="209550"/>
          </a:xfrm>
          <a:prstGeom prst="rect">
            <a:avLst/>
          </a:prstGeom>
          <a:noFill/>
          <a:ln w="0">
            <a:noFill/>
          </a:ln>
        </p:spPr>
        <p:txBody>
          <a:bodyPr>
            <a:normAutofit fontScale="79487"/>
          </a:bodyPr>
          <a:lstStyle/>
          <a:p>
            <a:pPr>
              <a:buNone/>
              <a:defRPr sz="975" b="1">
                <a:solidFill>
                  <a:srgbClr val="00A28F"/>
                </a:solidFill>
                <a:latin typeface="Arial"/>
                <a:ea typeface="Arial"/>
                <a:cs typeface="Arial"/>
              </a:defRPr>
            </a:pPr>
            <a:r>
              <a:rPr sz="975" b="1">
                <a:solidFill>
                  <a:srgbClr val="00A28F"/>
                </a:solidFill>
                <a:latin typeface="Arial"/>
                <a:ea typeface="Arial"/>
                <a:cs typeface="Arial"/>
              </a:rPr>
              <a:t>02</a:t>
            </a:r>
          </a:p>
        </p:txBody>
      </p:sp>
      <p:sp>
        <p:nvSpPr>
          <p:cNvPr id="16" name="Rectangle 15">
            <a:extLst>
              <a:ext uri="{FF2B5EF4-FFF2-40B4-BE49-F238E27FC236}">
                <a16:creationId xmlns:a16="http://schemas.microsoft.com/office/drawing/2014/main" id="{61BAD19D-47C3-4933-816E-591628701FD2}"/>
              </a:ext>
            </a:extLst>
          </p:cNvPr>
          <p:cNvSpPr>
            <a:spLocks noGrp="1"/>
          </p:cNvSpPr>
          <p:nvPr/>
        </p:nvSpPr>
        <p:spPr>
          <a:xfrm>
            <a:off x="4867275" y="3857625"/>
            <a:ext cx="2647950" cy="238125"/>
          </a:xfrm>
          <a:prstGeom prst="rect">
            <a:avLst/>
          </a:prstGeom>
          <a:noFill/>
          <a:ln w="0">
            <a:noFill/>
          </a:ln>
        </p:spPr>
        <p:txBody>
          <a:bodyPr>
            <a:normAutofit fontScale="71296"/>
          </a:bodyPr>
          <a:lstStyle/>
          <a:p>
            <a:pPr>
              <a:buNone/>
              <a:defRPr sz="1350" b="1">
                <a:solidFill>
                  <a:srgbClr val="092F3E"/>
                </a:solidFill>
                <a:latin typeface="Arial"/>
                <a:ea typeface="Arial"/>
                <a:cs typeface="Arial"/>
              </a:defRPr>
            </a:pPr>
            <a:r>
              <a:rPr sz="1350" b="1">
                <a:solidFill>
                  <a:srgbClr val="092F3E"/>
                </a:solidFill>
                <a:latin typeface="Arial"/>
                <a:ea typeface="Arial"/>
                <a:cs typeface="Arial"/>
              </a:rPr>
              <a:t>Information is hard to use</a:t>
            </a:r>
          </a:p>
        </p:txBody>
      </p:sp>
      <p:sp>
        <p:nvSpPr>
          <p:cNvPr id="17" name="Rectangle 16">
            <a:extLst>
              <a:ext uri="{FF2B5EF4-FFF2-40B4-BE49-F238E27FC236}">
                <a16:creationId xmlns:a16="http://schemas.microsoft.com/office/drawing/2014/main" id="{7CDCAFFB-2F3F-4E00-95C0-971A528938EE}"/>
              </a:ext>
            </a:extLst>
          </p:cNvPr>
          <p:cNvSpPr>
            <a:spLocks noGrp="1"/>
          </p:cNvSpPr>
          <p:nvPr/>
        </p:nvSpPr>
        <p:spPr>
          <a:xfrm>
            <a:off x="4867275" y="4171950"/>
            <a:ext cx="2619375" cy="476250"/>
          </a:xfrm>
          <a:prstGeom prst="rect">
            <a:avLst/>
          </a:prstGeom>
          <a:noFill/>
          <a:ln w="0">
            <a:noFill/>
          </a:ln>
        </p:spPr>
        <p:txBody>
          <a:bodyPr>
            <a:normAutofit/>
          </a:bodyPr>
          <a:lstStyle/>
          <a:p>
            <a:pPr>
              <a:buNone/>
              <a:defRPr sz="1125" b="0">
                <a:solidFill>
                  <a:srgbClr val="5B7180"/>
                </a:solidFill>
                <a:latin typeface="Arial"/>
                <a:ea typeface="Arial"/>
                <a:cs typeface="Arial"/>
              </a:defRPr>
            </a:pPr>
            <a:r>
              <a:rPr sz="1125" b="0">
                <a:solidFill>
                  <a:srgbClr val="5B7180"/>
                </a:solidFill>
                <a:latin typeface="Arial"/>
                <a:ea typeface="Arial"/>
                <a:cs typeface="Arial"/>
              </a:rPr>
              <a:t>English-heavy content and unfamiliar health pathways lower confidence.</a:t>
            </a:r>
          </a:p>
        </p:txBody>
      </p:sp>
      <p:sp>
        <p:nvSpPr>
          <p:cNvPr id="18" name="Rectangle 17">
            <a:extLst>
              <a:ext uri="{FF2B5EF4-FFF2-40B4-BE49-F238E27FC236}">
                <a16:creationId xmlns:a16="http://schemas.microsoft.com/office/drawing/2014/main" id="{DADE57EA-F94B-401E-AFD7-ECD789C46B7B}"/>
              </a:ext>
            </a:extLst>
          </p:cNvPr>
          <p:cNvSpPr>
            <a:spLocks noGrp="1"/>
          </p:cNvSpPr>
          <p:nvPr/>
        </p:nvSpPr>
        <p:spPr>
          <a:xfrm>
            <a:off x="8039100" y="3695700"/>
            <a:ext cx="3143250" cy="28575"/>
          </a:xfrm>
          <a:prstGeom prst="rect">
            <a:avLst/>
          </a:prstGeom>
          <a:solidFill>
            <a:srgbClr val="F0AD26"/>
          </a:solidFill>
          <a:ln w="9525">
            <a:solidFill>
              <a:srgbClr val="F0AD26"/>
            </a:solidFill>
          </a:ln>
        </p:spPr>
      </p:sp>
      <p:sp>
        <p:nvSpPr>
          <p:cNvPr id="19" name="Rectangle 18">
            <a:extLst>
              <a:ext uri="{FF2B5EF4-FFF2-40B4-BE49-F238E27FC236}">
                <a16:creationId xmlns:a16="http://schemas.microsoft.com/office/drawing/2014/main" id="{05C96ABF-7261-4795-83B7-73B8A591BADE}"/>
              </a:ext>
            </a:extLst>
          </p:cNvPr>
          <p:cNvSpPr>
            <a:spLocks noGrp="1"/>
          </p:cNvSpPr>
          <p:nvPr/>
        </p:nvSpPr>
        <p:spPr>
          <a:xfrm>
            <a:off x="8039100" y="3867150"/>
            <a:ext cx="323850" cy="209550"/>
          </a:xfrm>
          <a:prstGeom prst="rect">
            <a:avLst/>
          </a:prstGeom>
          <a:noFill/>
          <a:ln w="0">
            <a:noFill/>
          </a:ln>
        </p:spPr>
        <p:txBody>
          <a:bodyPr>
            <a:normAutofit fontScale="79487"/>
          </a:bodyPr>
          <a:lstStyle/>
          <a:p>
            <a:pPr>
              <a:buNone/>
              <a:defRPr sz="975" b="1">
                <a:solidFill>
                  <a:srgbClr val="F0AD26"/>
                </a:solidFill>
                <a:latin typeface="Arial"/>
                <a:ea typeface="Arial"/>
                <a:cs typeface="Arial"/>
              </a:defRPr>
            </a:pPr>
            <a:r>
              <a:rPr sz="975" b="1">
                <a:solidFill>
                  <a:srgbClr val="F0AD26"/>
                </a:solidFill>
                <a:latin typeface="Arial"/>
                <a:ea typeface="Arial"/>
                <a:cs typeface="Arial"/>
              </a:rPr>
              <a:t>03</a:t>
            </a:r>
          </a:p>
        </p:txBody>
      </p:sp>
      <p:sp>
        <p:nvSpPr>
          <p:cNvPr id="20" name="Rectangle 19">
            <a:extLst>
              <a:ext uri="{FF2B5EF4-FFF2-40B4-BE49-F238E27FC236}">
                <a16:creationId xmlns:a16="http://schemas.microsoft.com/office/drawing/2014/main" id="{BECA9F99-0C8C-4101-BBF9-A9F02383E1A6}"/>
              </a:ext>
            </a:extLst>
          </p:cNvPr>
          <p:cNvSpPr>
            <a:spLocks noGrp="1"/>
          </p:cNvSpPr>
          <p:nvPr/>
        </p:nvSpPr>
        <p:spPr>
          <a:xfrm>
            <a:off x="8496300" y="3857625"/>
            <a:ext cx="2647950" cy="238125"/>
          </a:xfrm>
          <a:prstGeom prst="rect">
            <a:avLst/>
          </a:prstGeom>
          <a:noFill/>
          <a:ln w="0">
            <a:noFill/>
          </a:ln>
        </p:spPr>
        <p:txBody>
          <a:bodyPr>
            <a:normAutofit fontScale="71296"/>
          </a:bodyPr>
          <a:lstStyle/>
          <a:p>
            <a:pPr>
              <a:buNone/>
              <a:defRPr sz="1350" b="1">
                <a:solidFill>
                  <a:srgbClr val="092F3E"/>
                </a:solidFill>
                <a:latin typeface="Arial"/>
                <a:ea typeface="Arial"/>
                <a:cs typeface="Arial"/>
              </a:defRPr>
            </a:pPr>
            <a:r>
              <a:rPr sz="1350" b="1">
                <a:solidFill>
                  <a:srgbClr val="092F3E"/>
                </a:solidFill>
                <a:latin typeface="Arial"/>
                <a:ea typeface="Arial"/>
                <a:cs typeface="Arial"/>
              </a:rPr>
              <a:t>The next step is uncertain</a:t>
            </a:r>
          </a:p>
        </p:txBody>
      </p:sp>
      <p:sp>
        <p:nvSpPr>
          <p:cNvPr id="21" name="Rectangle 20">
            <a:extLst>
              <a:ext uri="{FF2B5EF4-FFF2-40B4-BE49-F238E27FC236}">
                <a16:creationId xmlns:a16="http://schemas.microsoft.com/office/drawing/2014/main" id="{FF8F6AD2-3F51-48E6-B358-B66E02A23C55}"/>
              </a:ext>
            </a:extLst>
          </p:cNvPr>
          <p:cNvSpPr>
            <a:spLocks noGrp="1"/>
          </p:cNvSpPr>
          <p:nvPr/>
        </p:nvSpPr>
        <p:spPr>
          <a:xfrm>
            <a:off x="8496300" y="4171950"/>
            <a:ext cx="2619375" cy="476250"/>
          </a:xfrm>
          <a:prstGeom prst="rect">
            <a:avLst/>
          </a:prstGeom>
          <a:noFill/>
          <a:ln w="0">
            <a:noFill/>
          </a:ln>
        </p:spPr>
        <p:txBody>
          <a:bodyPr>
            <a:normAutofit/>
          </a:bodyPr>
          <a:lstStyle/>
          <a:p>
            <a:pPr>
              <a:buNone/>
              <a:defRPr sz="1125" b="0">
                <a:solidFill>
                  <a:srgbClr val="5B7180"/>
                </a:solidFill>
                <a:latin typeface="Arial"/>
                <a:ea typeface="Arial"/>
                <a:cs typeface="Arial"/>
              </a:defRPr>
            </a:pPr>
            <a:r>
              <a:rPr sz="1125" b="0">
                <a:solidFill>
                  <a:srgbClr val="5B7180"/>
                </a:solidFill>
                <a:latin typeface="Arial"/>
                <a:ea typeface="Arial"/>
                <a:cs typeface="Arial"/>
              </a:rPr>
              <a:t>Users need a safe route and a practical direction to support.</a:t>
            </a:r>
          </a:p>
        </p:txBody>
      </p:sp>
      <p:sp>
        <p:nvSpPr>
          <p:cNvPr id="22" name="Rectangle 21">
            <a:extLst>
              <a:ext uri="{FF2B5EF4-FFF2-40B4-BE49-F238E27FC236}">
                <a16:creationId xmlns:a16="http://schemas.microsoft.com/office/drawing/2014/main" id="{FC232CA6-AF3D-446F-9CB9-0B7D6FBE1A63}"/>
              </a:ext>
            </a:extLst>
          </p:cNvPr>
          <p:cNvSpPr>
            <a:spLocks noGrp="1"/>
          </p:cNvSpPr>
          <p:nvPr/>
        </p:nvSpPr>
        <p:spPr>
          <a:xfrm>
            <a:off x="771525" y="5381625"/>
            <a:ext cx="9620250" cy="285750"/>
          </a:xfrm>
          <a:prstGeom prst="rect">
            <a:avLst/>
          </a:prstGeom>
          <a:noFill/>
          <a:ln w="0">
            <a:noFill/>
          </a:ln>
        </p:spPr>
        <p:txBody>
          <a:bodyPr>
            <a:normAutofit fontScale="85000"/>
          </a:bodyPr>
          <a:lstStyle/>
          <a:p>
            <a:pPr>
              <a:buNone/>
              <a:defRPr sz="1500" b="1">
                <a:solidFill>
                  <a:srgbClr val="0B3A4A"/>
                </a:solidFill>
                <a:latin typeface="Arial"/>
                <a:ea typeface="Arial"/>
                <a:cs typeface="Arial"/>
              </a:defRPr>
            </a:pPr>
            <a:r>
              <a:rPr sz="1500" b="1">
                <a:solidFill>
                  <a:srgbClr val="0B3A4A"/>
                </a:solidFill>
                <a:latin typeface="Arial"/>
                <a:ea typeface="Arial"/>
                <a:cs typeface="Arial"/>
              </a:rPr>
              <a:t>NetraJyoti responds with Bengali-first guidance, structured choices, and visible human-support options.</a:t>
            </a:r>
          </a:p>
        </p:txBody>
      </p:sp>
      <p:sp>
        <p:nvSpPr>
          <p:cNvPr id="24" name="Rectangle 23">
            <a:extLst>
              <a:ext uri="{FF2B5EF4-FFF2-40B4-BE49-F238E27FC236}">
                <a16:creationId xmlns:a16="http://schemas.microsoft.com/office/drawing/2014/main" id="{3EAB6764-04B5-4122-875B-13EC11AEB76C}"/>
              </a:ext>
            </a:extLst>
          </p:cNvPr>
          <p:cNvSpPr>
            <a:spLocks noGrp="1"/>
          </p:cNvSpPr>
          <p:nvPr/>
        </p:nvSpPr>
        <p:spPr>
          <a:xfrm>
            <a:off x="0" y="0"/>
            <a:ext cx="12192000" cy="6858000"/>
          </a:xfrm>
          <a:prstGeom prst="rect">
            <a:avLst/>
          </a:prstGeom>
          <a:solidFill>
            <a:srgbClr val="FCF8F2"/>
          </a:solidFill>
          <a:ln w="0">
            <a:noFill/>
          </a:ln>
        </p:spPr>
      </p:sp>
      <p:sp>
        <p:nvSpPr>
          <p:cNvPr id="25" name="Rectangle 24">
            <a:extLst>
              <a:ext uri="{FF2B5EF4-FFF2-40B4-BE49-F238E27FC236}">
                <a16:creationId xmlns:a16="http://schemas.microsoft.com/office/drawing/2014/main" id="{9BACBC0C-E111-4211-8E00-731F8C140940}"/>
              </a:ext>
            </a:extLst>
          </p:cNvPr>
          <p:cNvSpPr>
            <a:spLocks noGrp="1"/>
          </p:cNvSpPr>
          <p:nvPr/>
        </p:nvSpPr>
        <p:spPr>
          <a:xfrm>
            <a:off x="685800" y="419100"/>
            <a:ext cx="666750" cy="209550"/>
          </a:xfrm>
          <a:prstGeom prst="rect">
            <a:avLst/>
          </a:prstGeom>
          <a:noFill/>
          <a:ln w="0">
            <a:noFill/>
          </a:ln>
        </p:spPr>
        <p:txBody>
          <a:bodyPr>
            <a:noAutofit/>
          </a:bodyPr>
          <a:lstStyle/>
          <a:p>
            <a:pPr>
              <a:buNone/>
              <a:defRPr sz="1200" b="1">
                <a:solidFill>
                  <a:srgbClr val="E7A048"/>
                </a:solidFill>
                <a:latin typeface="Arial"/>
                <a:ea typeface="Arial"/>
                <a:cs typeface="Arial"/>
              </a:defRPr>
            </a:pPr>
            <a:r>
              <a:rPr sz="1200" b="1">
                <a:solidFill>
                  <a:srgbClr val="E7A048"/>
                </a:solidFill>
                <a:latin typeface="Arial"/>
                <a:ea typeface="Arial"/>
                <a:cs typeface="Arial"/>
              </a:rPr>
              <a:t>02</a:t>
            </a:r>
          </a:p>
        </p:txBody>
      </p:sp>
      <p:sp>
        <p:nvSpPr>
          <p:cNvPr id="26" name="Rectangle 25">
            <a:extLst>
              <a:ext uri="{FF2B5EF4-FFF2-40B4-BE49-F238E27FC236}">
                <a16:creationId xmlns:a16="http://schemas.microsoft.com/office/drawing/2014/main" id="{CEF1BA06-4FE7-4FD0-963D-812FFA99F17A}"/>
              </a:ext>
            </a:extLst>
          </p:cNvPr>
          <p:cNvSpPr>
            <a:spLocks noGrp="1"/>
          </p:cNvSpPr>
          <p:nvPr/>
        </p:nvSpPr>
        <p:spPr>
          <a:xfrm>
            <a:off x="9810750" y="428625"/>
            <a:ext cx="1695450" cy="190500"/>
          </a:xfrm>
          <a:prstGeom prst="rect">
            <a:avLst/>
          </a:prstGeom>
          <a:noFill/>
          <a:ln w="0">
            <a:noFill/>
          </a:ln>
        </p:spPr>
        <p:txBody>
          <a:bodyPr>
            <a:noAutofit/>
          </a:bodyPr>
          <a:lstStyle/>
          <a:p>
            <a:pPr algn="r">
              <a:buNone/>
              <a:defRPr sz="975" b="1">
                <a:solidFill>
                  <a:srgbClr val="4656A8"/>
                </a:solidFill>
                <a:latin typeface="Arial"/>
                <a:ea typeface="Arial"/>
                <a:cs typeface="Arial"/>
              </a:defRPr>
            </a:pPr>
            <a:r>
              <a:rPr sz="975" b="1">
                <a:solidFill>
                  <a:srgbClr val="4656A8"/>
                </a:solidFill>
                <a:latin typeface="Arial"/>
                <a:ea typeface="Arial"/>
                <a:cs typeface="Arial"/>
              </a:rPr>
              <a:t>NETRAJYOTI AI</a:t>
            </a:r>
          </a:p>
        </p:txBody>
      </p:sp>
      <p:sp>
        <p:nvSpPr>
          <p:cNvPr id="27" name="Rectangle 26">
            <a:extLst>
              <a:ext uri="{FF2B5EF4-FFF2-40B4-BE49-F238E27FC236}">
                <a16:creationId xmlns:a16="http://schemas.microsoft.com/office/drawing/2014/main" id="{38A9455C-C93D-434E-9D7C-89884D61328D}"/>
              </a:ext>
            </a:extLst>
          </p:cNvPr>
          <p:cNvSpPr>
            <a:spLocks noGrp="1"/>
          </p:cNvSpPr>
          <p:nvPr/>
        </p:nvSpPr>
        <p:spPr>
          <a:xfrm>
            <a:off x="685800" y="762000"/>
            <a:ext cx="10287000" cy="457200"/>
          </a:xfrm>
          <a:prstGeom prst="rect">
            <a:avLst/>
          </a:prstGeom>
          <a:noFill/>
          <a:ln w="0">
            <a:noFill/>
          </a:ln>
        </p:spPr>
        <p:txBody>
          <a:bodyPr>
            <a:noAutofit/>
          </a:bodyPr>
          <a:lstStyle/>
          <a:p>
            <a:pPr>
              <a:buNone/>
              <a:defRPr sz="2550" b="1">
                <a:solidFill>
                  <a:srgbClr val="202A44"/>
                </a:solidFill>
                <a:latin typeface="Arial"/>
                <a:ea typeface="Arial"/>
                <a:cs typeface="Arial"/>
              </a:defRPr>
            </a:pPr>
            <a:r>
              <a:rPr sz="2550" b="1">
                <a:solidFill>
                  <a:srgbClr val="202A44"/>
                </a:solidFill>
                <a:latin typeface="Arial"/>
                <a:ea typeface="Arial"/>
                <a:cs typeface="Arial"/>
              </a:rPr>
              <a:t>The access problem</a:t>
            </a:r>
          </a:p>
        </p:txBody>
      </p:sp>
      <p:sp>
        <p:nvSpPr>
          <p:cNvPr id="28" name="Rectangle 27">
            <a:extLst>
              <a:ext uri="{FF2B5EF4-FFF2-40B4-BE49-F238E27FC236}">
                <a16:creationId xmlns:a16="http://schemas.microsoft.com/office/drawing/2014/main" id="{7B6B016A-8F1A-4956-B098-3E5D001DCF1F}"/>
              </a:ext>
            </a:extLst>
          </p:cNvPr>
          <p:cNvSpPr>
            <a:spLocks noGrp="1"/>
          </p:cNvSpPr>
          <p:nvPr/>
        </p:nvSpPr>
        <p:spPr>
          <a:xfrm>
            <a:off x="704850" y="1343025"/>
            <a:ext cx="10287000" cy="266700"/>
          </a:xfrm>
          <a:prstGeom prst="rect">
            <a:avLst/>
          </a:prstGeom>
          <a:noFill/>
          <a:ln w="0">
            <a:noFill/>
          </a:ln>
        </p:spPr>
        <p:txBody>
          <a:bodyPr>
            <a:noAutofit/>
          </a:bodyPr>
          <a:lstStyle/>
          <a:p>
            <a:pPr>
              <a:buNone/>
              <a:defRPr sz="1275">
                <a:solidFill>
                  <a:srgbClr val="56647A"/>
                </a:solidFill>
                <a:latin typeface="Arial"/>
                <a:ea typeface="Arial"/>
                <a:cs typeface="Arial"/>
              </a:defRPr>
            </a:pPr>
            <a:r>
              <a:rPr sz="1275">
                <a:solidFill>
                  <a:srgbClr val="56647A"/>
                </a:solidFill>
                <a:latin typeface="Arial"/>
                <a:ea typeface="Arial"/>
                <a:cs typeface="Arial"/>
              </a:rPr>
              <a:t>Language and service uncertainty can delay a safe eye-care decision</a:t>
            </a:r>
          </a:p>
        </p:txBody>
      </p:sp>
      <p:sp>
        <p:nvSpPr>
          <p:cNvPr id="29" name="Rectangle 28">
            <a:extLst>
              <a:ext uri="{FF2B5EF4-FFF2-40B4-BE49-F238E27FC236}">
                <a16:creationId xmlns:a16="http://schemas.microsoft.com/office/drawing/2014/main" id="{A251AE8B-9272-441A-BDCE-506C9B680E36}"/>
              </a:ext>
            </a:extLst>
          </p:cNvPr>
          <p:cNvSpPr>
            <a:spLocks noGrp="1"/>
          </p:cNvSpPr>
          <p:nvPr/>
        </p:nvSpPr>
        <p:spPr>
          <a:xfrm>
            <a:off x="685800" y="1752600"/>
            <a:ext cx="10820400" cy="19050"/>
          </a:xfrm>
          <a:prstGeom prst="rect">
            <a:avLst/>
          </a:prstGeom>
          <a:solidFill>
            <a:srgbClr val="D7D0C7"/>
          </a:solidFill>
          <a:ln w="0">
            <a:noFill/>
          </a:ln>
        </p:spPr>
      </p:sp>
      <p:sp>
        <p:nvSpPr>
          <p:cNvPr id="30" name="Rectangle 29">
            <a:extLst>
              <a:ext uri="{FF2B5EF4-FFF2-40B4-BE49-F238E27FC236}">
                <a16:creationId xmlns:a16="http://schemas.microsoft.com/office/drawing/2014/main" id="{C1376710-5CEA-4D98-82E8-749E6DD65A13}"/>
              </a:ext>
            </a:extLst>
          </p:cNvPr>
          <p:cNvSpPr>
            <a:spLocks noGrp="1"/>
          </p:cNvSpPr>
          <p:nvPr/>
        </p:nvSpPr>
        <p:spPr>
          <a:xfrm>
            <a:off x="742950" y="2228850"/>
            <a:ext cx="2381250" cy="190500"/>
          </a:xfrm>
          <a:prstGeom prst="rect">
            <a:avLst/>
          </a:prstGeom>
          <a:noFill/>
          <a:ln w="0">
            <a:noFill/>
          </a:ln>
        </p:spPr>
        <p:txBody>
          <a:bodyPr>
            <a:noAutofit/>
          </a:bodyPr>
          <a:lstStyle/>
          <a:p>
            <a:pPr>
              <a:buNone/>
              <a:defRPr sz="1050" b="1">
                <a:solidFill>
                  <a:srgbClr val="DE664C"/>
                </a:solidFill>
                <a:latin typeface="Arial"/>
                <a:ea typeface="Arial"/>
                <a:cs typeface="Arial"/>
              </a:defRPr>
            </a:pPr>
            <a:r>
              <a:rPr sz="1050" b="1">
                <a:solidFill>
                  <a:srgbClr val="DE664C"/>
                </a:solidFill>
                <a:latin typeface="Arial"/>
                <a:ea typeface="Arial"/>
                <a:cs typeface="Arial"/>
              </a:rPr>
              <a:t>THE DECISION GAP</a:t>
            </a:r>
          </a:p>
        </p:txBody>
      </p:sp>
      <p:sp>
        <p:nvSpPr>
          <p:cNvPr id="31" name="Rectangle 30">
            <a:extLst>
              <a:ext uri="{FF2B5EF4-FFF2-40B4-BE49-F238E27FC236}">
                <a16:creationId xmlns:a16="http://schemas.microsoft.com/office/drawing/2014/main" id="{0600D846-2CEC-40DB-84A4-36B9BD442DB2}"/>
              </a:ext>
            </a:extLst>
          </p:cNvPr>
          <p:cNvSpPr>
            <a:spLocks noGrp="1"/>
          </p:cNvSpPr>
          <p:nvPr/>
        </p:nvSpPr>
        <p:spPr>
          <a:xfrm>
            <a:off x="742950" y="2571750"/>
            <a:ext cx="3381375" cy="714375"/>
          </a:xfrm>
          <a:prstGeom prst="rect">
            <a:avLst/>
          </a:prstGeom>
          <a:noFill/>
          <a:ln w="0">
            <a:noFill/>
          </a:ln>
        </p:spPr>
        <p:txBody>
          <a:bodyPr>
            <a:noAutofit/>
          </a:bodyPr>
          <a:lstStyle/>
          <a:p>
            <a:pPr>
              <a:buNone/>
              <a:defRPr sz="2100" b="1">
                <a:solidFill>
                  <a:srgbClr val="202A44"/>
                </a:solidFill>
                <a:latin typeface="Arial"/>
                <a:ea typeface="Arial"/>
                <a:cs typeface="Arial"/>
              </a:defRPr>
            </a:pPr>
            <a:r>
              <a:rPr sz="2100" b="1">
                <a:solidFill>
                  <a:srgbClr val="202A44"/>
                </a:solidFill>
                <a:latin typeface="Arial"/>
                <a:ea typeface="Arial"/>
                <a:cs typeface="Arial"/>
              </a:rPr>
              <a:t>People need answers</a:t>
            </a:r>
          </a:p>
          <a:p>
            <a:pPr>
              <a:buNone/>
              <a:defRPr sz="2100" b="1">
                <a:solidFill>
                  <a:srgbClr val="202A44"/>
                </a:solidFill>
                <a:latin typeface="Arial"/>
                <a:ea typeface="Arial"/>
                <a:cs typeface="Arial"/>
              </a:defRPr>
            </a:pPr>
            <a:r>
              <a:rPr sz="2100" b="1">
                <a:solidFill>
                  <a:srgbClr val="202A44"/>
                </a:solidFill>
                <a:latin typeface="Arial"/>
                <a:ea typeface="Arial"/>
                <a:cs typeface="Arial"/>
              </a:rPr>
              <a:t>before they can act</a:t>
            </a:r>
          </a:p>
        </p:txBody>
      </p:sp>
      <p:sp>
        <p:nvSpPr>
          <p:cNvPr id="32" name="Rectangle 31">
            <a:extLst>
              <a:ext uri="{FF2B5EF4-FFF2-40B4-BE49-F238E27FC236}">
                <a16:creationId xmlns:a16="http://schemas.microsoft.com/office/drawing/2014/main" id="{599952C2-D74B-42D4-8CDB-81F53EAC6917}"/>
              </a:ext>
            </a:extLst>
          </p:cNvPr>
          <p:cNvSpPr>
            <a:spLocks noGrp="1"/>
          </p:cNvSpPr>
          <p:nvPr/>
        </p:nvSpPr>
        <p:spPr>
          <a:xfrm>
            <a:off x="742950" y="3562350"/>
            <a:ext cx="3381375" cy="952500"/>
          </a:xfrm>
          <a:prstGeom prst="rect">
            <a:avLst/>
          </a:prstGeom>
          <a:noFill/>
          <a:ln w="0">
            <a:noFill/>
          </a:ln>
        </p:spPr>
        <p:txBody>
          <a:bodyPr>
            <a:noAutofit/>
          </a:bodyPr>
          <a:lstStyle/>
          <a:p>
            <a:pPr>
              <a:buNone/>
              <a:defRPr sz="1425">
                <a:solidFill>
                  <a:srgbClr val="56647A"/>
                </a:solidFill>
                <a:latin typeface="Arial"/>
                <a:ea typeface="Arial"/>
                <a:cs typeface="Arial"/>
              </a:defRPr>
            </a:pPr>
            <a:r>
              <a:rPr sz="1425">
                <a:solidFill>
                  <a:srgbClr val="56647A"/>
                </a:solidFill>
                <a:latin typeface="Arial"/>
                <a:ea typeface="Arial"/>
                <a:cs typeface="Arial"/>
              </a:rPr>
              <a:t>A Bengali-speaking user may struggle to decide whether care is urgent, which guidance is trustworthy, or where to seek help.</a:t>
            </a:r>
          </a:p>
        </p:txBody>
      </p:sp>
      <p:sp>
        <p:nvSpPr>
          <p:cNvPr id="33" name="Rectangle 32">
            <a:extLst>
              <a:ext uri="{FF2B5EF4-FFF2-40B4-BE49-F238E27FC236}">
                <a16:creationId xmlns:a16="http://schemas.microsoft.com/office/drawing/2014/main" id="{C10B35E9-7798-4BD8-97FD-660951865D4D}"/>
              </a:ext>
            </a:extLst>
          </p:cNvPr>
          <p:cNvSpPr>
            <a:spLocks noGrp="1"/>
          </p:cNvSpPr>
          <p:nvPr/>
        </p:nvSpPr>
        <p:spPr>
          <a:xfrm>
            <a:off x="4762500" y="2266950"/>
            <a:ext cx="19050" cy="2857500"/>
          </a:xfrm>
          <a:prstGeom prst="rect">
            <a:avLst/>
          </a:prstGeom>
          <a:solidFill>
            <a:srgbClr val="D7D0C7"/>
          </a:solidFill>
          <a:ln w="0">
            <a:noFill/>
          </a:ln>
        </p:spPr>
      </p:sp>
      <p:sp>
        <p:nvSpPr>
          <p:cNvPr id="34" name="Oval 33">
            <a:extLst>
              <a:ext uri="{FF2B5EF4-FFF2-40B4-BE49-F238E27FC236}">
                <a16:creationId xmlns:a16="http://schemas.microsoft.com/office/drawing/2014/main" id="{7D99DB74-AE95-4DE9-AF7B-31BCF55026CD}"/>
              </a:ext>
            </a:extLst>
          </p:cNvPr>
          <p:cNvSpPr>
            <a:spLocks noGrp="1"/>
          </p:cNvSpPr>
          <p:nvPr/>
        </p:nvSpPr>
        <p:spPr>
          <a:xfrm>
            <a:off x="5105400" y="2381250"/>
            <a:ext cx="495300" cy="495300"/>
          </a:xfrm>
          <a:prstGeom prst="ellipse">
            <a:avLst/>
          </a:prstGeom>
          <a:solidFill>
            <a:srgbClr val="DE664C"/>
          </a:solidFill>
          <a:ln w="0">
            <a:noFill/>
          </a:ln>
        </p:spPr>
      </p:sp>
      <p:sp>
        <p:nvSpPr>
          <p:cNvPr id="35" name="Rectangle 34">
            <a:extLst>
              <a:ext uri="{FF2B5EF4-FFF2-40B4-BE49-F238E27FC236}">
                <a16:creationId xmlns:a16="http://schemas.microsoft.com/office/drawing/2014/main" id="{47BE0796-C284-41DA-9B0D-3C1243300A6E}"/>
              </a:ext>
            </a:extLst>
          </p:cNvPr>
          <p:cNvSpPr>
            <a:spLocks noGrp="1"/>
          </p:cNvSpPr>
          <p:nvPr/>
        </p:nvSpPr>
        <p:spPr>
          <a:xfrm>
            <a:off x="5105400" y="2505075"/>
            <a:ext cx="495300" cy="190500"/>
          </a:xfrm>
          <a:prstGeom prst="rect">
            <a:avLst/>
          </a:prstGeom>
          <a:noFill/>
          <a:ln w="0">
            <a:noFill/>
          </a:ln>
        </p:spPr>
        <p:txBody>
          <a:bodyPr>
            <a:noAutofit/>
          </a:bodyP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1</a:t>
            </a:r>
          </a:p>
        </p:txBody>
      </p:sp>
      <p:sp>
        <p:nvSpPr>
          <p:cNvPr id="36" name="Rectangle 35">
            <a:extLst>
              <a:ext uri="{FF2B5EF4-FFF2-40B4-BE49-F238E27FC236}">
                <a16:creationId xmlns:a16="http://schemas.microsoft.com/office/drawing/2014/main" id="{E88C1010-F2BA-4C1B-B37A-0F0503EE355B}"/>
              </a:ext>
            </a:extLst>
          </p:cNvPr>
          <p:cNvSpPr>
            <a:spLocks noGrp="1"/>
          </p:cNvSpPr>
          <p:nvPr/>
        </p:nvSpPr>
        <p:spPr>
          <a:xfrm>
            <a:off x="5810250" y="2419350"/>
            <a:ext cx="3429000" cy="257175"/>
          </a:xfrm>
          <a:prstGeom prst="rect">
            <a:avLst/>
          </a:prstGeom>
          <a:noFill/>
          <a:ln w="0">
            <a:noFill/>
          </a:ln>
        </p:spPr>
        <p:txBody>
          <a:bodyPr>
            <a:noAutofit/>
          </a:bodyPr>
          <a:lstStyle/>
          <a:p>
            <a:pPr>
              <a:buNone/>
              <a:defRPr sz="1650" b="1">
                <a:solidFill>
                  <a:srgbClr val="202A44"/>
                </a:solidFill>
                <a:latin typeface="Arial"/>
                <a:ea typeface="Arial"/>
                <a:cs typeface="Arial"/>
              </a:defRPr>
            </a:pPr>
            <a:r>
              <a:rPr sz="1650" b="1">
                <a:solidFill>
                  <a:srgbClr val="202A44"/>
                </a:solidFill>
                <a:latin typeface="Arial"/>
                <a:ea typeface="Arial"/>
                <a:cs typeface="Arial"/>
              </a:rPr>
              <a:t>Is this urgent?</a:t>
            </a:r>
          </a:p>
        </p:txBody>
      </p:sp>
      <p:sp>
        <p:nvSpPr>
          <p:cNvPr id="37" name="Rectangle 36">
            <a:extLst>
              <a:ext uri="{FF2B5EF4-FFF2-40B4-BE49-F238E27FC236}">
                <a16:creationId xmlns:a16="http://schemas.microsoft.com/office/drawing/2014/main" id="{6132D8CA-E88D-4B89-88C2-2191852797AD}"/>
              </a:ext>
            </a:extLst>
          </p:cNvPr>
          <p:cNvSpPr>
            <a:spLocks noGrp="1"/>
          </p:cNvSpPr>
          <p:nvPr/>
        </p:nvSpPr>
        <p:spPr>
          <a:xfrm>
            <a:off x="5810250" y="2733675"/>
            <a:ext cx="4191000" cy="228600"/>
          </a:xfrm>
          <a:prstGeom prst="rect">
            <a:avLst/>
          </a:prstGeom>
          <a:noFill/>
          <a:ln w="0">
            <a:noFill/>
          </a:ln>
        </p:spPr>
        <p:txBody>
          <a:bodyPr>
            <a:noAutofit/>
          </a:bodyPr>
          <a:lstStyle/>
          <a:p>
            <a:pPr>
              <a:buNone/>
              <a:defRPr sz="1200">
                <a:solidFill>
                  <a:srgbClr val="56647A"/>
                </a:solidFill>
                <a:latin typeface="Arial"/>
                <a:ea typeface="Arial"/>
                <a:cs typeface="Arial"/>
              </a:defRPr>
            </a:pPr>
            <a:r>
              <a:rPr sz="1200">
                <a:solidFill>
                  <a:srgbClr val="56647A"/>
                </a:solidFill>
                <a:latin typeface="Arial"/>
                <a:ea typeface="Arial"/>
                <a:cs typeface="Arial"/>
              </a:rPr>
              <a:t>Symptoms may feel unclear</a:t>
            </a:r>
          </a:p>
        </p:txBody>
      </p:sp>
      <p:sp>
        <p:nvSpPr>
          <p:cNvPr id="38" name="Oval 37">
            <a:extLst>
              <a:ext uri="{FF2B5EF4-FFF2-40B4-BE49-F238E27FC236}">
                <a16:creationId xmlns:a16="http://schemas.microsoft.com/office/drawing/2014/main" id="{94F83D33-C10D-4766-868D-270BDD7112D5}"/>
              </a:ext>
            </a:extLst>
          </p:cNvPr>
          <p:cNvSpPr>
            <a:spLocks noGrp="1"/>
          </p:cNvSpPr>
          <p:nvPr/>
        </p:nvSpPr>
        <p:spPr>
          <a:xfrm>
            <a:off x="5105400" y="3371850"/>
            <a:ext cx="495300" cy="495300"/>
          </a:xfrm>
          <a:prstGeom prst="ellipse">
            <a:avLst/>
          </a:prstGeom>
          <a:solidFill>
            <a:srgbClr val="4656A8"/>
          </a:solidFill>
          <a:ln w="0">
            <a:noFill/>
          </a:ln>
        </p:spPr>
      </p:sp>
      <p:sp>
        <p:nvSpPr>
          <p:cNvPr id="39" name="Rectangle 38">
            <a:extLst>
              <a:ext uri="{FF2B5EF4-FFF2-40B4-BE49-F238E27FC236}">
                <a16:creationId xmlns:a16="http://schemas.microsoft.com/office/drawing/2014/main" id="{26645ACE-4332-4794-A6BE-DA933CA11F83}"/>
              </a:ext>
            </a:extLst>
          </p:cNvPr>
          <p:cNvSpPr>
            <a:spLocks noGrp="1"/>
          </p:cNvSpPr>
          <p:nvPr/>
        </p:nvSpPr>
        <p:spPr>
          <a:xfrm>
            <a:off x="5105400" y="3495675"/>
            <a:ext cx="495300" cy="190500"/>
          </a:xfrm>
          <a:prstGeom prst="rect">
            <a:avLst/>
          </a:prstGeom>
          <a:noFill/>
          <a:ln w="0">
            <a:noFill/>
          </a:ln>
        </p:spPr>
        <p:txBody>
          <a:bodyPr>
            <a:noAutofit/>
          </a:bodyP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2</a:t>
            </a:r>
          </a:p>
        </p:txBody>
      </p:sp>
      <p:sp>
        <p:nvSpPr>
          <p:cNvPr id="40" name="Rectangle 39">
            <a:extLst>
              <a:ext uri="{FF2B5EF4-FFF2-40B4-BE49-F238E27FC236}">
                <a16:creationId xmlns:a16="http://schemas.microsoft.com/office/drawing/2014/main" id="{407874D0-92E0-4B3F-A6BC-3835D7B60A4C}"/>
              </a:ext>
            </a:extLst>
          </p:cNvPr>
          <p:cNvSpPr>
            <a:spLocks noGrp="1"/>
          </p:cNvSpPr>
          <p:nvPr/>
        </p:nvSpPr>
        <p:spPr>
          <a:xfrm>
            <a:off x="5810250" y="3409950"/>
            <a:ext cx="3429000" cy="257175"/>
          </a:xfrm>
          <a:prstGeom prst="rect">
            <a:avLst/>
          </a:prstGeom>
          <a:noFill/>
          <a:ln w="0">
            <a:noFill/>
          </a:ln>
        </p:spPr>
        <p:txBody>
          <a:bodyPr>
            <a:noAutofit/>
          </a:bodyPr>
          <a:lstStyle/>
          <a:p>
            <a:pPr>
              <a:buNone/>
              <a:defRPr sz="1650" b="1">
                <a:solidFill>
                  <a:srgbClr val="202A44"/>
                </a:solidFill>
                <a:latin typeface="Arial"/>
                <a:ea typeface="Arial"/>
                <a:cs typeface="Arial"/>
              </a:defRPr>
            </a:pPr>
            <a:r>
              <a:rPr sz="1650" b="1">
                <a:solidFill>
                  <a:srgbClr val="202A44"/>
                </a:solidFill>
                <a:latin typeface="Arial"/>
                <a:ea typeface="Arial"/>
                <a:cs typeface="Arial"/>
              </a:rPr>
              <a:t>Can I trust this?</a:t>
            </a:r>
          </a:p>
        </p:txBody>
      </p:sp>
      <p:sp>
        <p:nvSpPr>
          <p:cNvPr id="41" name="Rectangle 40">
            <a:extLst>
              <a:ext uri="{FF2B5EF4-FFF2-40B4-BE49-F238E27FC236}">
                <a16:creationId xmlns:a16="http://schemas.microsoft.com/office/drawing/2014/main" id="{FB2656AA-C234-4DFC-9821-76C912C7528D}"/>
              </a:ext>
            </a:extLst>
          </p:cNvPr>
          <p:cNvSpPr>
            <a:spLocks noGrp="1"/>
          </p:cNvSpPr>
          <p:nvPr/>
        </p:nvSpPr>
        <p:spPr>
          <a:xfrm>
            <a:off x="5810250" y="3724275"/>
            <a:ext cx="4191000" cy="228600"/>
          </a:xfrm>
          <a:prstGeom prst="rect">
            <a:avLst/>
          </a:prstGeom>
          <a:noFill/>
          <a:ln w="0">
            <a:noFill/>
          </a:ln>
        </p:spPr>
        <p:txBody>
          <a:bodyPr>
            <a:noAutofit/>
          </a:bodyPr>
          <a:lstStyle/>
          <a:p>
            <a:pPr>
              <a:buNone/>
              <a:defRPr sz="1200">
                <a:solidFill>
                  <a:srgbClr val="56647A"/>
                </a:solidFill>
                <a:latin typeface="Arial"/>
                <a:ea typeface="Arial"/>
                <a:cs typeface="Arial"/>
              </a:defRPr>
            </a:pPr>
            <a:r>
              <a:rPr sz="1200">
                <a:solidFill>
                  <a:srgbClr val="56647A"/>
                </a:solidFill>
                <a:latin typeface="Arial"/>
                <a:ea typeface="Arial"/>
                <a:cs typeface="Arial"/>
              </a:rPr>
              <a:t>Information may not be Bengali</a:t>
            </a:r>
          </a:p>
        </p:txBody>
      </p:sp>
      <p:sp>
        <p:nvSpPr>
          <p:cNvPr id="42" name="Oval 41">
            <a:extLst>
              <a:ext uri="{FF2B5EF4-FFF2-40B4-BE49-F238E27FC236}">
                <a16:creationId xmlns:a16="http://schemas.microsoft.com/office/drawing/2014/main" id="{779FE83E-1AB9-4BC7-812E-D20E411EDA3A}"/>
              </a:ext>
            </a:extLst>
          </p:cNvPr>
          <p:cNvSpPr>
            <a:spLocks noGrp="1"/>
          </p:cNvSpPr>
          <p:nvPr/>
        </p:nvSpPr>
        <p:spPr>
          <a:xfrm>
            <a:off x="5105400" y="4362450"/>
            <a:ext cx="495300" cy="495300"/>
          </a:xfrm>
          <a:prstGeom prst="ellipse">
            <a:avLst/>
          </a:prstGeom>
          <a:solidFill>
            <a:srgbClr val="237A7A"/>
          </a:solidFill>
          <a:ln w="0">
            <a:noFill/>
          </a:ln>
        </p:spPr>
      </p:sp>
      <p:sp>
        <p:nvSpPr>
          <p:cNvPr id="43" name="Rectangle 42">
            <a:extLst>
              <a:ext uri="{FF2B5EF4-FFF2-40B4-BE49-F238E27FC236}">
                <a16:creationId xmlns:a16="http://schemas.microsoft.com/office/drawing/2014/main" id="{64928274-04A3-449B-8ADE-F1FB0C5AB920}"/>
              </a:ext>
            </a:extLst>
          </p:cNvPr>
          <p:cNvSpPr>
            <a:spLocks noGrp="1"/>
          </p:cNvSpPr>
          <p:nvPr/>
        </p:nvSpPr>
        <p:spPr>
          <a:xfrm>
            <a:off x="5105400" y="4486275"/>
            <a:ext cx="495300" cy="190500"/>
          </a:xfrm>
          <a:prstGeom prst="rect">
            <a:avLst/>
          </a:prstGeom>
          <a:noFill/>
          <a:ln w="0">
            <a:noFill/>
          </a:ln>
        </p:spPr>
        <p:txBody>
          <a:bodyPr>
            <a:noAutofit/>
          </a:bodyP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3</a:t>
            </a:r>
          </a:p>
        </p:txBody>
      </p:sp>
      <p:sp>
        <p:nvSpPr>
          <p:cNvPr id="44" name="Rectangle 43">
            <a:extLst>
              <a:ext uri="{FF2B5EF4-FFF2-40B4-BE49-F238E27FC236}">
                <a16:creationId xmlns:a16="http://schemas.microsoft.com/office/drawing/2014/main" id="{167225F4-1A3E-4A15-B3A2-A7E5FB8E04C0}"/>
              </a:ext>
            </a:extLst>
          </p:cNvPr>
          <p:cNvSpPr>
            <a:spLocks noGrp="1"/>
          </p:cNvSpPr>
          <p:nvPr/>
        </p:nvSpPr>
        <p:spPr>
          <a:xfrm>
            <a:off x="5810250" y="4400550"/>
            <a:ext cx="3429000" cy="257175"/>
          </a:xfrm>
          <a:prstGeom prst="rect">
            <a:avLst/>
          </a:prstGeom>
          <a:noFill/>
          <a:ln w="0">
            <a:noFill/>
          </a:ln>
        </p:spPr>
        <p:txBody>
          <a:bodyPr>
            <a:noAutofit/>
          </a:bodyPr>
          <a:lstStyle/>
          <a:p>
            <a:pPr>
              <a:buNone/>
              <a:defRPr sz="1650" b="1">
                <a:solidFill>
                  <a:srgbClr val="202A44"/>
                </a:solidFill>
                <a:latin typeface="Arial"/>
                <a:ea typeface="Arial"/>
                <a:cs typeface="Arial"/>
              </a:defRPr>
            </a:pPr>
            <a:r>
              <a:rPr sz="1650" b="1">
                <a:solidFill>
                  <a:srgbClr val="202A44"/>
                </a:solidFill>
                <a:latin typeface="Arial"/>
                <a:ea typeface="Arial"/>
                <a:cs typeface="Arial"/>
              </a:rPr>
              <a:t>Where should I go?</a:t>
            </a:r>
          </a:p>
        </p:txBody>
      </p:sp>
      <p:sp>
        <p:nvSpPr>
          <p:cNvPr id="45" name="Rectangle 44">
            <a:extLst>
              <a:ext uri="{FF2B5EF4-FFF2-40B4-BE49-F238E27FC236}">
                <a16:creationId xmlns:a16="http://schemas.microsoft.com/office/drawing/2014/main" id="{915B29EF-2E6B-47F1-8552-1A7E9B80CC62}"/>
              </a:ext>
            </a:extLst>
          </p:cNvPr>
          <p:cNvSpPr>
            <a:spLocks noGrp="1"/>
          </p:cNvSpPr>
          <p:nvPr/>
        </p:nvSpPr>
        <p:spPr>
          <a:xfrm>
            <a:off x="5810250" y="4714875"/>
            <a:ext cx="4191000" cy="228600"/>
          </a:xfrm>
          <a:prstGeom prst="rect">
            <a:avLst/>
          </a:prstGeom>
          <a:noFill/>
          <a:ln w="0">
            <a:noFill/>
          </a:ln>
        </p:spPr>
        <p:txBody>
          <a:bodyPr>
            <a:noAutofit/>
          </a:bodyPr>
          <a:lstStyle/>
          <a:p>
            <a:pPr>
              <a:buNone/>
              <a:defRPr sz="1200">
                <a:solidFill>
                  <a:srgbClr val="56647A"/>
                </a:solidFill>
                <a:latin typeface="Arial"/>
                <a:ea typeface="Arial"/>
                <a:cs typeface="Arial"/>
              </a:defRPr>
            </a:pPr>
            <a:r>
              <a:rPr sz="1200">
                <a:solidFill>
                  <a:srgbClr val="56647A"/>
                </a:solidFill>
                <a:latin typeface="Arial"/>
                <a:ea typeface="Arial"/>
                <a:cs typeface="Arial"/>
              </a:rPr>
              <a:t>Local service direction may be unclear</a:t>
            </a:r>
          </a:p>
        </p:txBody>
      </p:sp>
      <p:sp>
        <p:nvSpPr>
          <p:cNvPr id="46" name="Rectangle: Rounded Corners 45">
            <a:extLst>
              <a:ext uri="{FF2B5EF4-FFF2-40B4-BE49-F238E27FC236}">
                <a16:creationId xmlns:a16="http://schemas.microsoft.com/office/drawing/2014/main" id="{66297210-DF81-4FDE-BA90-06E5BB2FDBFF}"/>
              </a:ext>
            </a:extLst>
          </p:cNvPr>
          <p:cNvSpPr>
            <a:spLocks noGrp="1"/>
          </p:cNvSpPr>
          <p:nvPr/>
        </p:nvSpPr>
        <p:spPr>
          <a:xfrm>
            <a:off x="742950" y="5191125"/>
            <a:ext cx="10001250" cy="685800"/>
          </a:xfrm>
          <a:prstGeom prst="roundRect">
            <a:avLst>
              <a:gd name="adj" fmla="val 11111"/>
            </a:avLst>
          </a:prstGeom>
          <a:solidFill>
            <a:srgbClr val="E9E7F5"/>
          </a:solidFill>
          <a:ln w="0">
            <a:noFill/>
          </a:ln>
        </p:spPr>
      </p:sp>
      <p:sp>
        <p:nvSpPr>
          <p:cNvPr id="47" name="Rectangle 46">
            <a:extLst>
              <a:ext uri="{FF2B5EF4-FFF2-40B4-BE49-F238E27FC236}">
                <a16:creationId xmlns:a16="http://schemas.microsoft.com/office/drawing/2014/main" id="{F0CA141A-FF61-49AC-A48A-3B5C712CA383}"/>
              </a:ext>
            </a:extLst>
          </p:cNvPr>
          <p:cNvSpPr>
            <a:spLocks noGrp="1"/>
          </p:cNvSpPr>
          <p:nvPr/>
        </p:nvSpPr>
        <p:spPr>
          <a:xfrm>
            <a:off x="1009650" y="5410200"/>
            <a:ext cx="9525000" cy="266700"/>
          </a:xfrm>
          <a:prstGeom prst="rect">
            <a:avLst/>
          </a:prstGeom>
          <a:noFill/>
          <a:ln w="0">
            <a:noFill/>
          </a:ln>
        </p:spPr>
        <p:txBody>
          <a:bodyPr>
            <a:noAutofit/>
          </a:bodyPr>
          <a:lstStyle/>
          <a:p>
            <a:pPr algn="ctr">
              <a:buNone/>
              <a:defRPr sz="1425" b="1">
                <a:solidFill>
                  <a:srgbClr val="202A44"/>
                </a:solidFill>
                <a:latin typeface="Arial"/>
                <a:ea typeface="Arial"/>
                <a:cs typeface="Arial"/>
              </a:defRPr>
            </a:pPr>
            <a:r>
              <a:rPr sz="1425" b="1">
                <a:solidFill>
                  <a:srgbClr val="202A44"/>
                </a:solidFill>
                <a:latin typeface="Arial"/>
                <a:ea typeface="Arial"/>
                <a:cs typeface="Arial"/>
              </a:rPr>
              <a:t>Design response: provide a Bengali-first guided selection journey, then present a safe next step through a controlled route.</a:t>
            </a:r>
          </a:p>
        </p:txBody>
      </p:sp>
      <p:sp>
        <p:nvSpPr>
          <p:cNvPr id="48" name="Rectangle 47">
            <a:extLst>
              <a:ext uri="{FF2B5EF4-FFF2-40B4-BE49-F238E27FC236}">
                <a16:creationId xmlns:a16="http://schemas.microsoft.com/office/drawing/2014/main" id="{05B9DDCF-75C2-42E2-880A-9F4075CE4551}"/>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56647A"/>
                </a:solidFill>
                <a:latin typeface="Arial"/>
                <a:ea typeface="Arial"/>
                <a:cs typeface="Arial"/>
              </a:defRPr>
            </a:pPr>
            <a:r>
              <a:rPr sz="900">
                <a:solidFill>
                  <a:srgbClr val="56647A"/>
                </a:solidFill>
                <a:latin typeface="Arial"/>
                <a:ea typeface="Arial"/>
                <a:cs typeface="Arial"/>
              </a:rPr>
              <a:t>2</a:t>
            </a:r>
          </a:p>
        </p:txBody>
      </p:sp>
    </p:spTree>
    <p:extLst>
      <p:ext uri="{BB962C8B-B14F-4D97-AF65-F5344CB8AC3E}">
        <p14:creationId xmlns:p14="http://schemas.microsoft.com/office/powerpoint/2010/main" val="401462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1401559E-7EF5-4B41-A220-9ABCCBCE7C8C}"/>
              </a:ext>
            </a:extLst>
          </p:cNvPr>
          <p:cNvSpPr>
            <a:spLocks noGrp="1"/>
          </p:cNvSpPr>
          <p:nvPr/>
        </p:nvSpPr>
        <p:spPr>
          <a:xfrm>
            <a:off x="704850" y="495300"/>
            <a:ext cx="419100" cy="209550"/>
          </a:xfrm>
          <a:prstGeom prst="rect">
            <a:avLst/>
          </a:prstGeom>
          <a:noFill/>
          <a:ln w="0">
            <a:noFill/>
          </a:ln>
        </p:spPr>
        <p:txBody>
          <a:bodyPr>
            <a:normAutofit fontScale="86111"/>
          </a:bodyPr>
          <a:lstStyle/>
          <a:p>
            <a:pPr>
              <a:buNone/>
              <a:defRPr sz="900" b="1">
                <a:solidFill>
                  <a:srgbClr val="00A28F"/>
                </a:solidFill>
                <a:latin typeface="Arial"/>
                <a:ea typeface="Arial"/>
                <a:cs typeface="Arial"/>
              </a:defRPr>
            </a:pPr>
            <a:r>
              <a:rPr sz="900" b="1">
                <a:solidFill>
                  <a:srgbClr val="00A28F"/>
                </a:solidFill>
                <a:latin typeface="Arial"/>
                <a:ea typeface="Arial"/>
                <a:cs typeface="Arial"/>
              </a:rPr>
              <a:t>03</a:t>
            </a:r>
          </a:p>
        </p:txBody>
      </p:sp>
      <p:sp>
        <p:nvSpPr>
          <p:cNvPr id="2" name="Rectangle 1">
            <a:extLst>
              <a:ext uri="{FF2B5EF4-FFF2-40B4-BE49-F238E27FC236}">
                <a16:creationId xmlns:a16="http://schemas.microsoft.com/office/drawing/2014/main" id="{9898F1F1-0D7B-4567-9E10-EF6EE4DE62DD}"/>
              </a:ext>
            </a:extLst>
          </p:cNvPr>
          <p:cNvSpPr>
            <a:spLocks noGrp="1"/>
          </p:cNvSpPr>
          <p:nvPr/>
        </p:nvSpPr>
        <p:spPr>
          <a:xfrm>
            <a:off x="704850" y="790575"/>
            <a:ext cx="9525000" cy="447675"/>
          </a:xfrm>
          <a:prstGeom prst="rect">
            <a:avLst/>
          </a:prstGeom>
          <a:noFill/>
          <a:ln w="0">
            <a:noFill/>
          </a:ln>
        </p:spPr>
        <p:txBody>
          <a:bodyPr>
            <a:normAutofit fontScale="91667"/>
          </a:bodyPr>
          <a:lstStyle/>
          <a:p>
            <a:pPr>
              <a:buNone/>
              <a:defRPr sz="2550" b="1">
                <a:solidFill>
                  <a:srgbClr val="092F3E"/>
                </a:solidFill>
                <a:latin typeface="Arial"/>
                <a:ea typeface="Arial"/>
                <a:cs typeface="Arial"/>
              </a:defRPr>
            </a:pPr>
            <a:r>
              <a:rPr sz="2550" b="1">
                <a:solidFill>
                  <a:srgbClr val="092F3E"/>
                </a:solidFill>
                <a:latin typeface="Arial"/>
                <a:ea typeface="Arial"/>
                <a:cs typeface="Arial"/>
              </a:rPr>
              <a:t>Safety architecture</a:t>
            </a:r>
          </a:p>
        </p:txBody>
      </p:sp>
      <p:sp>
        <p:nvSpPr>
          <p:cNvPr id="3" name="Rectangle 2">
            <a:extLst>
              <a:ext uri="{FF2B5EF4-FFF2-40B4-BE49-F238E27FC236}">
                <a16:creationId xmlns:a16="http://schemas.microsoft.com/office/drawing/2014/main" id="{256AF916-E29F-4303-8AB9-26C209B5E7CC}"/>
              </a:ext>
            </a:extLst>
          </p:cNvPr>
          <p:cNvSpPr>
            <a:spLocks noGrp="1"/>
          </p:cNvSpPr>
          <p:nvPr/>
        </p:nvSpPr>
        <p:spPr>
          <a:xfrm>
            <a:off x="723900" y="1323975"/>
            <a:ext cx="9144000" cy="266700"/>
          </a:xfrm>
          <a:prstGeom prst="rect">
            <a:avLst/>
          </a:prstGeom>
          <a:noFill/>
          <a:ln w="0">
            <a:noFill/>
          </a:ln>
        </p:spPr>
        <p:txBody>
          <a:bodyPr>
            <a:normAutofit fontScale="95833"/>
          </a:bodyPr>
          <a:lstStyle/>
          <a:p>
            <a:pPr>
              <a:buNone/>
              <a:defRPr sz="1200" b="0">
                <a:solidFill>
                  <a:srgbClr val="5B7180"/>
                </a:solidFill>
                <a:latin typeface="Arial"/>
                <a:ea typeface="Arial"/>
                <a:cs typeface="Arial"/>
              </a:defRPr>
            </a:pPr>
            <a:r>
              <a:rPr sz="1200" b="0">
                <a:solidFill>
                  <a:srgbClr val="5B7180"/>
                </a:solidFill>
                <a:latin typeface="Arial"/>
                <a:ea typeface="Arial"/>
                <a:cs typeface="Arial"/>
              </a:rPr>
              <a:t>The route decision stays deterministic from input to final guidance</a:t>
            </a:r>
          </a:p>
        </p:txBody>
      </p:sp>
      <p:sp>
        <p:nvSpPr>
          <p:cNvPr id="4" name="Rectangle 3">
            <a:extLst>
              <a:ext uri="{FF2B5EF4-FFF2-40B4-BE49-F238E27FC236}">
                <a16:creationId xmlns:a16="http://schemas.microsoft.com/office/drawing/2014/main" id="{D421054B-82CD-44F2-9E83-ECA7B44B5716}"/>
              </a:ext>
            </a:extLst>
          </p:cNvPr>
          <p:cNvSpPr>
            <a:spLocks noGrp="1"/>
          </p:cNvSpPr>
          <p:nvPr/>
        </p:nvSpPr>
        <p:spPr>
          <a:xfrm>
            <a:off x="704850" y="1762125"/>
            <a:ext cx="1066800" cy="47625"/>
          </a:xfrm>
          <a:prstGeom prst="rect">
            <a:avLst/>
          </a:prstGeom>
          <a:solidFill>
            <a:srgbClr val="00A28F"/>
          </a:solidFill>
          <a:ln w="9525">
            <a:solidFill>
              <a:srgbClr val="00A28F"/>
            </a:solidFill>
          </a:ln>
        </p:spPr>
      </p:sp>
      <p:sp>
        <p:nvSpPr>
          <p:cNvPr id="5" name="Rectangle 4">
            <a:extLst>
              <a:ext uri="{FF2B5EF4-FFF2-40B4-BE49-F238E27FC236}">
                <a16:creationId xmlns:a16="http://schemas.microsoft.com/office/drawing/2014/main" id="{77F9DAEF-9A45-4DBC-A744-962FE4430373}"/>
              </a:ext>
            </a:extLst>
          </p:cNvPr>
          <p:cNvSpPr>
            <a:spLocks noGrp="1"/>
          </p:cNvSpPr>
          <p:nvPr/>
        </p:nvSpPr>
        <p:spPr>
          <a:xfrm>
            <a:off x="704850" y="6457950"/>
            <a:ext cx="10782300" cy="9525"/>
          </a:xfrm>
          <a:prstGeom prst="rect">
            <a:avLst/>
          </a:prstGeom>
          <a:solidFill>
            <a:srgbClr val="C9DFDE"/>
          </a:solidFill>
          <a:ln w="9525">
            <a:solidFill>
              <a:srgbClr val="C9DFDE"/>
            </a:solidFill>
          </a:ln>
        </p:spPr>
      </p:sp>
      <p:sp>
        <p:nvSpPr>
          <p:cNvPr id="6" name="Rectangle 5">
            <a:extLst>
              <a:ext uri="{FF2B5EF4-FFF2-40B4-BE49-F238E27FC236}">
                <a16:creationId xmlns:a16="http://schemas.microsoft.com/office/drawing/2014/main" id="{AB0FB01E-707B-4442-B5B6-E8E15C769C8B}"/>
              </a:ext>
            </a:extLst>
          </p:cNvPr>
          <p:cNvSpPr>
            <a:spLocks noGrp="1"/>
          </p:cNvSpPr>
          <p:nvPr/>
        </p:nvSpPr>
        <p:spPr>
          <a:xfrm>
            <a:off x="704850" y="6581775"/>
            <a:ext cx="2952750" cy="142875"/>
          </a:xfrm>
          <a:prstGeom prst="rect">
            <a:avLst/>
          </a:prstGeom>
          <a:noFill/>
          <a:ln w="0">
            <a:noFill/>
          </a:ln>
        </p:spPr>
        <p:txBody>
          <a:bodyPr>
            <a:normAutofit fontScale="50000"/>
          </a:bodyPr>
          <a:lstStyle/>
          <a:p>
            <a:pPr>
              <a:buNone/>
              <a:defRPr sz="675" b="0">
                <a:solidFill>
                  <a:srgbClr val="5B7180"/>
                </a:solidFill>
                <a:latin typeface="Arial"/>
                <a:ea typeface="Arial"/>
                <a:cs typeface="Arial"/>
              </a:defRPr>
            </a:pPr>
            <a:r>
              <a:rPr sz="675" b="0">
                <a:solidFill>
                  <a:srgbClr val="5B7180"/>
                </a:solidFill>
                <a:latin typeface="Arial"/>
                <a:ea typeface="Arial"/>
                <a:cs typeface="Arial"/>
              </a:rPr>
              <a:t>NETRAJYOTI AI  /  CAPSTONE MVP</a:t>
            </a:r>
          </a:p>
        </p:txBody>
      </p:sp>
      <p:sp>
        <p:nvSpPr>
          <p:cNvPr id="7" name="Rectangle 6">
            <a:extLst>
              <a:ext uri="{FF2B5EF4-FFF2-40B4-BE49-F238E27FC236}">
                <a16:creationId xmlns:a16="http://schemas.microsoft.com/office/drawing/2014/main" id="{F2FFB83D-203A-41FE-8C40-52F4A6E3F55E}"/>
              </a:ext>
            </a:extLst>
          </p:cNvPr>
          <p:cNvSpPr>
            <a:spLocks noGrp="1"/>
          </p:cNvSpPr>
          <p:nvPr/>
        </p:nvSpPr>
        <p:spPr>
          <a:xfrm>
            <a:off x="10991850" y="6581775"/>
            <a:ext cx="495300" cy="142875"/>
          </a:xfrm>
          <a:prstGeom prst="rect">
            <a:avLst/>
          </a:prstGeom>
          <a:noFill/>
          <a:ln w="0">
            <a:noFill/>
          </a:ln>
        </p:spPr>
        <p:txBody>
          <a:bodyPr>
            <a:normAutofit fontScale="50000"/>
          </a:bodyPr>
          <a:lstStyle/>
          <a:p>
            <a:pPr>
              <a:buNone/>
              <a:defRPr sz="675" b="0">
                <a:solidFill>
                  <a:srgbClr val="5B7180"/>
                </a:solidFill>
                <a:latin typeface="Arial"/>
                <a:ea typeface="Arial"/>
                <a:cs typeface="Arial"/>
              </a:defRPr>
            </a:pPr>
            <a:r>
              <a:rPr sz="675" b="0">
                <a:solidFill>
                  <a:srgbClr val="5B7180"/>
                </a:solidFill>
                <a:latin typeface="Arial"/>
                <a:ea typeface="Arial"/>
                <a:cs typeface="Arial"/>
              </a:rPr>
              <a:t>03</a:t>
            </a:r>
          </a:p>
        </p:txBody>
      </p:sp>
      <p:sp>
        <p:nvSpPr>
          <p:cNvPr id="8" name="Rectangle 7">
            <a:extLst>
              <a:ext uri="{FF2B5EF4-FFF2-40B4-BE49-F238E27FC236}">
                <a16:creationId xmlns:a16="http://schemas.microsoft.com/office/drawing/2014/main" id="{1DC0CC85-FCD4-4CC8-BB0D-E1B0D242235D}"/>
              </a:ext>
            </a:extLst>
          </p:cNvPr>
          <p:cNvSpPr>
            <a:spLocks noGrp="1"/>
          </p:cNvSpPr>
          <p:nvPr/>
        </p:nvSpPr>
        <p:spPr>
          <a:xfrm>
            <a:off x="762000" y="2238375"/>
            <a:ext cx="2095500" cy="171450"/>
          </a:xfrm>
          <a:prstGeom prst="rect">
            <a:avLst/>
          </a:prstGeom>
          <a:noFill/>
          <a:ln w="0">
            <a:noFill/>
          </a:ln>
        </p:spPr>
        <p:txBody>
          <a:bodyPr>
            <a:normAutofit fontScale="63636"/>
          </a:bodyPr>
          <a:lstStyle/>
          <a:p>
            <a:pPr>
              <a:buNone/>
              <a:defRPr sz="825" b="1">
                <a:solidFill>
                  <a:srgbClr val="00A28F"/>
                </a:solidFill>
                <a:latin typeface="Arial"/>
                <a:ea typeface="Arial"/>
                <a:cs typeface="Arial"/>
              </a:defRPr>
            </a:pPr>
            <a:r>
              <a:rPr sz="825" b="1">
                <a:solidFill>
                  <a:srgbClr val="00A28F"/>
                </a:solidFill>
                <a:latin typeface="Arial"/>
                <a:ea typeface="Arial"/>
                <a:cs typeface="Arial"/>
              </a:rPr>
              <a:t>ROUTE SELECTION</a:t>
            </a:r>
          </a:p>
        </p:txBody>
      </p:sp>
      <p:sp>
        <p:nvSpPr>
          <p:cNvPr id="9" name="Rectangle 8">
            <a:extLst>
              <a:ext uri="{FF2B5EF4-FFF2-40B4-BE49-F238E27FC236}">
                <a16:creationId xmlns:a16="http://schemas.microsoft.com/office/drawing/2014/main" id="{643EF8F2-A911-431A-8F87-C6A4D5362805}"/>
              </a:ext>
            </a:extLst>
          </p:cNvPr>
          <p:cNvSpPr>
            <a:spLocks noGrp="1"/>
          </p:cNvSpPr>
          <p:nvPr/>
        </p:nvSpPr>
        <p:spPr>
          <a:xfrm>
            <a:off x="7172325" y="2238375"/>
            <a:ext cx="2476500" cy="171450"/>
          </a:xfrm>
          <a:prstGeom prst="rect">
            <a:avLst/>
          </a:prstGeom>
          <a:noFill/>
          <a:ln w="0">
            <a:noFill/>
          </a:ln>
        </p:spPr>
        <p:txBody>
          <a:bodyPr>
            <a:normAutofit fontScale="63636"/>
          </a:bodyPr>
          <a:lstStyle/>
          <a:p>
            <a:pPr>
              <a:buNone/>
              <a:defRPr sz="825" b="1">
                <a:solidFill>
                  <a:srgbClr val="00A28F"/>
                </a:solidFill>
                <a:latin typeface="Arial"/>
                <a:ea typeface="Arial"/>
                <a:cs typeface="Arial"/>
              </a:defRPr>
            </a:pPr>
            <a:r>
              <a:rPr sz="825" b="1">
                <a:solidFill>
                  <a:srgbClr val="00A28F"/>
                </a:solidFill>
                <a:latin typeface="Arial"/>
                <a:ea typeface="Arial"/>
                <a:cs typeface="Arial"/>
              </a:rPr>
              <a:t>POST-ROUTE EXPLANATION</a:t>
            </a:r>
          </a:p>
        </p:txBody>
      </p:sp>
      <p:sp>
        <p:nvSpPr>
          <p:cNvPr id="10" name="Rectangle: Rounded Corners 9">
            <a:extLst>
              <a:ext uri="{FF2B5EF4-FFF2-40B4-BE49-F238E27FC236}">
                <a16:creationId xmlns:a16="http://schemas.microsoft.com/office/drawing/2014/main" id="{A2E75E06-0BBE-47C0-ABCA-17C804C1FC9F}"/>
              </a:ext>
            </a:extLst>
          </p:cNvPr>
          <p:cNvSpPr>
            <a:spLocks noGrp="1"/>
          </p:cNvSpPr>
          <p:nvPr/>
        </p:nvSpPr>
        <p:spPr>
          <a:xfrm>
            <a:off x="742950" y="2638425"/>
            <a:ext cx="2095500" cy="1162050"/>
          </a:xfrm>
          <a:prstGeom prst="roundRect">
            <a:avLst>
              <a:gd name="adj" fmla="val 6557"/>
            </a:avLst>
          </a:prstGeom>
          <a:solidFill>
            <a:srgbClr val="EAF4F7"/>
          </a:solidFill>
          <a:ln w="9525">
            <a:solidFill>
              <a:srgbClr val="EAF4F7"/>
            </a:solidFill>
          </a:ln>
        </p:spPr>
      </p:sp>
      <p:sp>
        <p:nvSpPr>
          <p:cNvPr id="11" name="Rectangle 10">
            <a:extLst>
              <a:ext uri="{FF2B5EF4-FFF2-40B4-BE49-F238E27FC236}">
                <a16:creationId xmlns:a16="http://schemas.microsoft.com/office/drawing/2014/main" id="{6C2B4660-A526-49F4-96A0-C5FC1B393162}"/>
              </a:ext>
            </a:extLst>
          </p:cNvPr>
          <p:cNvSpPr>
            <a:spLocks noGrp="1"/>
          </p:cNvSpPr>
          <p:nvPr/>
        </p:nvSpPr>
        <p:spPr>
          <a:xfrm>
            <a:off x="990600" y="2876550"/>
            <a:ext cx="1619250" cy="266700"/>
          </a:xfrm>
          <a:prstGeom prst="rect">
            <a:avLst/>
          </a:prstGeom>
          <a:noFill/>
          <a:ln w="0">
            <a:noFill/>
          </a:ln>
        </p:spPr>
        <p:txBody>
          <a:bodyPr>
            <a:normAutofit fontScale="76667"/>
          </a:bodyPr>
          <a:lstStyle/>
          <a:p>
            <a:pPr>
              <a:buNone/>
              <a:defRPr sz="1500" b="1">
                <a:solidFill>
                  <a:srgbClr val="0B3A4A"/>
                </a:solidFill>
                <a:latin typeface="Arial"/>
                <a:ea typeface="Arial"/>
                <a:cs typeface="Arial"/>
              </a:defRPr>
            </a:pPr>
            <a:r>
              <a:rPr sz="1500" b="1">
                <a:solidFill>
                  <a:srgbClr val="0B3A4A"/>
                </a:solidFill>
                <a:latin typeface="Arial"/>
                <a:ea typeface="Arial"/>
                <a:cs typeface="Arial"/>
              </a:rPr>
              <a:t>React PWA</a:t>
            </a:r>
          </a:p>
        </p:txBody>
      </p:sp>
      <p:sp>
        <p:nvSpPr>
          <p:cNvPr id="12" name="Rectangle 11">
            <a:extLst>
              <a:ext uri="{FF2B5EF4-FFF2-40B4-BE49-F238E27FC236}">
                <a16:creationId xmlns:a16="http://schemas.microsoft.com/office/drawing/2014/main" id="{0C4EDB5E-EAAF-4B72-8197-CE68EE77D487}"/>
              </a:ext>
            </a:extLst>
          </p:cNvPr>
          <p:cNvSpPr>
            <a:spLocks noGrp="1"/>
          </p:cNvSpPr>
          <p:nvPr/>
        </p:nvSpPr>
        <p:spPr>
          <a:xfrm>
            <a:off x="990600" y="3267075"/>
            <a:ext cx="1619250" cy="400050"/>
          </a:xfrm>
          <a:prstGeom prst="rect">
            <a:avLst/>
          </a:prstGeom>
          <a:noFill/>
          <a:ln w="0">
            <a:noFill/>
          </a:ln>
        </p:spPr>
        <p:txBody>
          <a:bodyPr>
            <a:normAutofit fontScale="90000"/>
          </a:bodyPr>
          <a:lstStyle/>
          <a:p>
            <a:pPr>
              <a:buNone/>
              <a:defRPr sz="1125" b="0">
                <a:solidFill>
                  <a:srgbClr val="5B7180"/>
                </a:solidFill>
                <a:latin typeface="Arial"/>
                <a:ea typeface="Arial"/>
                <a:cs typeface="Arial"/>
              </a:defRPr>
            </a:pPr>
            <a:r>
              <a:rPr sz="1125" b="0">
                <a:solidFill>
                  <a:srgbClr val="5B7180"/>
                </a:solidFill>
                <a:latin typeface="Arial"/>
                <a:ea typeface="Arial"/>
                <a:cs typeface="Arial"/>
              </a:rPr>
              <a:t>Fixed symptom codes</a:t>
            </a:r>
          </a:p>
          <a:p>
            <a:pPr>
              <a:buNone/>
              <a:defRPr sz="1125" b="0">
                <a:solidFill>
                  <a:srgbClr val="5B7180"/>
                </a:solidFill>
                <a:latin typeface="Arial"/>
                <a:ea typeface="Arial"/>
                <a:cs typeface="Arial"/>
              </a:defRPr>
            </a:pPr>
            <a:r>
              <a:rPr sz="1125" b="0">
                <a:solidFill>
                  <a:srgbClr val="5B7180"/>
                </a:solidFill>
                <a:latin typeface="Arial"/>
                <a:ea typeface="Arial"/>
                <a:cs typeface="Arial"/>
              </a:rPr>
              <a:t>Optional details</a:t>
            </a:r>
          </a:p>
        </p:txBody>
      </p:sp>
      <p:sp>
        <p:nvSpPr>
          <p:cNvPr id="13" name="Rectangle 12">
            <a:extLst>
              <a:ext uri="{FF2B5EF4-FFF2-40B4-BE49-F238E27FC236}">
                <a16:creationId xmlns:a16="http://schemas.microsoft.com/office/drawing/2014/main" id="{9432310E-8114-49BA-A27C-1F20B48B94B7}"/>
              </a:ext>
            </a:extLst>
          </p:cNvPr>
          <p:cNvSpPr>
            <a:spLocks noGrp="1"/>
          </p:cNvSpPr>
          <p:nvPr/>
        </p:nvSpPr>
        <p:spPr>
          <a:xfrm>
            <a:off x="2943225" y="3028950"/>
            <a:ext cx="381000" cy="361950"/>
          </a:xfrm>
          <a:prstGeom prst="rect">
            <a:avLst/>
          </a:prstGeom>
          <a:noFill/>
          <a:ln w="0">
            <a:noFill/>
          </a:ln>
        </p:spPr>
        <p:txBody>
          <a:bodyPr>
            <a:normAutofit fontScale="64830"/>
          </a:bodyPr>
          <a:lstStyle/>
          <a:p>
            <a:pPr>
              <a:buNone/>
              <a:defRPr sz="2400" b="0">
                <a:solidFill>
                  <a:srgbClr val="00A28F"/>
                </a:solidFill>
                <a:latin typeface="Arial"/>
                <a:ea typeface="Arial"/>
                <a:cs typeface="Arial"/>
              </a:defRPr>
            </a:pPr>
            <a:r>
              <a:rPr sz="2400" b="0">
                <a:solidFill>
                  <a:srgbClr val="00A28F"/>
                </a:solidFill>
                <a:latin typeface="Arial"/>
                <a:ea typeface="Arial"/>
                <a:cs typeface="Arial"/>
              </a:rPr>
              <a:t>→</a:t>
            </a:r>
          </a:p>
        </p:txBody>
      </p:sp>
      <p:sp>
        <p:nvSpPr>
          <p:cNvPr id="14" name="Rectangle: Rounded Corners 13">
            <a:extLst>
              <a:ext uri="{FF2B5EF4-FFF2-40B4-BE49-F238E27FC236}">
                <a16:creationId xmlns:a16="http://schemas.microsoft.com/office/drawing/2014/main" id="{81CC2EF4-38DA-4375-8B2E-875E8D667EF1}"/>
              </a:ext>
            </a:extLst>
          </p:cNvPr>
          <p:cNvSpPr>
            <a:spLocks noGrp="1"/>
          </p:cNvSpPr>
          <p:nvPr/>
        </p:nvSpPr>
        <p:spPr>
          <a:xfrm>
            <a:off x="3381375" y="2638425"/>
            <a:ext cx="2095500" cy="1162050"/>
          </a:xfrm>
          <a:prstGeom prst="roundRect">
            <a:avLst>
              <a:gd name="adj" fmla="val 6557"/>
            </a:avLst>
          </a:prstGeom>
          <a:solidFill>
            <a:srgbClr val="DDF3EE"/>
          </a:solidFill>
          <a:ln w="9525">
            <a:solidFill>
              <a:srgbClr val="DDF3EE"/>
            </a:solidFill>
          </a:ln>
        </p:spPr>
      </p:sp>
      <p:sp>
        <p:nvSpPr>
          <p:cNvPr id="15" name="Rectangle 14">
            <a:extLst>
              <a:ext uri="{FF2B5EF4-FFF2-40B4-BE49-F238E27FC236}">
                <a16:creationId xmlns:a16="http://schemas.microsoft.com/office/drawing/2014/main" id="{88F0F015-C24F-4D38-8D07-321D505D4D74}"/>
              </a:ext>
            </a:extLst>
          </p:cNvPr>
          <p:cNvSpPr>
            <a:spLocks noGrp="1"/>
          </p:cNvSpPr>
          <p:nvPr/>
        </p:nvSpPr>
        <p:spPr>
          <a:xfrm>
            <a:off x="3648075" y="2876550"/>
            <a:ext cx="1581150" cy="266700"/>
          </a:xfrm>
          <a:prstGeom prst="rect">
            <a:avLst/>
          </a:prstGeom>
          <a:noFill/>
          <a:ln w="0">
            <a:noFill/>
          </a:ln>
        </p:spPr>
        <p:txBody>
          <a:bodyPr>
            <a:normAutofit fontScale="76667"/>
          </a:bodyPr>
          <a:lstStyle/>
          <a:p>
            <a:pPr>
              <a:buNone/>
              <a:defRPr sz="1500" b="1">
                <a:solidFill>
                  <a:srgbClr val="00A28F"/>
                </a:solidFill>
                <a:latin typeface="Arial"/>
                <a:ea typeface="Arial"/>
                <a:cs typeface="Arial"/>
              </a:defRPr>
            </a:pPr>
            <a:r>
              <a:rPr sz="1500" b="1">
                <a:solidFill>
                  <a:srgbClr val="00A28F"/>
                </a:solidFill>
                <a:latin typeface="Arial"/>
                <a:ea typeface="Arial"/>
                <a:cs typeface="Arial"/>
              </a:rPr>
              <a:t>PostgreSQL</a:t>
            </a:r>
          </a:p>
        </p:txBody>
      </p:sp>
      <p:sp>
        <p:nvSpPr>
          <p:cNvPr id="16" name="Rectangle 15">
            <a:extLst>
              <a:ext uri="{FF2B5EF4-FFF2-40B4-BE49-F238E27FC236}">
                <a16:creationId xmlns:a16="http://schemas.microsoft.com/office/drawing/2014/main" id="{87A0D70F-C064-4BF8-B645-AC8397D85AD8}"/>
              </a:ext>
            </a:extLst>
          </p:cNvPr>
          <p:cNvSpPr>
            <a:spLocks noGrp="1"/>
          </p:cNvSpPr>
          <p:nvPr/>
        </p:nvSpPr>
        <p:spPr>
          <a:xfrm>
            <a:off x="3648075" y="3267075"/>
            <a:ext cx="1581150" cy="400050"/>
          </a:xfrm>
          <a:prstGeom prst="rect">
            <a:avLst/>
          </a:prstGeom>
          <a:noFill/>
          <a:ln w="0">
            <a:noFill/>
          </a:ln>
        </p:spPr>
        <p:txBody>
          <a:bodyPr>
            <a:normAutofit fontScale="90000"/>
          </a:bodyPr>
          <a:lstStyle/>
          <a:p>
            <a:pPr>
              <a:buNone/>
              <a:defRPr sz="1125" b="0">
                <a:solidFill>
                  <a:srgbClr val="5B7180"/>
                </a:solidFill>
                <a:latin typeface="Arial"/>
                <a:ea typeface="Arial"/>
                <a:cs typeface="Arial"/>
              </a:defRPr>
            </a:pPr>
            <a:r>
              <a:rPr sz="1125" b="0">
                <a:solidFill>
                  <a:srgbClr val="5B7180"/>
                </a:solidFill>
                <a:latin typeface="Arial"/>
                <a:ea typeface="Arial"/>
                <a:cs typeface="Arial"/>
              </a:rPr>
              <a:t>Matching criteria</a:t>
            </a:r>
          </a:p>
          <a:p>
            <a:pPr>
              <a:buNone/>
              <a:defRPr sz="1125" b="0">
                <a:solidFill>
                  <a:srgbClr val="5B7180"/>
                </a:solidFill>
                <a:latin typeface="Arial"/>
                <a:ea typeface="Arial"/>
                <a:cs typeface="Arial"/>
              </a:defRPr>
            </a:pPr>
            <a:r>
              <a:rPr sz="1125" b="0">
                <a:solidFill>
                  <a:srgbClr val="5B7180"/>
                </a:solidFill>
                <a:latin typeface="Arial"/>
                <a:ea typeface="Arial"/>
                <a:cs typeface="Arial"/>
              </a:rPr>
              <a:t>by input code</a:t>
            </a:r>
          </a:p>
        </p:txBody>
      </p:sp>
      <p:sp>
        <p:nvSpPr>
          <p:cNvPr id="17" name="Rectangle 16">
            <a:extLst>
              <a:ext uri="{FF2B5EF4-FFF2-40B4-BE49-F238E27FC236}">
                <a16:creationId xmlns:a16="http://schemas.microsoft.com/office/drawing/2014/main" id="{CBE82ECF-8593-4CC8-B97B-AC3475EA52A7}"/>
              </a:ext>
            </a:extLst>
          </p:cNvPr>
          <p:cNvSpPr>
            <a:spLocks noGrp="1"/>
          </p:cNvSpPr>
          <p:nvPr/>
        </p:nvSpPr>
        <p:spPr>
          <a:xfrm>
            <a:off x="5600700" y="3028950"/>
            <a:ext cx="381000" cy="361950"/>
          </a:xfrm>
          <a:prstGeom prst="rect">
            <a:avLst/>
          </a:prstGeom>
          <a:noFill/>
          <a:ln w="0">
            <a:noFill/>
          </a:ln>
        </p:spPr>
        <p:txBody>
          <a:bodyPr>
            <a:normAutofit fontScale="64830"/>
          </a:bodyPr>
          <a:lstStyle/>
          <a:p>
            <a:pPr>
              <a:buNone/>
              <a:defRPr sz="2400" b="0">
                <a:solidFill>
                  <a:srgbClr val="00A28F"/>
                </a:solidFill>
                <a:latin typeface="Arial"/>
                <a:ea typeface="Arial"/>
                <a:cs typeface="Arial"/>
              </a:defRPr>
            </a:pPr>
            <a:r>
              <a:rPr sz="2400" b="0">
                <a:solidFill>
                  <a:srgbClr val="00A28F"/>
                </a:solidFill>
                <a:latin typeface="Arial"/>
                <a:ea typeface="Arial"/>
                <a:cs typeface="Arial"/>
              </a:rPr>
              <a:t>→</a:t>
            </a:r>
          </a:p>
        </p:txBody>
      </p:sp>
      <p:sp>
        <p:nvSpPr>
          <p:cNvPr id="18" name="Rectangle: Rounded Corners 17">
            <a:extLst>
              <a:ext uri="{FF2B5EF4-FFF2-40B4-BE49-F238E27FC236}">
                <a16:creationId xmlns:a16="http://schemas.microsoft.com/office/drawing/2014/main" id="{34F16CE7-5140-4B47-97BB-E52F12DF4C24}"/>
              </a:ext>
            </a:extLst>
          </p:cNvPr>
          <p:cNvSpPr>
            <a:spLocks noGrp="1"/>
          </p:cNvSpPr>
          <p:nvPr/>
        </p:nvSpPr>
        <p:spPr>
          <a:xfrm>
            <a:off x="6048375" y="2457450"/>
            <a:ext cx="2228850" cy="1524000"/>
          </a:xfrm>
          <a:prstGeom prst="roundRect">
            <a:avLst>
              <a:gd name="adj" fmla="val 5000"/>
            </a:avLst>
          </a:prstGeom>
          <a:solidFill>
            <a:srgbClr val="FFF2D8"/>
          </a:solidFill>
          <a:ln w="9525">
            <a:solidFill>
              <a:srgbClr val="FFF2D8"/>
            </a:solidFill>
          </a:ln>
        </p:spPr>
      </p:sp>
      <p:sp>
        <p:nvSpPr>
          <p:cNvPr id="19" name="Rectangle 18">
            <a:extLst>
              <a:ext uri="{FF2B5EF4-FFF2-40B4-BE49-F238E27FC236}">
                <a16:creationId xmlns:a16="http://schemas.microsoft.com/office/drawing/2014/main" id="{ACDC138B-7F1F-4AF6-B43B-4611B3A44663}"/>
              </a:ext>
            </a:extLst>
          </p:cNvPr>
          <p:cNvSpPr>
            <a:spLocks noGrp="1"/>
          </p:cNvSpPr>
          <p:nvPr/>
        </p:nvSpPr>
        <p:spPr>
          <a:xfrm>
            <a:off x="6324600" y="2724150"/>
            <a:ext cx="1714500" cy="209550"/>
          </a:xfrm>
          <a:prstGeom prst="rect">
            <a:avLst/>
          </a:prstGeom>
          <a:noFill/>
          <a:ln w="0">
            <a:noFill/>
          </a:ln>
        </p:spPr>
        <p:txBody>
          <a:bodyPr>
            <a:normAutofit fontScale="79487"/>
          </a:bodyPr>
          <a:lstStyle/>
          <a:p>
            <a:pPr>
              <a:buNone/>
              <a:defRPr sz="975" b="1">
                <a:solidFill>
                  <a:srgbClr val="00A28F"/>
                </a:solidFill>
                <a:latin typeface="Arial"/>
                <a:ea typeface="Arial"/>
                <a:cs typeface="Arial"/>
              </a:defRPr>
            </a:pPr>
            <a:r>
              <a:rPr sz="975" b="1">
                <a:solidFill>
                  <a:srgbClr val="00A28F"/>
                </a:solidFill>
                <a:latin typeface="Arial"/>
                <a:ea typeface="Arial"/>
                <a:cs typeface="Arial"/>
              </a:rPr>
              <a:t>JAVA ROUTE LOCK</a:t>
            </a:r>
          </a:p>
        </p:txBody>
      </p:sp>
      <p:sp>
        <p:nvSpPr>
          <p:cNvPr id="20" name="Rectangle 19">
            <a:extLst>
              <a:ext uri="{FF2B5EF4-FFF2-40B4-BE49-F238E27FC236}">
                <a16:creationId xmlns:a16="http://schemas.microsoft.com/office/drawing/2014/main" id="{36A45CC1-4CB2-4F2B-B422-D588709B9BC3}"/>
              </a:ext>
            </a:extLst>
          </p:cNvPr>
          <p:cNvSpPr>
            <a:spLocks noGrp="1"/>
          </p:cNvSpPr>
          <p:nvPr/>
        </p:nvSpPr>
        <p:spPr>
          <a:xfrm>
            <a:off x="6324600" y="3095625"/>
            <a:ext cx="1676400" cy="666750"/>
          </a:xfrm>
          <a:prstGeom prst="rect">
            <a:avLst/>
          </a:prstGeom>
          <a:noFill/>
          <a:ln w="0">
            <a:noFill/>
          </a:ln>
        </p:spPr>
        <p:txBody>
          <a:bodyPr>
            <a:normAutofit fontScale="83889"/>
          </a:bodyPr>
          <a:lstStyle/>
          <a:p>
            <a:pPr>
              <a:buNone/>
              <a:defRPr sz="1500" b="1">
                <a:solidFill>
                  <a:srgbClr val="092F3E"/>
                </a:solidFill>
                <a:latin typeface="Arial"/>
                <a:ea typeface="Arial"/>
                <a:cs typeface="Arial"/>
              </a:defRPr>
            </a:pPr>
            <a:r>
              <a:rPr sz="1500" b="1">
                <a:solidFill>
                  <a:srgbClr val="092F3E"/>
                </a:solidFill>
                <a:latin typeface="Arial"/>
                <a:ea typeface="Arial"/>
                <a:cs typeface="Arial"/>
              </a:rPr>
              <a:t>URGENT</a:t>
            </a:r>
          </a:p>
          <a:p>
            <a:pPr>
              <a:buNone/>
              <a:defRPr sz="1500" b="1">
                <a:solidFill>
                  <a:srgbClr val="092F3E"/>
                </a:solidFill>
                <a:latin typeface="Arial"/>
                <a:ea typeface="Arial"/>
                <a:cs typeface="Arial"/>
              </a:defRPr>
            </a:pPr>
            <a:r>
              <a:rPr sz="1500" b="1">
                <a:solidFill>
                  <a:srgbClr val="092F3E"/>
                </a:solidFill>
                <a:latin typeface="Arial"/>
                <a:ea typeface="Arial"/>
                <a:cs typeface="Arial"/>
              </a:rPr>
              <a:t>HUMAN SUPPORT</a:t>
            </a:r>
          </a:p>
          <a:p>
            <a:pPr>
              <a:buNone/>
              <a:defRPr sz="1500" b="1">
                <a:solidFill>
                  <a:srgbClr val="092F3E"/>
                </a:solidFill>
                <a:latin typeface="Arial"/>
                <a:ea typeface="Arial"/>
                <a:cs typeface="Arial"/>
              </a:defRPr>
            </a:pPr>
            <a:r>
              <a:rPr sz="1500" b="1">
                <a:solidFill>
                  <a:srgbClr val="092F3E"/>
                </a:solidFill>
                <a:latin typeface="Arial"/>
                <a:ea typeface="Arial"/>
                <a:cs typeface="Arial"/>
              </a:rPr>
              <a:t>ROUTINE</a:t>
            </a:r>
          </a:p>
        </p:txBody>
      </p:sp>
      <p:sp>
        <p:nvSpPr>
          <p:cNvPr id="21" name="Rectangle 20">
            <a:extLst>
              <a:ext uri="{FF2B5EF4-FFF2-40B4-BE49-F238E27FC236}">
                <a16:creationId xmlns:a16="http://schemas.microsoft.com/office/drawing/2014/main" id="{39AB00C8-2B55-4733-8A13-05819B2F4EA0}"/>
              </a:ext>
            </a:extLst>
          </p:cNvPr>
          <p:cNvSpPr>
            <a:spLocks noGrp="1"/>
          </p:cNvSpPr>
          <p:nvPr/>
        </p:nvSpPr>
        <p:spPr>
          <a:xfrm>
            <a:off x="8401050" y="3028950"/>
            <a:ext cx="381000" cy="361950"/>
          </a:xfrm>
          <a:prstGeom prst="rect">
            <a:avLst/>
          </a:prstGeom>
          <a:noFill/>
          <a:ln w="0">
            <a:noFill/>
          </a:ln>
        </p:spPr>
        <p:txBody>
          <a:bodyPr>
            <a:normAutofit fontScale="64830"/>
          </a:bodyPr>
          <a:lstStyle/>
          <a:p>
            <a:pPr>
              <a:buNone/>
              <a:defRPr sz="2400" b="0">
                <a:solidFill>
                  <a:srgbClr val="00A28F"/>
                </a:solidFill>
                <a:latin typeface="Arial"/>
                <a:ea typeface="Arial"/>
                <a:cs typeface="Arial"/>
              </a:defRPr>
            </a:pPr>
            <a:r>
              <a:rPr sz="2400" b="0">
                <a:solidFill>
                  <a:srgbClr val="00A28F"/>
                </a:solidFill>
                <a:latin typeface="Arial"/>
                <a:ea typeface="Arial"/>
                <a:cs typeface="Arial"/>
              </a:rPr>
              <a:t>→</a:t>
            </a:r>
          </a:p>
        </p:txBody>
      </p:sp>
      <p:sp>
        <p:nvSpPr>
          <p:cNvPr id="22" name="Rectangle: Rounded Corners 21">
            <a:extLst>
              <a:ext uri="{FF2B5EF4-FFF2-40B4-BE49-F238E27FC236}">
                <a16:creationId xmlns:a16="http://schemas.microsoft.com/office/drawing/2014/main" id="{BCABD309-AE0D-4CA9-94BE-3005D21FDCA2}"/>
              </a:ext>
            </a:extLst>
          </p:cNvPr>
          <p:cNvSpPr>
            <a:spLocks noGrp="1"/>
          </p:cNvSpPr>
          <p:nvPr/>
        </p:nvSpPr>
        <p:spPr>
          <a:xfrm>
            <a:off x="8848725" y="2638425"/>
            <a:ext cx="2095500" cy="1162050"/>
          </a:xfrm>
          <a:prstGeom prst="roundRect">
            <a:avLst>
              <a:gd name="adj" fmla="val 6557"/>
            </a:avLst>
          </a:prstGeom>
          <a:solidFill>
            <a:srgbClr val="EAF4F7"/>
          </a:solidFill>
          <a:ln w="9525">
            <a:solidFill>
              <a:srgbClr val="EAF4F7"/>
            </a:solidFill>
          </a:ln>
        </p:spPr>
      </p:sp>
      <p:sp>
        <p:nvSpPr>
          <p:cNvPr id="23" name="Rectangle 22">
            <a:extLst>
              <a:ext uri="{FF2B5EF4-FFF2-40B4-BE49-F238E27FC236}">
                <a16:creationId xmlns:a16="http://schemas.microsoft.com/office/drawing/2014/main" id="{8B887FE1-0848-4648-B29C-D09F35A66F5D}"/>
              </a:ext>
            </a:extLst>
          </p:cNvPr>
          <p:cNvSpPr>
            <a:spLocks noGrp="1"/>
          </p:cNvSpPr>
          <p:nvPr/>
        </p:nvSpPr>
        <p:spPr>
          <a:xfrm>
            <a:off x="9077325" y="2876550"/>
            <a:ext cx="1638300" cy="266700"/>
          </a:xfrm>
          <a:prstGeom prst="rect">
            <a:avLst/>
          </a:prstGeom>
          <a:noFill/>
          <a:ln w="0">
            <a:noFill/>
          </a:ln>
        </p:spPr>
        <p:txBody>
          <a:bodyPr>
            <a:normAutofit fontScale="80702"/>
          </a:bodyPr>
          <a:lstStyle/>
          <a:p>
            <a:pPr>
              <a:buNone/>
              <a:defRPr sz="1425" b="1">
                <a:solidFill>
                  <a:srgbClr val="0B3A4A"/>
                </a:solidFill>
                <a:latin typeface="Arial"/>
                <a:ea typeface="Arial"/>
                <a:cs typeface="Arial"/>
              </a:defRPr>
            </a:pPr>
            <a:r>
              <a:rPr sz="1425" b="1">
                <a:solidFill>
                  <a:srgbClr val="0B3A4A"/>
                </a:solidFill>
                <a:latin typeface="Arial"/>
                <a:ea typeface="Arial"/>
                <a:cs typeface="Arial"/>
              </a:rPr>
              <a:t>PostgreSQL RAG</a:t>
            </a:r>
          </a:p>
        </p:txBody>
      </p:sp>
      <p:sp>
        <p:nvSpPr>
          <p:cNvPr id="24" name="Rectangle 23">
            <a:extLst>
              <a:ext uri="{FF2B5EF4-FFF2-40B4-BE49-F238E27FC236}">
                <a16:creationId xmlns:a16="http://schemas.microsoft.com/office/drawing/2014/main" id="{0400CA9E-EE9A-4742-9CFE-808343463CB3}"/>
              </a:ext>
            </a:extLst>
          </p:cNvPr>
          <p:cNvSpPr>
            <a:spLocks noGrp="1"/>
          </p:cNvSpPr>
          <p:nvPr/>
        </p:nvSpPr>
        <p:spPr>
          <a:xfrm>
            <a:off x="9077325" y="3267075"/>
            <a:ext cx="1638300" cy="400050"/>
          </a:xfrm>
          <a:prstGeom prst="rect">
            <a:avLst/>
          </a:prstGeom>
          <a:noFill/>
          <a:ln w="0">
            <a:noFill/>
          </a:ln>
        </p:spPr>
        <p:txBody>
          <a:bodyPr>
            <a:normAutofit fontScale="90000"/>
          </a:bodyPr>
          <a:lstStyle/>
          <a:p>
            <a:pPr>
              <a:buNone/>
              <a:defRPr sz="1125" b="0">
                <a:solidFill>
                  <a:srgbClr val="5B7180"/>
                </a:solidFill>
                <a:latin typeface="Arial"/>
                <a:ea typeface="Arial"/>
                <a:cs typeface="Arial"/>
              </a:defRPr>
            </a:pPr>
            <a:r>
              <a:rPr sz="1125" b="0">
                <a:solidFill>
                  <a:srgbClr val="5B7180"/>
                </a:solidFill>
                <a:latin typeface="Arial"/>
                <a:ea typeface="Arial"/>
                <a:cs typeface="Arial"/>
              </a:rPr>
              <a:t>Route guidance</a:t>
            </a:r>
          </a:p>
          <a:p>
            <a:pPr>
              <a:buNone/>
              <a:defRPr sz="1125" b="0">
                <a:solidFill>
                  <a:srgbClr val="5B7180"/>
                </a:solidFill>
                <a:latin typeface="Arial"/>
                <a:ea typeface="Arial"/>
                <a:cs typeface="Arial"/>
              </a:defRPr>
            </a:pPr>
            <a:r>
              <a:rPr sz="1125" b="0">
                <a:solidFill>
                  <a:srgbClr val="5B7180"/>
                </a:solidFill>
                <a:latin typeface="Arial"/>
                <a:ea typeface="Arial"/>
                <a:cs typeface="Arial"/>
              </a:rPr>
              <a:t>and source</a:t>
            </a:r>
          </a:p>
        </p:txBody>
      </p:sp>
      <p:sp>
        <p:nvSpPr>
          <p:cNvPr id="25" name="Rectangle 24">
            <a:extLst>
              <a:ext uri="{FF2B5EF4-FFF2-40B4-BE49-F238E27FC236}">
                <a16:creationId xmlns:a16="http://schemas.microsoft.com/office/drawing/2014/main" id="{6A63BF2A-845E-4285-ACA3-EBEEA7D1E762}"/>
              </a:ext>
            </a:extLst>
          </p:cNvPr>
          <p:cNvSpPr>
            <a:spLocks noGrp="1"/>
          </p:cNvSpPr>
          <p:nvPr/>
        </p:nvSpPr>
        <p:spPr>
          <a:xfrm>
            <a:off x="1676400" y="4629150"/>
            <a:ext cx="8458200" cy="266700"/>
          </a:xfrm>
          <a:prstGeom prst="rect">
            <a:avLst/>
          </a:prstGeom>
          <a:noFill/>
          <a:ln w="0">
            <a:noFill/>
          </a:ln>
        </p:spPr>
        <p:txBody>
          <a:bodyPr>
            <a:normAutofit fontScale="80702"/>
          </a:bodyPr>
          <a:lstStyle/>
          <a:p>
            <a:pPr>
              <a:buNone/>
              <a:defRPr sz="1425" b="1">
                <a:solidFill>
                  <a:srgbClr val="0B3A4A"/>
                </a:solidFill>
                <a:latin typeface="Arial"/>
                <a:ea typeface="Arial"/>
                <a:cs typeface="Arial"/>
              </a:defRPr>
            </a:pPr>
            <a:r>
              <a:rPr sz="1425" b="1">
                <a:solidFill>
                  <a:srgbClr val="0B3A4A"/>
                </a:solidFill>
                <a:latin typeface="Arial"/>
                <a:ea typeface="Arial"/>
                <a:cs typeface="Arial"/>
              </a:rPr>
              <a:t>Local Ollama may produce a plain-Bengali explanation. Java validates the response or returns fixed fallback copy.</a:t>
            </a:r>
          </a:p>
        </p:txBody>
      </p:sp>
      <p:sp>
        <p:nvSpPr>
          <p:cNvPr id="26" name="Rectangle 25">
            <a:extLst>
              <a:ext uri="{FF2B5EF4-FFF2-40B4-BE49-F238E27FC236}">
                <a16:creationId xmlns:a16="http://schemas.microsoft.com/office/drawing/2014/main" id="{519A7AF2-A401-4CCF-90DE-D5776A53C380}"/>
              </a:ext>
            </a:extLst>
          </p:cNvPr>
          <p:cNvSpPr>
            <a:spLocks noGrp="1"/>
          </p:cNvSpPr>
          <p:nvPr/>
        </p:nvSpPr>
        <p:spPr>
          <a:xfrm>
            <a:off x="1981200" y="5095875"/>
            <a:ext cx="8229600" cy="19050"/>
          </a:xfrm>
          <a:prstGeom prst="rect">
            <a:avLst/>
          </a:prstGeom>
          <a:solidFill>
            <a:srgbClr val="00A28F"/>
          </a:solidFill>
          <a:ln w="9525">
            <a:solidFill>
              <a:srgbClr val="00A28F"/>
            </a:solidFill>
          </a:ln>
        </p:spPr>
      </p:sp>
      <p:sp>
        <p:nvSpPr>
          <p:cNvPr id="27" name="Rectangle 26">
            <a:extLst>
              <a:ext uri="{FF2B5EF4-FFF2-40B4-BE49-F238E27FC236}">
                <a16:creationId xmlns:a16="http://schemas.microsoft.com/office/drawing/2014/main" id="{9B1BBD45-3262-47F2-B811-443FBC93CA30}"/>
              </a:ext>
            </a:extLst>
          </p:cNvPr>
          <p:cNvSpPr>
            <a:spLocks noGrp="1"/>
          </p:cNvSpPr>
          <p:nvPr/>
        </p:nvSpPr>
        <p:spPr>
          <a:xfrm>
            <a:off x="1981200" y="5238750"/>
            <a:ext cx="8229600" cy="228600"/>
          </a:xfrm>
          <a:prstGeom prst="rect">
            <a:avLst/>
          </a:prstGeom>
          <a:noFill/>
          <a:ln w="0">
            <a:noFill/>
          </a:ln>
        </p:spPr>
        <p:txBody>
          <a:bodyPr>
            <a:normAutofit fontScale="80000"/>
          </a:bodyPr>
          <a:lstStyle/>
          <a:p>
            <a:pPr>
              <a:buNone/>
              <a:defRPr sz="1125" b="0">
                <a:solidFill>
                  <a:srgbClr val="5B7180"/>
                </a:solidFill>
                <a:latin typeface="Arial"/>
                <a:ea typeface="Arial"/>
                <a:cs typeface="Arial"/>
              </a:defRPr>
            </a:pPr>
            <a:r>
              <a:rPr sz="1125" b="0">
                <a:solidFill>
                  <a:srgbClr val="5B7180"/>
                </a:solidFill>
                <a:latin typeface="Arial"/>
                <a:ea typeface="Arial"/>
                <a:cs typeface="Arial"/>
              </a:rPr>
              <a:t>Safety boundary: the model cannot diagnose, prescribe, change urgency, or select a service.</a:t>
            </a:r>
          </a:p>
        </p:txBody>
      </p:sp>
      <p:sp>
        <p:nvSpPr>
          <p:cNvPr id="29" name="Rectangle 28">
            <a:extLst>
              <a:ext uri="{FF2B5EF4-FFF2-40B4-BE49-F238E27FC236}">
                <a16:creationId xmlns:a16="http://schemas.microsoft.com/office/drawing/2014/main" id="{A14A3A0C-6D2E-4C79-8ED4-31B65EEFAC2A}"/>
              </a:ext>
            </a:extLst>
          </p:cNvPr>
          <p:cNvSpPr>
            <a:spLocks noGrp="1"/>
          </p:cNvSpPr>
          <p:nvPr/>
        </p:nvSpPr>
        <p:spPr>
          <a:xfrm>
            <a:off x="0" y="0"/>
            <a:ext cx="12192000" cy="6858000"/>
          </a:xfrm>
          <a:prstGeom prst="rect">
            <a:avLst/>
          </a:prstGeom>
          <a:solidFill>
            <a:srgbClr val="202A44"/>
          </a:solidFill>
          <a:ln w="0">
            <a:noFill/>
          </a:ln>
        </p:spPr>
      </p:sp>
      <p:sp>
        <p:nvSpPr>
          <p:cNvPr id="30" name="Rectangle 29">
            <a:extLst>
              <a:ext uri="{FF2B5EF4-FFF2-40B4-BE49-F238E27FC236}">
                <a16:creationId xmlns:a16="http://schemas.microsoft.com/office/drawing/2014/main" id="{5216B448-F0A2-415B-913B-44058DAEE9A0}"/>
              </a:ext>
            </a:extLst>
          </p:cNvPr>
          <p:cNvSpPr>
            <a:spLocks noGrp="1"/>
          </p:cNvSpPr>
          <p:nvPr/>
        </p:nvSpPr>
        <p:spPr>
          <a:xfrm>
            <a:off x="685800" y="419100"/>
            <a:ext cx="666750" cy="209550"/>
          </a:xfrm>
          <a:prstGeom prst="rect">
            <a:avLst/>
          </a:prstGeom>
          <a:noFill/>
          <a:ln w="0">
            <a:noFill/>
          </a:ln>
        </p:spPr>
        <p:txBody>
          <a:bodyPr>
            <a:noAutofit/>
          </a:bodyPr>
          <a:lstStyle/>
          <a:p>
            <a:pPr>
              <a:buNone/>
              <a:defRPr sz="1200" b="1">
                <a:solidFill>
                  <a:srgbClr val="E7A048"/>
                </a:solidFill>
                <a:latin typeface="Arial"/>
                <a:ea typeface="Arial"/>
                <a:cs typeface="Arial"/>
              </a:defRPr>
            </a:pPr>
            <a:r>
              <a:rPr sz="1200" b="1">
                <a:solidFill>
                  <a:srgbClr val="E7A048"/>
                </a:solidFill>
                <a:latin typeface="Arial"/>
                <a:ea typeface="Arial"/>
                <a:cs typeface="Arial"/>
              </a:rPr>
              <a:t>03</a:t>
            </a:r>
          </a:p>
        </p:txBody>
      </p:sp>
      <p:sp>
        <p:nvSpPr>
          <p:cNvPr id="31" name="Rectangle 30">
            <a:extLst>
              <a:ext uri="{FF2B5EF4-FFF2-40B4-BE49-F238E27FC236}">
                <a16:creationId xmlns:a16="http://schemas.microsoft.com/office/drawing/2014/main" id="{205A2551-5C04-46B7-8270-DB995817737E}"/>
              </a:ext>
            </a:extLst>
          </p:cNvPr>
          <p:cNvSpPr>
            <a:spLocks noGrp="1"/>
          </p:cNvSpPr>
          <p:nvPr/>
        </p:nvSpPr>
        <p:spPr>
          <a:xfrm>
            <a:off x="9810750" y="428625"/>
            <a:ext cx="1695450" cy="190500"/>
          </a:xfrm>
          <a:prstGeom prst="rect">
            <a:avLst/>
          </a:prstGeom>
          <a:noFill/>
          <a:ln w="0">
            <a:noFill/>
          </a:ln>
        </p:spPr>
        <p:txBody>
          <a:bodyPr>
            <a:noAutofit/>
          </a:bodyPr>
          <a:lstStyle/>
          <a:p>
            <a:pPr algn="r">
              <a:buNone/>
              <a:defRPr sz="975" b="1">
                <a:solidFill>
                  <a:srgbClr val="E7A048"/>
                </a:solidFill>
                <a:latin typeface="Arial"/>
                <a:ea typeface="Arial"/>
                <a:cs typeface="Arial"/>
              </a:defRPr>
            </a:pPr>
            <a:r>
              <a:rPr sz="975" b="1">
                <a:solidFill>
                  <a:srgbClr val="E7A048"/>
                </a:solidFill>
                <a:latin typeface="Arial"/>
                <a:ea typeface="Arial"/>
                <a:cs typeface="Arial"/>
              </a:rPr>
              <a:t>NETRAJYOTI AI</a:t>
            </a:r>
          </a:p>
        </p:txBody>
      </p:sp>
      <p:sp>
        <p:nvSpPr>
          <p:cNvPr id="32" name="Rectangle 31">
            <a:extLst>
              <a:ext uri="{FF2B5EF4-FFF2-40B4-BE49-F238E27FC236}">
                <a16:creationId xmlns:a16="http://schemas.microsoft.com/office/drawing/2014/main" id="{9AB0113C-11DD-49A8-9545-E250271AECA1}"/>
              </a:ext>
            </a:extLst>
          </p:cNvPr>
          <p:cNvSpPr>
            <a:spLocks noGrp="1"/>
          </p:cNvSpPr>
          <p:nvPr/>
        </p:nvSpPr>
        <p:spPr>
          <a:xfrm>
            <a:off x="685800" y="762000"/>
            <a:ext cx="10287000" cy="457200"/>
          </a:xfrm>
          <a:prstGeom prst="rect">
            <a:avLst/>
          </a:prstGeom>
          <a:noFill/>
          <a:ln w="0">
            <a:noFill/>
          </a:ln>
        </p:spPr>
        <p:txBody>
          <a:bodyPr>
            <a:noAutofit/>
          </a:bodyPr>
          <a:lstStyle/>
          <a:p>
            <a:pPr>
              <a:buNone/>
              <a:defRPr sz="2550" b="1">
                <a:solidFill>
                  <a:srgbClr val="FFFFFF"/>
                </a:solidFill>
                <a:latin typeface="Arial"/>
                <a:ea typeface="Arial"/>
                <a:cs typeface="Arial"/>
              </a:defRPr>
            </a:pPr>
            <a:r>
              <a:rPr sz="2550" b="1">
                <a:solidFill>
                  <a:srgbClr val="FFFFFF"/>
                </a:solidFill>
                <a:latin typeface="Arial"/>
                <a:ea typeface="Arial"/>
                <a:cs typeface="Arial"/>
              </a:rPr>
              <a:t>Route selection and Bengali explanation</a:t>
            </a:r>
          </a:p>
        </p:txBody>
      </p:sp>
      <p:sp>
        <p:nvSpPr>
          <p:cNvPr id="33" name="Rectangle 32">
            <a:extLst>
              <a:ext uri="{FF2B5EF4-FFF2-40B4-BE49-F238E27FC236}">
                <a16:creationId xmlns:a16="http://schemas.microsoft.com/office/drawing/2014/main" id="{9CA4CDF0-9BF8-4A36-BFD3-CECDDA0C6F5F}"/>
              </a:ext>
            </a:extLst>
          </p:cNvPr>
          <p:cNvSpPr>
            <a:spLocks noGrp="1"/>
          </p:cNvSpPr>
          <p:nvPr/>
        </p:nvSpPr>
        <p:spPr>
          <a:xfrm>
            <a:off x="704850" y="1343025"/>
            <a:ext cx="10287000" cy="266700"/>
          </a:xfrm>
          <a:prstGeom prst="rect">
            <a:avLst/>
          </a:prstGeom>
          <a:noFill/>
          <a:ln w="0">
            <a:noFill/>
          </a:ln>
        </p:spPr>
        <p:txBody>
          <a:bodyPr>
            <a:noAutofit/>
          </a:bodyPr>
          <a:lstStyle/>
          <a:p>
            <a:pPr>
              <a:buNone/>
              <a:defRPr sz="1275">
                <a:solidFill>
                  <a:srgbClr val="C8D4EE"/>
                </a:solidFill>
                <a:latin typeface="Arial"/>
                <a:ea typeface="Arial"/>
                <a:cs typeface="Arial"/>
              </a:defRPr>
            </a:pPr>
            <a:r>
              <a:rPr sz="1275">
                <a:solidFill>
                  <a:srgbClr val="C8D4EE"/>
                </a:solidFill>
                <a:latin typeface="Arial"/>
                <a:ea typeface="Arial"/>
                <a:cs typeface="Arial"/>
              </a:rPr>
              <a:t>The Java deterministic engine selects the care route with PostgreSQL. Ollama explains only after the route lock.</a:t>
            </a:r>
          </a:p>
        </p:txBody>
      </p:sp>
      <p:sp>
        <p:nvSpPr>
          <p:cNvPr id="34" name="Rectangle 33">
            <a:extLst>
              <a:ext uri="{FF2B5EF4-FFF2-40B4-BE49-F238E27FC236}">
                <a16:creationId xmlns:a16="http://schemas.microsoft.com/office/drawing/2014/main" id="{CD0B0DEB-C526-498A-A6D3-A4CD05E50B9B}"/>
              </a:ext>
            </a:extLst>
          </p:cNvPr>
          <p:cNvSpPr>
            <a:spLocks noGrp="1"/>
          </p:cNvSpPr>
          <p:nvPr/>
        </p:nvSpPr>
        <p:spPr>
          <a:xfrm>
            <a:off x="685800" y="1752600"/>
            <a:ext cx="10820400" cy="19050"/>
          </a:xfrm>
          <a:prstGeom prst="rect">
            <a:avLst/>
          </a:prstGeom>
          <a:solidFill>
            <a:srgbClr val="5C6DAA"/>
          </a:solidFill>
          <a:ln w="0">
            <a:noFill/>
          </a:ln>
        </p:spPr>
      </p:sp>
      <p:sp>
        <p:nvSpPr>
          <p:cNvPr id="35" name="Rectangle 34">
            <a:extLst>
              <a:ext uri="{FF2B5EF4-FFF2-40B4-BE49-F238E27FC236}">
                <a16:creationId xmlns:a16="http://schemas.microsoft.com/office/drawing/2014/main" id="{589D1668-AD2E-488B-843E-2BAD29F0ECC6}"/>
              </a:ext>
            </a:extLst>
          </p:cNvPr>
          <p:cNvSpPr>
            <a:spLocks noGrp="1"/>
          </p:cNvSpPr>
          <p:nvPr/>
        </p:nvSpPr>
        <p:spPr>
          <a:xfrm>
            <a:off x="723900" y="2105025"/>
            <a:ext cx="2095500" cy="190500"/>
          </a:xfrm>
          <a:prstGeom prst="rect">
            <a:avLst/>
          </a:prstGeom>
          <a:noFill/>
          <a:ln w="0">
            <a:noFill/>
          </a:ln>
        </p:spPr>
        <p:txBody>
          <a:bodyPr>
            <a:noAutofit/>
          </a:bodyPr>
          <a:lstStyle/>
          <a:p>
            <a:pPr>
              <a:buNone/>
              <a:defRPr sz="1050" b="1">
                <a:solidFill>
                  <a:srgbClr val="E7A048"/>
                </a:solidFill>
                <a:latin typeface="Arial"/>
                <a:ea typeface="Arial"/>
                <a:cs typeface="Arial"/>
              </a:defRPr>
            </a:pPr>
            <a:r>
              <a:rPr sz="1050" b="1">
                <a:solidFill>
                  <a:srgbClr val="E7A048"/>
                </a:solidFill>
                <a:latin typeface="Arial"/>
                <a:ea typeface="Arial"/>
                <a:cs typeface="Arial"/>
              </a:rPr>
              <a:t>ROUTE SELECTION</a:t>
            </a:r>
          </a:p>
        </p:txBody>
      </p:sp>
      <p:sp>
        <p:nvSpPr>
          <p:cNvPr id="36" name="Rectangle: Rounded Corners 35">
            <a:extLst>
              <a:ext uri="{FF2B5EF4-FFF2-40B4-BE49-F238E27FC236}">
                <a16:creationId xmlns:a16="http://schemas.microsoft.com/office/drawing/2014/main" id="{556556F1-5ADD-44E1-A82B-8A5E80482FA3}"/>
              </a:ext>
            </a:extLst>
          </p:cNvPr>
          <p:cNvSpPr>
            <a:spLocks noGrp="1"/>
          </p:cNvSpPr>
          <p:nvPr/>
        </p:nvSpPr>
        <p:spPr>
          <a:xfrm>
            <a:off x="723900" y="2419350"/>
            <a:ext cx="2019300" cy="990600"/>
          </a:xfrm>
          <a:prstGeom prst="roundRect">
            <a:avLst>
              <a:gd name="adj" fmla="val 7692"/>
            </a:avLst>
          </a:prstGeom>
          <a:solidFill>
            <a:srgbClr val="237A7A"/>
          </a:solidFill>
          <a:ln w="0">
            <a:noFill/>
          </a:ln>
        </p:spPr>
      </p:sp>
      <p:sp>
        <p:nvSpPr>
          <p:cNvPr id="37" name="Rectangle 36">
            <a:extLst>
              <a:ext uri="{FF2B5EF4-FFF2-40B4-BE49-F238E27FC236}">
                <a16:creationId xmlns:a16="http://schemas.microsoft.com/office/drawing/2014/main" id="{DA7F8BA5-1888-4DF9-9C94-4C3CDD201DCF}"/>
              </a:ext>
            </a:extLst>
          </p:cNvPr>
          <p:cNvSpPr>
            <a:spLocks noGrp="1"/>
          </p:cNvSpPr>
          <p:nvPr/>
        </p:nvSpPr>
        <p:spPr>
          <a:xfrm>
            <a:off x="895350" y="2552700"/>
            <a:ext cx="1676400" cy="400050"/>
          </a:xfrm>
          <a:prstGeom prst="rect">
            <a:avLst/>
          </a:prstGeom>
          <a:noFill/>
          <a:ln w="0">
            <a:noFill/>
          </a:ln>
        </p:spPr>
        <p:txBody>
          <a:bodyPr>
            <a:noAutofit/>
          </a:bodyPr>
          <a:lstStyle/>
          <a:p>
            <a:pPr algn="ctr">
              <a:buNone/>
              <a:defRPr sz="1500" b="1">
                <a:solidFill>
                  <a:srgbClr val="FFFFFF"/>
                </a:solidFill>
                <a:latin typeface="Arial"/>
                <a:ea typeface="Arial"/>
                <a:cs typeface="Arial"/>
              </a:defRPr>
            </a:pPr>
            <a:r>
              <a:rPr sz="1500" b="1">
                <a:solidFill>
                  <a:srgbClr val="FFFFFF"/>
                </a:solidFill>
                <a:latin typeface="Arial"/>
                <a:ea typeface="Arial"/>
                <a:cs typeface="Arial"/>
              </a:rPr>
              <a:t>Bengali UI</a:t>
            </a:r>
          </a:p>
        </p:txBody>
      </p:sp>
      <p:sp>
        <p:nvSpPr>
          <p:cNvPr id="38" name="Rectangle 37">
            <a:extLst>
              <a:ext uri="{FF2B5EF4-FFF2-40B4-BE49-F238E27FC236}">
                <a16:creationId xmlns:a16="http://schemas.microsoft.com/office/drawing/2014/main" id="{BEBFC636-EF4B-46B4-92DF-6C67BF021C63}"/>
              </a:ext>
            </a:extLst>
          </p:cNvPr>
          <p:cNvSpPr>
            <a:spLocks noGrp="1"/>
          </p:cNvSpPr>
          <p:nvPr/>
        </p:nvSpPr>
        <p:spPr>
          <a:xfrm>
            <a:off x="895350" y="3009900"/>
            <a:ext cx="1676400" cy="247650"/>
          </a:xfrm>
          <a:prstGeom prst="rect">
            <a:avLst/>
          </a:prstGeom>
          <a:noFill/>
          <a:ln w="0">
            <a:noFill/>
          </a:ln>
        </p:spPr>
        <p:txBody>
          <a:bodyPr>
            <a:noAutofit/>
          </a:bodyPr>
          <a:lstStyle/>
          <a:p>
            <a:pPr algn="ctr">
              <a:buNone/>
              <a:defRPr sz="1050">
                <a:solidFill>
                  <a:srgbClr val="FFFFFF"/>
                </a:solidFill>
                <a:latin typeface="Arial"/>
                <a:ea typeface="Arial"/>
                <a:cs typeface="Arial"/>
              </a:defRPr>
            </a:pPr>
            <a:r>
              <a:rPr sz="1050">
                <a:solidFill>
                  <a:srgbClr val="FFFFFF"/>
                </a:solidFill>
                <a:latin typeface="Arial"/>
                <a:ea typeface="Arial"/>
                <a:cs typeface="Arial"/>
              </a:rPr>
              <a:t>Fixed symptom selections</a:t>
            </a:r>
          </a:p>
        </p:txBody>
      </p:sp>
      <p:sp>
        <p:nvSpPr>
          <p:cNvPr id="39" name="Arrow: Right 38">
            <a:extLst>
              <a:ext uri="{FF2B5EF4-FFF2-40B4-BE49-F238E27FC236}">
                <a16:creationId xmlns:a16="http://schemas.microsoft.com/office/drawing/2014/main" id="{D23B9221-E2EA-459A-B8CE-B6C65C7DBF2A}"/>
              </a:ext>
            </a:extLst>
          </p:cNvPr>
          <p:cNvSpPr>
            <a:spLocks noGrp="1"/>
          </p:cNvSpPr>
          <p:nvPr/>
        </p:nvSpPr>
        <p:spPr>
          <a:xfrm>
            <a:off x="2838450" y="2819400"/>
            <a:ext cx="304800" cy="171450"/>
          </a:xfrm>
          <a:prstGeom prst="rightArrow">
            <a:avLst/>
          </a:prstGeom>
          <a:solidFill>
            <a:srgbClr val="E7A048"/>
          </a:solidFill>
          <a:ln w="0">
            <a:noFill/>
          </a:ln>
        </p:spPr>
      </p:sp>
      <p:sp>
        <p:nvSpPr>
          <p:cNvPr id="40" name="Rectangle: Rounded Corners 39">
            <a:extLst>
              <a:ext uri="{FF2B5EF4-FFF2-40B4-BE49-F238E27FC236}">
                <a16:creationId xmlns:a16="http://schemas.microsoft.com/office/drawing/2014/main" id="{BECF3084-4730-472F-A87E-E5B387593130}"/>
              </a:ext>
            </a:extLst>
          </p:cNvPr>
          <p:cNvSpPr>
            <a:spLocks noGrp="1"/>
          </p:cNvSpPr>
          <p:nvPr/>
        </p:nvSpPr>
        <p:spPr>
          <a:xfrm>
            <a:off x="3314700" y="2419350"/>
            <a:ext cx="2019300" cy="990600"/>
          </a:xfrm>
          <a:prstGeom prst="roundRect">
            <a:avLst>
              <a:gd name="adj" fmla="val 7692"/>
            </a:avLst>
          </a:prstGeom>
          <a:solidFill>
            <a:srgbClr val="4656A8"/>
          </a:solidFill>
          <a:ln w="0">
            <a:noFill/>
          </a:ln>
        </p:spPr>
      </p:sp>
      <p:sp>
        <p:nvSpPr>
          <p:cNvPr id="41" name="Rectangle 40">
            <a:extLst>
              <a:ext uri="{FF2B5EF4-FFF2-40B4-BE49-F238E27FC236}">
                <a16:creationId xmlns:a16="http://schemas.microsoft.com/office/drawing/2014/main" id="{991FD7F9-2CD2-4C07-8FD6-F406766FA41D}"/>
              </a:ext>
            </a:extLst>
          </p:cNvPr>
          <p:cNvSpPr>
            <a:spLocks noGrp="1"/>
          </p:cNvSpPr>
          <p:nvPr/>
        </p:nvSpPr>
        <p:spPr>
          <a:xfrm>
            <a:off x="3486150" y="2552700"/>
            <a:ext cx="1676400" cy="400050"/>
          </a:xfrm>
          <a:prstGeom prst="rect">
            <a:avLst/>
          </a:prstGeom>
          <a:noFill/>
          <a:ln w="0">
            <a:noFill/>
          </a:ln>
        </p:spPr>
        <p:txBody>
          <a:bodyPr>
            <a:noAutofit/>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Java deterministic</a:t>
            </a:r>
          </a:p>
          <a:p>
            <a:pPr algn="ctr">
              <a:buNone/>
              <a:defRPr sz="1275" b="1">
                <a:solidFill>
                  <a:srgbClr val="FFFFFF"/>
                </a:solidFill>
                <a:latin typeface="Arial"/>
                <a:ea typeface="Arial"/>
                <a:cs typeface="Arial"/>
              </a:defRPr>
            </a:pPr>
            <a:r>
              <a:rPr sz="1275" b="1">
                <a:solidFill>
                  <a:srgbClr val="FFFFFF"/>
                </a:solidFill>
                <a:latin typeface="Arial"/>
                <a:ea typeface="Arial"/>
                <a:cs typeface="Arial"/>
              </a:rPr>
              <a:t>engine</a:t>
            </a:r>
          </a:p>
        </p:txBody>
      </p:sp>
      <p:sp>
        <p:nvSpPr>
          <p:cNvPr id="42" name="Rectangle 41">
            <a:extLst>
              <a:ext uri="{FF2B5EF4-FFF2-40B4-BE49-F238E27FC236}">
                <a16:creationId xmlns:a16="http://schemas.microsoft.com/office/drawing/2014/main" id="{5C492D52-C5F9-4F48-A466-8A5B67EAF3F2}"/>
              </a:ext>
            </a:extLst>
          </p:cNvPr>
          <p:cNvSpPr>
            <a:spLocks noGrp="1"/>
          </p:cNvSpPr>
          <p:nvPr/>
        </p:nvSpPr>
        <p:spPr>
          <a:xfrm>
            <a:off x="3486150" y="3009900"/>
            <a:ext cx="1676400" cy="247650"/>
          </a:xfrm>
          <a:prstGeom prst="rect">
            <a:avLst/>
          </a:prstGeom>
          <a:noFill/>
          <a:ln w="0">
            <a:noFill/>
          </a:ln>
        </p:spPr>
        <p:txBody>
          <a:bodyPr>
            <a:noAutofit/>
          </a:bodyPr>
          <a:lstStyle/>
          <a:p>
            <a:pPr algn="ctr">
              <a:buNone/>
              <a:defRPr sz="1050">
                <a:solidFill>
                  <a:srgbClr val="FFFFFF"/>
                </a:solidFill>
                <a:latin typeface="Arial"/>
                <a:ea typeface="Arial"/>
                <a:cs typeface="Arial"/>
              </a:defRPr>
            </a:pPr>
            <a:r>
              <a:rPr sz="1050">
                <a:solidFill>
                  <a:srgbClr val="FFFFFF"/>
                </a:solidFill>
                <a:latin typeface="Arial"/>
                <a:ea typeface="Arial"/>
                <a:cs typeface="Arial"/>
              </a:rPr>
              <a:t>Validates submitted codes</a:t>
            </a:r>
          </a:p>
        </p:txBody>
      </p:sp>
      <p:sp>
        <p:nvSpPr>
          <p:cNvPr id="43" name="Arrow: Right 42">
            <a:extLst>
              <a:ext uri="{FF2B5EF4-FFF2-40B4-BE49-F238E27FC236}">
                <a16:creationId xmlns:a16="http://schemas.microsoft.com/office/drawing/2014/main" id="{A2928540-C6AB-49EA-B548-2CA1B04277E9}"/>
              </a:ext>
            </a:extLst>
          </p:cNvPr>
          <p:cNvSpPr>
            <a:spLocks noGrp="1"/>
          </p:cNvSpPr>
          <p:nvPr/>
        </p:nvSpPr>
        <p:spPr>
          <a:xfrm>
            <a:off x="5429250" y="2819400"/>
            <a:ext cx="304800" cy="171450"/>
          </a:xfrm>
          <a:prstGeom prst="rightArrow">
            <a:avLst/>
          </a:prstGeom>
          <a:solidFill>
            <a:srgbClr val="E7A048"/>
          </a:solidFill>
          <a:ln w="0">
            <a:noFill/>
          </a:ln>
        </p:spPr>
      </p:sp>
      <p:sp>
        <p:nvSpPr>
          <p:cNvPr id="44" name="Rectangle: Rounded Corners 43">
            <a:extLst>
              <a:ext uri="{FF2B5EF4-FFF2-40B4-BE49-F238E27FC236}">
                <a16:creationId xmlns:a16="http://schemas.microsoft.com/office/drawing/2014/main" id="{FFA0BFB9-2B41-4351-91A5-D5BD4D53E1BE}"/>
              </a:ext>
            </a:extLst>
          </p:cNvPr>
          <p:cNvSpPr>
            <a:spLocks noGrp="1"/>
          </p:cNvSpPr>
          <p:nvPr/>
        </p:nvSpPr>
        <p:spPr>
          <a:xfrm>
            <a:off x="5905500" y="2419350"/>
            <a:ext cx="2019300" cy="990600"/>
          </a:xfrm>
          <a:prstGeom prst="roundRect">
            <a:avLst>
              <a:gd name="adj" fmla="val 7692"/>
            </a:avLst>
          </a:prstGeom>
          <a:solidFill>
            <a:srgbClr val="237A7A"/>
          </a:solidFill>
          <a:ln w="0">
            <a:noFill/>
          </a:ln>
        </p:spPr>
      </p:sp>
      <p:sp>
        <p:nvSpPr>
          <p:cNvPr id="45" name="Rectangle 44">
            <a:extLst>
              <a:ext uri="{FF2B5EF4-FFF2-40B4-BE49-F238E27FC236}">
                <a16:creationId xmlns:a16="http://schemas.microsoft.com/office/drawing/2014/main" id="{E1DD059E-6BA8-46CC-8A96-FC64ABFC4955}"/>
              </a:ext>
            </a:extLst>
          </p:cNvPr>
          <p:cNvSpPr>
            <a:spLocks noGrp="1"/>
          </p:cNvSpPr>
          <p:nvPr/>
        </p:nvSpPr>
        <p:spPr>
          <a:xfrm>
            <a:off x="6076950" y="2552700"/>
            <a:ext cx="1676400" cy="400050"/>
          </a:xfrm>
          <a:prstGeom prst="rect">
            <a:avLst/>
          </a:prstGeom>
          <a:noFill/>
          <a:ln w="0">
            <a:noFill/>
          </a:ln>
        </p:spPr>
        <p:txBody>
          <a:bodyPr>
            <a:noAutofit/>
          </a:bodyPr>
          <a:lstStyle/>
          <a:p>
            <a:pPr algn="ctr">
              <a:buNone/>
              <a:defRPr sz="1500" b="1">
                <a:solidFill>
                  <a:srgbClr val="FFFFFF"/>
                </a:solidFill>
                <a:latin typeface="Arial"/>
                <a:ea typeface="Arial"/>
                <a:cs typeface="Arial"/>
              </a:defRPr>
            </a:pPr>
            <a:r>
              <a:rPr sz="1500" b="1">
                <a:solidFill>
                  <a:srgbClr val="FFFFFF"/>
                </a:solidFill>
                <a:latin typeface="Arial"/>
                <a:ea typeface="Arial"/>
                <a:cs typeface="Arial"/>
              </a:rPr>
              <a:t>PostgreSQL</a:t>
            </a:r>
          </a:p>
        </p:txBody>
      </p:sp>
      <p:sp>
        <p:nvSpPr>
          <p:cNvPr id="46" name="Rectangle 45">
            <a:extLst>
              <a:ext uri="{FF2B5EF4-FFF2-40B4-BE49-F238E27FC236}">
                <a16:creationId xmlns:a16="http://schemas.microsoft.com/office/drawing/2014/main" id="{DF7A856E-73E4-4F9E-9EAC-B0D4F0EC8207}"/>
              </a:ext>
            </a:extLst>
          </p:cNvPr>
          <p:cNvSpPr>
            <a:spLocks noGrp="1"/>
          </p:cNvSpPr>
          <p:nvPr/>
        </p:nvSpPr>
        <p:spPr>
          <a:xfrm>
            <a:off x="6076950" y="3009900"/>
            <a:ext cx="1676400" cy="247650"/>
          </a:xfrm>
          <a:prstGeom prst="rect">
            <a:avLst/>
          </a:prstGeom>
          <a:noFill/>
          <a:ln w="0">
            <a:noFill/>
          </a:ln>
        </p:spPr>
        <p:txBody>
          <a:bodyPr>
            <a:noAutofit/>
          </a:bodyPr>
          <a:lstStyle/>
          <a:p>
            <a:pPr algn="ctr">
              <a:buNone/>
              <a:defRPr sz="1050">
                <a:solidFill>
                  <a:srgbClr val="FFFFFF"/>
                </a:solidFill>
                <a:latin typeface="Arial"/>
                <a:ea typeface="Arial"/>
                <a:cs typeface="Arial"/>
              </a:defRPr>
            </a:pPr>
            <a:r>
              <a:rPr sz="1050">
                <a:solidFill>
                  <a:srgbClr val="FFFFFF"/>
                </a:solidFill>
                <a:latin typeface="Arial"/>
                <a:ea typeface="Arial"/>
                <a:cs typeface="Arial"/>
              </a:rPr>
              <a:t>Matches approved routing criteria</a:t>
            </a:r>
          </a:p>
        </p:txBody>
      </p:sp>
      <p:sp>
        <p:nvSpPr>
          <p:cNvPr id="47" name="Arrow: Right 46">
            <a:extLst>
              <a:ext uri="{FF2B5EF4-FFF2-40B4-BE49-F238E27FC236}">
                <a16:creationId xmlns:a16="http://schemas.microsoft.com/office/drawing/2014/main" id="{EB0A8314-3C7A-410D-8E10-DE5D20980EEF}"/>
              </a:ext>
            </a:extLst>
          </p:cNvPr>
          <p:cNvSpPr>
            <a:spLocks noGrp="1"/>
          </p:cNvSpPr>
          <p:nvPr/>
        </p:nvSpPr>
        <p:spPr>
          <a:xfrm>
            <a:off x="8020050" y="2819400"/>
            <a:ext cx="304800" cy="171450"/>
          </a:xfrm>
          <a:prstGeom prst="rightArrow">
            <a:avLst/>
          </a:prstGeom>
          <a:solidFill>
            <a:srgbClr val="E7A048"/>
          </a:solidFill>
          <a:ln w="0">
            <a:noFill/>
          </a:ln>
        </p:spPr>
      </p:sp>
      <p:sp>
        <p:nvSpPr>
          <p:cNvPr id="48" name="Rectangle: Rounded Corners 47">
            <a:extLst>
              <a:ext uri="{FF2B5EF4-FFF2-40B4-BE49-F238E27FC236}">
                <a16:creationId xmlns:a16="http://schemas.microsoft.com/office/drawing/2014/main" id="{03E2D8C4-D89F-4083-A6B6-807DA133D897}"/>
              </a:ext>
            </a:extLst>
          </p:cNvPr>
          <p:cNvSpPr>
            <a:spLocks noGrp="1"/>
          </p:cNvSpPr>
          <p:nvPr/>
        </p:nvSpPr>
        <p:spPr>
          <a:xfrm>
            <a:off x="8496300" y="2419350"/>
            <a:ext cx="2019300" cy="990600"/>
          </a:xfrm>
          <a:prstGeom prst="roundRect">
            <a:avLst>
              <a:gd name="adj" fmla="val 7692"/>
            </a:avLst>
          </a:prstGeom>
          <a:solidFill>
            <a:srgbClr val="DE664C"/>
          </a:solidFill>
          <a:ln w="0">
            <a:noFill/>
          </a:ln>
        </p:spPr>
      </p:sp>
      <p:sp>
        <p:nvSpPr>
          <p:cNvPr id="49" name="Rectangle 48">
            <a:extLst>
              <a:ext uri="{FF2B5EF4-FFF2-40B4-BE49-F238E27FC236}">
                <a16:creationId xmlns:a16="http://schemas.microsoft.com/office/drawing/2014/main" id="{14374A33-C257-4568-B464-EA2A48D9DE07}"/>
              </a:ext>
            </a:extLst>
          </p:cNvPr>
          <p:cNvSpPr>
            <a:spLocks noGrp="1"/>
          </p:cNvSpPr>
          <p:nvPr/>
        </p:nvSpPr>
        <p:spPr>
          <a:xfrm>
            <a:off x="8667750" y="2552700"/>
            <a:ext cx="1676400" cy="400050"/>
          </a:xfrm>
          <a:prstGeom prst="rect">
            <a:avLst/>
          </a:prstGeom>
          <a:noFill/>
          <a:ln w="0">
            <a:noFill/>
          </a:ln>
        </p:spPr>
        <p:txBody>
          <a:bodyPr>
            <a:noAutofit/>
          </a:bodyPr>
          <a:lstStyle/>
          <a:p>
            <a:pPr algn="ctr">
              <a:buNone/>
              <a:defRPr sz="1500" b="1">
                <a:solidFill>
                  <a:srgbClr val="FFFFFF"/>
                </a:solidFill>
                <a:latin typeface="Arial"/>
                <a:ea typeface="Arial"/>
                <a:cs typeface="Arial"/>
              </a:defRPr>
            </a:pPr>
            <a:r>
              <a:rPr sz="1500" b="1">
                <a:solidFill>
                  <a:srgbClr val="FFFFFF"/>
                </a:solidFill>
                <a:latin typeface="Arial"/>
                <a:ea typeface="Arial"/>
                <a:cs typeface="Arial"/>
              </a:rPr>
              <a:t>Route lock</a:t>
            </a:r>
          </a:p>
        </p:txBody>
      </p:sp>
      <p:sp>
        <p:nvSpPr>
          <p:cNvPr id="50" name="Rectangle 49">
            <a:extLst>
              <a:ext uri="{FF2B5EF4-FFF2-40B4-BE49-F238E27FC236}">
                <a16:creationId xmlns:a16="http://schemas.microsoft.com/office/drawing/2014/main" id="{5C0B88BC-83FA-46E1-9810-10F11DF5AE5E}"/>
              </a:ext>
            </a:extLst>
          </p:cNvPr>
          <p:cNvSpPr>
            <a:spLocks noGrp="1"/>
          </p:cNvSpPr>
          <p:nvPr/>
        </p:nvSpPr>
        <p:spPr>
          <a:xfrm>
            <a:off x="8667750" y="3009900"/>
            <a:ext cx="1676400" cy="247650"/>
          </a:xfrm>
          <a:prstGeom prst="rect">
            <a:avLst/>
          </a:prstGeom>
          <a:noFill/>
          <a:ln w="0">
            <a:noFill/>
          </a:ln>
        </p:spPr>
        <p:txBody>
          <a:bodyPr>
            <a:noAutofit/>
          </a:bodyPr>
          <a:lstStyle/>
          <a:p>
            <a:pPr algn="ctr">
              <a:buNone/>
              <a:defRPr sz="1050">
                <a:solidFill>
                  <a:srgbClr val="FFFFFF"/>
                </a:solidFill>
                <a:latin typeface="Arial"/>
                <a:ea typeface="Arial"/>
                <a:cs typeface="Arial"/>
              </a:defRPr>
            </a:pPr>
            <a:r>
              <a:rPr sz="1050">
                <a:solidFill>
                  <a:srgbClr val="FFFFFF"/>
                </a:solidFill>
                <a:latin typeface="Arial"/>
                <a:ea typeface="Arial"/>
                <a:cs typeface="Arial"/>
              </a:rPr>
              <a:t>Urgent, routine, or human support</a:t>
            </a:r>
          </a:p>
        </p:txBody>
      </p:sp>
      <p:sp>
        <p:nvSpPr>
          <p:cNvPr id="51" name="Rectangle: Rounded Corners 50">
            <a:extLst>
              <a:ext uri="{FF2B5EF4-FFF2-40B4-BE49-F238E27FC236}">
                <a16:creationId xmlns:a16="http://schemas.microsoft.com/office/drawing/2014/main" id="{FA31637F-9DE0-4A85-A45B-257CF9D4CEF7}"/>
              </a:ext>
            </a:extLst>
          </p:cNvPr>
          <p:cNvSpPr>
            <a:spLocks noGrp="1"/>
          </p:cNvSpPr>
          <p:nvPr/>
        </p:nvSpPr>
        <p:spPr>
          <a:xfrm>
            <a:off x="723900" y="3724275"/>
            <a:ext cx="10058400" cy="342900"/>
          </a:xfrm>
          <a:prstGeom prst="roundRect">
            <a:avLst>
              <a:gd name="adj" fmla="val 22222"/>
            </a:avLst>
          </a:prstGeom>
          <a:solidFill>
            <a:srgbClr val="F9E4DE"/>
          </a:solidFill>
          <a:ln w="0">
            <a:noFill/>
          </a:ln>
        </p:spPr>
      </p:sp>
      <p:sp>
        <p:nvSpPr>
          <p:cNvPr id="52" name="Rectangle 51">
            <a:extLst>
              <a:ext uri="{FF2B5EF4-FFF2-40B4-BE49-F238E27FC236}">
                <a16:creationId xmlns:a16="http://schemas.microsoft.com/office/drawing/2014/main" id="{3A8A35CE-0A38-48C5-8FBF-E5E9FF3B5CE2}"/>
              </a:ext>
            </a:extLst>
          </p:cNvPr>
          <p:cNvSpPr>
            <a:spLocks noGrp="1"/>
          </p:cNvSpPr>
          <p:nvPr/>
        </p:nvSpPr>
        <p:spPr>
          <a:xfrm>
            <a:off x="914400" y="3810000"/>
            <a:ext cx="9677400" cy="171450"/>
          </a:xfrm>
          <a:prstGeom prst="rect">
            <a:avLst/>
          </a:prstGeom>
          <a:noFill/>
          <a:ln w="0">
            <a:noFill/>
          </a:ln>
        </p:spPr>
        <p:txBody>
          <a:bodyPr>
            <a:noAutofit/>
          </a:bodyPr>
          <a:lstStyle/>
          <a:p>
            <a:pPr algn="ctr">
              <a:buNone/>
              <a:defRPr sz="1125" b="1">
                <a:solidFill>
                  <a:srgbClr val="DE664C"/>
                </a:solidFill>
                <a:latin typeface="Arial"/>
                <a:ea typeface="Arial"/>
                <a:cs typeface="Arial"/>
              </a:defRPr>
            </a:pPr>
            <a:r>
              <a:rPr sz="1125" b="1">
                <a:solidFill>
                  <a:srgbClr val="DE664C"/>
                </a:solidFill>
                <a:latin typeface="Arial"/>
                <a:ea typeface="Arial"/>
                <a:cs typeface="Arial"/>
              </a:rPr>
              <a:t>ROUTE LOCK  |  Guidance and model output cannot change the selected care route</a:t>
            </a:r>
          </a:p>
        </p:txBody>
      </p:sp>
      <p:sp>
        <p:nvSpPr>
          <p:cNvPr id="53" name="Rectangle 52">
            <a:extLst>
              <a:ext uri="{FF2B5EF4-FFF2-40B4-BE49-F238E27FC236}">
                <a16:creationId xmlns:a16="http://schemas.microsoft.com/office/drawing/2014/main" id="{155D5982-10C9-4DC2-9748-B3F4E90CF30D}"/>
              </a:ext>
            </a:extLst>
          </p:cNvPr>
          <p:cNvSpPr>
            <a:spLocks noGrp="1"/>
          </p:cNvSpPr>
          <p:nvPr/>
        </p:nvSpPr>
        <p:spPr>
          <a:xfrm>
            <a:off x="1466850" y="4133850"/>
            <a:ext cx="8572500" cy="152400"/>
          </a:xfrm>
          <a:prstGeom prst="rect">
            <a:avLst/>
          </a:prstGeom>
          <a:noFill/>
          <a:ln w="0">
            <a:noFill/>
          </a:ln>
        </p:spPr>
        <p:txBody>
          <a:bodyPr>
            <a:noAutofit/>
          </a:bodyPr>
          <a:lstStyle/>
          <a:p>
            <a:pPr algn="ctr">
              <a:buNone/>
              <a:defRPr sz="900">
                <a:solidFill>
                  <a:srgbClr val="DCE4F3"/>
                </a:solidFill>
                <a:latin typeface="Arial"/>
                <a:ea typeface="Arial"/>
                <a:cs typeface="Arial"/>
              </a:defRPr>
            </a:pPr>
            <a:r>
              <a:rPr sz="900">
                <a:solidFill>
                  <a:srgbClr val="DCE4F3"/>
                </a:solidFill>
                <a:latin typeface="Arial"/>
                <a:ea typeface="Arial"/>
                <a:cs typeface="Arial"/>
              </a:rPr>
              <a:t>Optional voice and free-text notes provide context only. They do not determine the route.</a:t>
            </a:r>
          </a:p>
        </p:txBody>
      </p:sp>
      <p:sp>
        <p:nvSpPr>
          <p:cNvPr id="54" name="Rectangle 53">
            <a:extLst>
              <a:ext uri="{FF2B5EF4-FFF2-40B4-BE49-F238E27FC236}">
                <a16:creationId xmlns:a16="http://schemas.microsoft.com/office/drawing/2014/main" id="{4EB55AEE-5E93-4D1D-8DCA-ED21670866C4}"/>
              </a:ext>
            </a:extLst>
          </p:cNvPr>
          <p:cNvSpPr>
            <a:spLocks noGrp="1"/>
          </p:cNvSpPr>
          <p:nvPr/>
        </p:nvSpPr>
        <p:spPr>
          <a:xfrm>
            <a:off x="723900" y="4362450"/>
            <a:ext cx="2667000" cy="190500"/>
          </a:xfrm>
          <a:prstGeom prst="rect">
            <a:avLst/>
          </a:prstGeom>
          <a:noFill/>
          <a:ln w="0">
            <a:noFill/>
          </a:ln>
        </p:spPr>
        <p:txBody>
          <a:bodyPr>
            <a:noAutofit/>
          </a:bodyPr>
          <a:lstStyle/>
          <a:p>
            <a:pPr>
              <a:buNone/>
              <a:defRPr sz="1050" b="1">
                <a:solidFill>
                  <a:srgbClr val="E7A048"/>
                </a:solidFill>
                <a:latin typeface="Arial"/>
                <a:ea typeface="Arial"/>
                <a:cs typeface="Arial"/>
              </a:defRPr>
            </a:pPr>
            <a:r>
              <a:rPr sz="1050" b="1">
                <a:solidFill>
                  <a:srgbClr val="E7A048"/>
                </a:solidFill>
                <a:latin typeface="Arial"/>
                <a:ea typeface="Arial"/>
                <a:cs typeface="Arial"/>
              </a:rPr>
              <a:t>POST-ROUTE EXPLANATION</a:t>
            </a:r>
          </a:p>
        </p:txBody>
      </p:sp>
      <p:sp>
        <p:nvSpPr>
          <p:cNvPr id="55" name="Rectangle: Rounded Corners 54">
            <a:extLst>
              <a:ext uri="{FF2B5EF4-FFF2-40B4-BE49-F238E27FC236}">
                <a16:creationId xmlns:a16="http://schemas.microsoft.com/office/drawing/2014/main" id="{EE33D6EC-A0DC-4546-AF5F-F035CDCF64C4}"/>
              </a:ext>
            </a:extLst>
          </p:cNvPr>
          <p:cNvSpPr>
            <a:spLocks noGrp="1"/>
          </p:cNvSpPr>
          <p:nvPr/>
        </p:nvSpPr>
        <p:spPr>
          <a:xfrm>
            <a:off x="723900" y="4695825"/>
            <a:ext cx="2476500" cy="1009650"/>
          </a:xfrm>
          <a:prstGeom prst="roundRect">
            <a:avLst>
              <a:gd name="adj" fmla="val 7547"/>
            </a:avLst>
          </a:prstGeom>
          <a:solidFill>
            <a:srgbClr val="237A7A"/>
          </a:solidFill>
          <a:ln w="0">
            <a:noFill/>
          </a:ln>
        </p:spPr>
      </p:sp>
      <p:sp>
        <p:nvSpPr>
          <p:cNvPr id="56" name="Rectangle 55">
            <a:extLst>
              <a:ext uri="{FF2B5EF4-FFF2-40B4-BE49-F238E27FC236}">
                <a16:creationId xmlns:a16="http://schemas.microsoft.com/office/drawing/2014/main" id="{6B339183-94A2-4323-A8EF-10A25761304D}"/>
              </a:ext>
            </a:extLst>
          </p:cNvPr>
          <p:cNvSpPr>
            <a:spLocks noGrp="1"/>
          </p:cNvSpPr>
          <p:nvPr/>
        </p:nvSpPr>
        <p:spPr>
          <a:xfrm>
            <a:off x="895350" y="4905375"/>
            <a:ext cx="2133600" cy="228600"/>
          </a:xfrm>
          <a:prstGeom prst="rect">
            <a:avLst/>
          </a:prstGeom>
          <a:noFill/>
          <a:ln w="0">
            <a:noFill/>
          </a:ln>
        </p:spPr>
        <p:txBody>
          <a:bodyPr>
            <a:noAutofit/>
          </a:bodyPr>
          <a:lstStyle/>
          <a:p>
            <a:pPr algn="ctr">
              <a:buNone/>
              <a:defRPr sz="1500" b="1">
                <a:solidFill>
                  <a:srgbClr val="FFFFFF"/>
                </a:solidFill>
                <a:latin typeface="Arial"/>
                <a:ea typeface="Arial"/>
                <a:cs typeface="Arial"/>
              </a:defRPr>
            </a:pPr>
            <a:r>
              <a:rPr sz="1500" b="1">
                <a:solidFill>
                  <a:srgbClr val="FFFFFF"/>
                </a:solidFill>
                <a:latin typeface="Arial"/>
                <a:ea typeface="Arial"/>
                <a:cs typeface="Arial"/>
              </a:rPr>
              <a:t>PostgreSQL RAG</a:t>
            </a:r>
          </a:p>
        </p:txBody>
      </p:sp>
      <p:sp>
        <p:nvSpPr>
          <p:cNvPr id="57" name="Rectangle 56">
            <a:extLst>
              <a:ext uri="{FF2B5EF4-FFF2-40B4-BE49-F238E27FC236}">
                <a16:creationId xmlns:a16="http://schemas.microsoft.com/office/drawing/2014/main" id="{BFAD9299-93F1-4ED8-B35E-EE62A6F56EDF}"/>
              </a:ext>
            </a:extLst>
          </p:cNvPr>
          <p:cNvSpPr>
            <a:spLocks noGrp="1"/>
          </p:cNvSpPr>
          <p:nvPr/>
        </p:nvSpPr>
        <p:spPr>
          <a:xfrm>
            <a:off x="895350" y="5219700"/>
            <a:ext cx="2133600" cy="323850"/>
          </a:xfrm>
          <a:prstGeom prst="rect">
            <a:avLst/>
          </a:prstGeom>
          <a:noFill/>
          <a:ln w="0">
            <a:noFill/>
          </a:ln>
        </p:spPr>
        <p:txBody>
          <a:bodyPr>
            <a:noAutofit/>
          </a:bodyPr>
          <a:lstStyle/>
          <a:p>
            <a:pPr algn="ctr">
              <a:buNone/>
              <a:defRPr sz="1125">
                <a:solidFill>
                  <a:srgbClr val="FFFFFF"/>
                </a:solidFill>
                <a:latin typeface="Arial"/>
                <a:ea typeface="Arial"/>
                <a:cs typeface="Arial"/>
              </a:defRPr>
            </a:pPr>
            <a:r>
              <a:rPr sz="1125">
                <a:solidFill>
                  <a:srgbClr val="FFFFFF"/>
                </a:solidFill>
                <a:latin typeface="Arial"/>
                <a:ea typeface="Arial"/>
                <a:cs typeface="Arial"/>
              </a:rPr>
              <a:t>Approved guidance</a:t>
            </a:r>
          </a:p>
          <a:p>
            <a:pPr algn="ctr">
              <a:buNone/>
              <a:defRPr sz="1125">
                <a:solidFill>
                  <a:srgbClr val="FFFFFF"/>
                </a:solidFill>
                <a:latin typeface="Arial"/>
                <a:ea typeface="Arial"/>
                <a:cs typeface="Arial"/>
              </a:defRPr>
            </a:pPr>
            <a:r>
              <a:rPr sz="1125">
                <a:solidFill>
                  <a:srgbClr val="FFFFFF"/>
                </a:solidFill>
                <a:latin typeface="Arial"/>
                <a:ea typeface="Arial"/>
                <a:cs typeface="Arial"/>
              </a:rPr>
              <a:t>for the locked route</a:t>
            </a:r>
          </a:p>
        </p:txBody>
      </p:sp>
      <p:sp>
        <p:nvSpPr>
          <p:cNvPr id="58" name="Arrow: Right 57">
            <a:extLst>
              <a:ext uri="{FF2B5EF4-FFF2-40B4-BE49-F238E27FC236}">
                <a16:creationId xmlns:a16="http://schemas.microsoft.com/office/drawing/2014/main" id="{89648EDE-976B-4F1D-9536-B335CF7DD497}"/>
              </a:ext>
            </a:extLst>
          </p:cNvPr>
          <p:cNvSpPr>
            <a:spLocks noGrp="1"/>
          </p:cNvSpPr>
          <p:nvPr/>
        </p:nvSpPr>
        <p:spPr>
          <a:xfrm>
            <a:off x="3371850" y="5114925"/>
            <a:ext cx="342900" cy="171450"/>
          </a:xfrm>
          <a:prstGeom prst="rightArrow">
            <a:avLst/>
          </a:prstGeom>
          <a:solidFill>
            <a:srgbClr val="E7A048"/>
          </a:solidFill>
          <a:ln w="0">
            <a:noFill/>
          </a:ln>
        </p:spPr>
      </p:sp>
      <p:sp>
        <p:nvSpPr>
          <p:cNvPr id="59" name="Rectangle: Rounded Corners 58">
            <a:extLst>
              <a:ext uri="{FF2B5EF4-FFF2-40B4-BE49-F238E27FC236}">
                <a16:creationId xmlns:a16="http://schemas.microsoft.com/office/drawing/2014/main" id="{E74FD7DA-4B62-45FE-97BE-E5F52C0F3FC5}"/>
              </a:ext>
            </a:extLst>
          </p:cNvPr>
          <p:cNvSpPr>
            <a:spLocks noGrp="1"/>
          </p:cNvSpPr>
          <p:nvPr/>
        </p:nvSpPr>
        <p:spPr>
          <a:xfrm>
            <a:off x="4038600" y="4695825"/>
            <a:ext cx="2476500" cy="1009650"/>
          </a:xfrm>
          <a:prstGeom prst="roundRect">
            <a:avLst>
              <a:gd name="adj" fmla="val 7547"/>
            </a:avLst>
          </a:prstGeom>
          <a:solidFill>
            <a:srgbClr val="4656A8"/>
          </a:solidFill>
          <a:ln w="0">
            <a:noFill/>
          </a:ln>
        </p:spPr>
      </p:sp>
      <p:sp>
        <p:nvSpPr>
          <p:cNvPr id="60" name="Rectangle 59">
            <a:extLst>
              <a:ext uri="{FF2B5EF4-FFF2-40B4-BE49-F238E27FC236}">
                <a16:creationId xmlns:a16="http://schemas.microsoft.com/office/drawing/2014/main" id="{418E9FBA-6456-4C29-9332-D9B521CDC59F}"/>
              </a:ext>
            </a:extLst>
          </p:cNvPr>
          <p:cNvSpPr>
            <a:spLocks noGrp="1"/>
          </p:cNvSpPr>
          <p:nvPr/>
        </p:nvSpPr>
        <p:spPr>
          <a:xfrm>
            <a:off x="4210050" y="4905375"/>
            <a:ext cx="2133600" cy="228600"/>
          </a:xfrm>
          <a:prstGeom prst="rect">
            <a:avLst/>
          </a:prstGeom>
          <a:noFill/>
          <a:ln w="0">
            <a:noFill/>
          </a:ln>
        </p:spPr>
        <p:txBody>
          <a:bodyPr>
            <a:noAutofit/>
          </a:bodyPr>
          <a:lstStyle/>
          <a:p>
            <a:pPr algn="ctr">
              <a:buNone/>
              <a:defRPr sz="1500" b="1">
                <a:solidFill>
                  <a:srgbClr val="FFFFFF"/>
                </a:solidFill>
                <a:latin typeface="Arial"/>
                <a:ea typeface="Arial"/>
                <a:cs typeface="Arial"/>
              </a:defRPr>
            </a:pPr>
            <a:r>
              <a:rPr sz="1500" b="1">
                <a:solidFill>
                  <a:srgbClr val="FFFFFF"/>
                </a:solidFill>
                <a:latin typeface="Arial"/>
                <a:ea typeface="Arial"/>
                <a:cs typeface="Arial"/>
              </a:rPr>
              <a:t>Local Ollama</a:t>
            </a:r>
          </a:p>
        </p:txBody>
      </p:sp>
      <p:sp>
        <p:nvSpPr>
          <p:cNvPr id="61" name="Rectangle 60">
            <a:extLst>
              <a:ext uri="{FF2B5EF4-FFF2-40B4-BE49-F238E27FC236}">
                <a16:creationId xmlns:a16="http://schemas.microsoft.com/office/drawing/2014/main" id="{53519254-ACBE-4594-8220-5E8BDEE9B601}"/>
              </a:ext>
            </a:extLst>
          </p:cNvPr>
          <p:cNvSpPr>
            <a:spLocks noGrp="1"/>
          </p:cNvSpPr>
          <p:nvPr/>
        </p:nvSpPr>
        <p:spPr>
          <a:xfrm>
            <a:off x="4210050" y="5219700"/>
            <a:ext cx="2133600" cy="323850"/>
          </a:xfrm>
          <a:prstGeom prst="rect">
            <a:avLst/>
          </a:prstGeom>
          <a:noFill/>
          <a:ln w="0">
            <a:noFill/>
          </a:ln>
        </p:spPr>
        <p:txBody>
          <a:bodyPr>
            <a:noAutofit/>
          </a:bodyPr>
          <a:lstStyle/>
          <a:p>
            <a:pPr algn="ctr">
              <a:buNone/>
              <a:defRPr sz="1125">
                <a:solidFill>
                  <a:srgbClr val="FFFFFF"/>
                </a:solidFill>
                <a:latin typeface="Arial"/>
                <a:ea typeface="Arial"/>
                <a:cs typeface="Arial"/>
              </a:defRPr>
            </a:pPr>
            <a:r>
              <a:rPr sz="1125">
                <a:solidFill>
                  <a:srgbClr val="FFFFFF"/>
                </a:solidFill>
                <a:latin typeface="Arial"/>
                <a:ea typeface="Arial"/>
                <a:cs typeface="Arial"/>
              </a:rPr>
              <a:t>If enabled and available,</a:t>
            </a:r>
          </a:p>
          <a:p>
            <a:pPr algn="ctr">
              <a:buNone/>
              <a:defRPr sz="1125">
                <a:solidFill>
                  <a:srgbClr val="FFFFFF"/>
                </a:solidFill>
                <a:latin typeface="Arial"/>
                <a:ea typeface="Arial"/>
                <a:cs typeface="Arial"/>
              </a:defRPr>
            </a:pPr>
            <a:r>
              <a:rPr sz="1125">
                <a:solidFill>
                  <a:srgbClr val="FFFFFF"/>
                </a:solidFill>
                <a:latin typeface="Arial"/>
                <a:ea typeface="Arial"/>
                <a:cs typeface="Arial"/>
              </a:rPr>
              <a:t>creates a Bengali explanation</a:t>
            </a:r>
          </a:p>
        </p:txBody>
      </p:sp>
      <p:sp>
        <p:nvSpPr>
          <p:cNvPr id="62" name="Arrow: Right 61">
            <a:extLst>
              <a:ext uri="{FF2B5EF4-FFF2-40B4-BE49-F238E27FC236}">
                <a16:creationId xmlns:a16="http://schemas.microsoft.com/office/drawing/2014/main" id="{10524C5E-FA1E-4290-B94C-939EECD7D788}"/>
              </a:ext>
            </a:extLst>
          </p:cNvPr>
          <p:cNvSpPr>
            <a:spLocks noGrp="1"/>
          </p:cNvSpPr>
          <p:nvPr/>
        </p:nvSpPr>
        <p:spPr>
          <a:xfrm>
            <a:off x="6686550" y="5114925"/>
            <a:ext cx="342900" cy="171450"/>
          </a:xfrm>
          <a:prstGeom prst="rightArrow">
            <a:avLst/>
          </a:prstGeom>
          <a:solidFill>
            <a:srgbClr val="E7A048"/>
          </a:solidFill>
          <a:ln w="0">
            <a:noFill/>
          </a:ln>
        </p:spPr>
      </p:sp>
      <p:sp>
        <p:nvSpPr>
          <p:cNvPr id="63" name="Rectangle: Rounded Corners 62">
            <a:extLst>
              <a:ext uri="{FF2B5EF4-FFF2-40B4-BE49-F238E27FC236}">
                <a16:creationId xmlns:a16="http://schemas.microsoft.com/office/drawing/2014/main" id="{94074482-00DA-431E-8AD0-C483FC69DA4A}"/>
              </a:ext>
            </a:extLst>
          </p:cNvPr>
          <p:cNvSpPr>
            <a:spLocks noGrp="1"/>
          </p:cNvSpPr>
          <p:nvPr/>
        </p:nvSpPr>
        <p:spPr>
          <a:xfrm>
            <a:off x="7353300" y="4695825"/>
            <a:ext cx="3429000" cy="1009650"/>
          </a:xfrm>
          <a:prstGeom prst="roundRect">
            <a:avLst>
              <a:gd name="adj" fmla="val 7547"/>
            </a:avLst>
          </a:prstGeom>
          <a:solidFill>
            <a:srgbClr val="E7A048"/>
          </a:solidFill>
          <a:ln w="0">
            <a:noFill/>
          </a:ln>
        </p:spPr>
      </p:sp>
      <p:sp>
        <p:nvSpPr>
          <p:cNvPr id="64" name="Rectangle 63">
            <a:extLst>
              <a:ext uri="{FF2B5EF4-FFF2-40B4-BE49-F238E27FC236}">
                <a16:creationId xmlns:a16="http://schemas.microsoft.com/office/drawing/2014/main" id="{A3A7D547-CE33-4E2A-9634-671165664B78}"/>
              </a:ext>
            </a:extLst>
          </p:cNvPr>
          <p:cNvSpPr>
            <a:spLocks noGrp="1"/>
          </p:cNvSpPr>
          <p:nvPr/>
        </p:nvSpPr>
        <p:spPr>
          <a:xfrm>
            <a:off x="7524750" y="4905375"/>
            <a:ext cx="3086100" cy="228600"/>
          </a:xfrm>
          <a:prstGeom prst="rect">
            <a:avLst/>
          </a:prstGeom>
          <a:noFill/>
          <a:ln w="0">
            <a:noFill/>
          </a:ln>
        </p:spPr>
        <p:txBody>
          <a:bodyPr>
            <a:noAutofit/>
          </a:bodyPr>
          <a:lstStyle/>
          <a:p>
            <a:pPr algn="ctr">
              <a:buNone/>
              <a:defRPr sz="1500" b="1">
                <a:solidFill>
                  <a:srgbClr val="FFFFFF"/>
                </a:solidFill>
                <a:latin typeface="Arial"/>
                <a:ea typeface="Arial"/>
                <a:cs typeface="Arial"/>
              </a:defRPr>
            </a:pPr>
            <a:r>
              <a:rPr sz="1500" b="1">
                <a:solidFill>
                  <a:srgbClr val="FFFFFF"/>
                </a:solidFill>
                <a:latin typeface="Arial"/>
                <a:ea typeface="Arial"/>
                <a:cs typeface="Arial"/>
              </a:rPr>
              <a:t>Java deterministic engine</a:t>
            </a:r>
          </a:p>
        </p:txBody>
      </p:sp>
      <p:sp>
        <p:nvSpPr>
          <p:cNvPr id="65" name="Rectangle 64">
            <a:extLst>
              <a:ext uri="{FF2B5EF4-FFF2-40B4-BE49-F238E27FC236}">
                <a16:creationId xmlns:a16="http://schemas.microsoft.com/office/drawing/2014/main" id="{4E1F98ED-8EA4-477E-85DC-CCDCA7E56518}"/>
              </a:ext>
            </a:extLst>
          </p:cNvPr>
          <p:cNvSpPr>
            <a:spLocks noGrp="1"/>
          </p:cNvSpPr>
          <p:nvPr/>
        </p:nvSpPr>
        <p:spPr>
          <a:xfrm>
            <a:off x="7524750" y="5219700"/>
            <a:ext cx="3086100" cy="323850"/>
          </a:xfrm>
          <a:prstGeom prst="rect">
            <a:avLst/>
          </a:prstGeom>
          <a:noFill/>
          <a:ln w="0">
            <a:noFill/>
          </a:ln>
        </p:spPr>
        <p:txBody>
          <a:bodyPr>
            <a:noAutofit/>
          </a:bodyPr>
          <a:lstStyle/>
          <a:p>
            <a:pPr algn="ctr">
              <a:buNone/>
              <a:defRPr sz="1125">
                <a:solidFill>
                  <a:srgbClr val="FFFFFF"/>
                </a:solidFill>
                <a:latin typeface="Arial"/>
                <a:ea typeface="Arial"/>
                <a:cs typeface="Arial"/>
              </a:defRPr>
            </a:pPr>
            <a:r>
              <a:rPr sz="1125">
                <a:solidFill>
                  <a:srgbClr val="FFFFFF"/>
                </a:solidFill>
                <a:latin typeface="Arial"/>
                <a:ea typeface="Arial"/>
                <a:cs typeface="Arial"/>
              </a:rPr>
              <a:t>Safe explanation or approved fallback</a:t>
            </a:r>
          </a:p>
        </p:txBody>
      </p:sp>
      <p:sp>
        <p:nvSpPr>
          <p:cNvPr id="66" name="Rectangle 65">
            <a:extLst>
              <a:ext uri="{FF2B5EF4-FFF2-40B4-BE49-F238E27FC236}">
                <a16:creationId xmlns:a16="http://schemas.microsoft.com/office/drawing/2014/main" id="{BAADF5DB-D52C-4541-A6CC-80A3190CA2EC}"/>
              </a:ext>
            </a:extLst>
          </p:cNvPr>
          <p:cNvSpPr>
            <a:spLocks noGrp="1"/>
          </p:cNvSpPr>
          <p:nvPr/>
        </p:nvSpPr>
        <p:spPr>
          <a:xfrm>
            <a:off x="1619250" y="6096000"/>
            <a:ext cx="8953500" cy="247650"/>
          </a:xfrm>
          <a:prstGeom prst="rect">
            <a:avLst/>
          </a:prstGeom>
          <a:noFill/>
          <a:ln w="0">
            <a:noFill/>
          </a:ln>
        </p:spPr>
        <p:txBody>
          <a:bodyPr>
            <a:noAutofit/>
          </a:bodyPr>
          <a:lstStyle/>
          <a:p>
            <a:pPr algn="ctr">
              <a:buNone/>
              <a:defRPr sz="1350" b="1">
                <a:solidFill>
                  <a:srgbClr val="DCE4F3"/>
                </a:solidFill>
                <a:latin typeface="Arial"/>
                <a:ea typeface="Arial"/>
                <a:cs typeface="Arial"/>
              </a:defRPr>
            </a:pPr>
            <a:r>
              <a:rPr sz="1350" b="1">
                <a:solidFill>
                  <a:srgbClr val="DCE4F3"/>
                </a:solidFill>
                <a:latin typeface="Arial"/>
                <a:ea typeface="Arial"/>
                <a:cs typeface="Arial"/>
              </a:rPr>
              <a:t>Ollama receives approved guidance and never decides, changes, or diagnoses the route.</a:t>
            </a:r>
          </a:p>
        </p:txBody>
      </p:sp>
      <p:sp>
        <p:nvSpPr>
          <p:cNvPr id="67" name="Rectangle 66">
            <a:extLst>
              <a:ext uri="{FF2B5EF4-FFF2-40B4-BE49-F238E27FC236}">
                <a16:creationId xmlns:a16="http://schemas.microsoft.com/office/drawing/2014/main" id="{6792340E-FD18-4ED5-978F-2CBEC442BCB7}"/>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C8D4EE"/>
                </a:solidFill>
                <a:latin typeface="Arial"/>
                <a:ea typeface="Arial"/>
                <a:cs typeface="Arial"/>
              </a:defRPr>
            </a:pPr>
            <a:r>
              <a:rPr sz="900">
                <a:solidFill>
                  <a:srgbClr val="C8D4EE"/>
                </a:solidFill>
                <a:latin typeface="Arial"/>
                <a:ea typeface="Arial"/>
                <a:cs typeface="Arial"/>
              </a:rPr>
              <a:t>3</a:t>
            </a:r>
          </a:p>
        </p:txBody>
      </p:sp>
    </p:spTree>
    <p:extLst>
      <p:ext uri="{BB962C8B-B14F-4D97-AF65-F5344CB8AC3E}">
        <p14:creationId xmlns:p14="http://schemas.microsoft.com/office/powerpoint/2010/main" val="18500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2B39"/>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69BC3DC9-1539-4646-9C90-E2F69F9266A9}"/>
              </a:ext>
            </a:extLst>
          </p:cNvPr>
          <p:cNvSpPr>
            <a:spLocks noGrp="1"/>
          </p:cNvSpPr>
          <p:nvPr/>
        </p:nvSpPr>
        <p:spPr>
          <a:xfrm>
            <a:off x="704850" y="485775"/>
            <a:ext cx="428625" cy="190500"/>
          </a:xfrm>
          <a:prstGeom prst="rect">
            <a:avLst/>
          </a:prstGeom>
          <a:noFill/>
          <a:ln w="0">
            <a:noFill/>
          </a:ln>
        </p:spPr>
        <p:txBody>
          <a:bodyPr>
            <a:normAutofit fontScale="72222"/>
          </a:bodyPr>
          <a:lstStyle/>
          <a:p>
            <a:pPr>
              <a:buNone/>
              <a:defRPr sz="900" b="1">
                <a:solidFill>
                  <a:srgbClr val="00A28F"/>
                </a:solidFill>
                <a:latin typeface="Arial"/>
                <a:ea typeface="Arial"/>
                <a:cs typeface="Arial"/>
              </a:defRPr>
            </a:pPr>
            <a:r>
              <a:rPr sz="900" b="1">
                <a:solidFill>
                  <a:srgbClr val="00A28F"/>
                </a:solidFill>
                <a:latin typeface="Arial"/>
                <a:ea typeface="Arial"/>
                <a:cs typeface="Arial"/>
              </a:rPr>
              <a:t>04</a:t>
            </a:r>
          </a:p>
        </p:txBody>
      </p:sp>
      <p:sp>
        <p:nvSpPr>
          <p:cNvPr id="2" name="Rectangle 1">
            <a:extLst>
              <a:ext uri="{FF2B5EF4-FFF2-40B4-BE49-F238E27FC236}">
                <a16:creationId xmlns:a16="http://schemas.microsoft.com/office/drawing/2014/main" id="{F8A62CD9-2B05-41C9-A2F5-FBB9DB33404B}"/>
              </a:ext>
            </a:extLst>
          </p:cNvPr>
          <p:cNvSpPr>
            <a:spLocks noGrp="1"/>
          </p:cNvSpPr>
          <p:nvPr/>
        </p:nvSpPr>
        <p:spPr>
          <a:xfrm>
            <a:off x="704850" y="781050"/>
            <a:ext cx="6191250" cy="438150"/>
          </a:xfrm>
          <a:prstGeom prst="rect">
            <a:avLst/>
          </a:prstGeom>
          <a:noFill/>
          <a:ln w="0">
            <a:noFill/>
          </a:ln>
        </p:spPr>
        <p:txBody>
          <a:bodyPr>
            <a:normAutofit fontScale="89216"/>
          </a:bodyPr>
          <a:lstStyle/>
          <a:p>
            <a:pPr>
              <a:buNone/>
              <a:defRPr sz="2550" b="1">
                <a:solidFill>
                  <a:srgbClr val="FFFFFF"/>
                </a:solidFill>
                <a:latin typeface="Arial"/>
                <a:ea typeface="Arial"/>
                <a:cs typeface="Arial"/>
              </a:defRPr>
            </a:pPr>
            <a:r>
              <a:rPr sz="2550" b="1">
                <a:solidFill>
                  <a:srgbClr val="FFFFFF"/>
                </a:solidFill>
                <a:latin typeface="Arial"/>
                <a:ea typeface="Arial"/>
                <a:cs typeface="Arial"/>
              </a:rPr>
              <a:t>Current implementation</a:t>
            </a:r>
          </a:p>
        </p:txBody>
      </p:sp>
      <p:sp>
        <p:nvSpPr>
          <p:cNvPr id="3" name="Rectangle 2">
            <a:extLst>
              <a:ext uri="{FF2B5EF4-FFF2-40B4-BE49-F238E27FC236}">
                <a16:creationId xmlns:a16="http://schemas.microsoft.com/office/drawing/2014/main" id="{B9EDFAFE-9CA0-42D2-B4FF-FEB5E59C2191}"/>
              </a:ext>
            </a:extLst>
          </p:cNvPr>
          <p:cNvSpPr>
            <a:spLocks noGrp="1"/>
          </p:cNvSpPr>
          <p:nvPr/>
        </p:nvSpPr>
        <p:spPr>
          <a:xfrm>
            <a:off x="723900" y="1323975"/>
            <a:ext cx="8096250" cy="238125"/>
          </a:xfrm>
          <a:prstGeom prst="rect">
            <a:avLst/>
          </a:prstGeom>
          <a:noFill/>
          <a:ln w="0">
            <a:noFill/>
          </a:ln>
        </p:spPr>
        <p:txBody>
          <a:bodyPr>
            <a:normAutofit fontScale="80208"/>
          </a:bodyPr>
          <a:lstStyle/>
          <a:p>
            <a:pPr>
              <a:buNone/>
              <a:defRPr sz="1200" b="0">
                <a:solidFill>
                  <a:srgbClr val="BFD8D5"/>
                </a:solidFill>
                <a:latin typeface="Arial"/>
                <a:ea typeface="Arial"/>
                <a:cs typeface="Arial"/>
              </a:defRPr>
            </a:pPr>
            <a:r>
              <a:rPr sz="1200" b="0">
                <a:solidFill>
                  <a:srgbClr val="BFD8D5"/>
                </a:solidFill>
                <a:latin typeface="Arial"/>
                <a:ea typeface="Arial"/>
                <a:cs typeface="Arial"/>
              </a:rPr>
              <a:t>The capstone demonstrates a working local MVP with explicit safety limits</a:t>
            </a:r>
          </a:p>
        </p:txBody>
      </p:sp>
      <p:sp>
        <p:nvSpPr>
          <p:cNvPr id="4" name="Rectangle 3">
            <a:extLst>
              <a:ext uri="{FF2B5EF4-FFF2-40B4-BE49-F238E27FC236}">
                <a16:creationId xmlns:a16="http://schemas.microsoft.com/office/drawing/2014/main" id="{69F39D90-4A72-441C-8601-5B4F9B66A69F}"/>
              </a:ext>
            </a:extLst>
          </p:cNvPr>
          <p:cNvSpPr>
            <a:spLocks noGrp="1"/>
          </p:cNvSpPr>
          <p:nvPr/>
        </p:nvSpPr>
        <p:spPr>
          <a:xfrm>
            <a:off x="704850" y="1752600"/>
            <a:ext cx="1066800" cy="47625"/>
          </a:xfrm>
          <a:prstGeom prst="rect">
            <a:avLst/>
          </a:prstGeom>
          <a:solidFill>
            <a:srgbClr val="00A28F"/>
          </a:solidFill>
          <a:ln w="9525">
            <a:solidFill>
              <a:srgbClr val="00A28F"/>
            </a:solidFill>
          </a:ln>
        </p:spPr>
      </p:sp>
      <p:sp>
        <p:nvSpPr>
          <p:cNvPr id="5" name="Rectangle 4">
            <a:extLst>
              <a:ext uri="{FF2B5EF4-FFF2-40B4-BE49-F238E27FC236}">
                <a16:creationId xmlns:a16="http://schemas.microsoft.com/office/drawing/2014/main" id="{3BD68114-626D-4F88-A9F1-749329E17234}"/>
              </a:ext>
            </a:extLst>
          </p:cNvPr>
          <p:cNvSpPr>
            <a:spLocks noGrp="1"/>
          </p:cNvSpPr>
          <p:nvPr/>
        </p:nvSpPr>
        <p:spPr>
          <a:xfrm>
            <a:off x="723900" y="2286000"/>
            <a:ext cx="1428750" cy="171450"/>
          </a:xfrm>
          <a:prstGeom prst="rect">
            <a:avLst/>
          </a:prstGeom>
          <a:noFill/>
          <a:ln w="0">
            <a:noFill/>
          </a:ln>
        </p:spPr>
        <p:txBody>
          <a:bodyPr>
            <a:normAutofit fontScale="63636"/>
          </a:bodyPr>
          <a:lstStyle/>
          <a:p>
            <a:pPr>
              <a:buNone/>
              <a:defRPr sz="825" b="1">
                <a:solidFill>
                  <a:srgbClr val="00A28F"/>
                </a:solidFill>
                <a:latin typeface="Arial"/>
                <a:ea typeface="Arial"/>
                <a:cs typeface="Arial"/>
              </a:defRPr>
            </a:pPr>
            <a:r>
              <a:rPr sz="825" b="1">
                <a:solidFill>
                  <a:srgbClr val="00A28F"/>
                </a:solidFill>
                <a:latin typeface="Arial"/>
                <a:ea typeface="Arial"/>
                <a:cs typeface="Arial"/>
              </a:rPr>
              <a:t>LIVE STACK</a:t>
            </a:r>
          </a:p>
        </p:txBody>
      </p:sp>
      <p:sp>
        <p:nvSpPr>
          <p:cNvPr id="6" name="Rectangle: Rounded Corners 5">
            <a:extLst>
              <a:ext uri="{FF2B5EF4-FFF2-40B4-BE49-F238E27FC236}">
                <a16:creationId xmlns:a16="http://schemas.microsoft.com/office/drawing/2014/main" id="{6686B162-C3FB-4F6A-AB23-2AB69A126C55}"/>
              </a:ext>
            </a:extLst>
          </p:cNvPr>
          <p:cNvSpPr>
            <a:spLocks noGrp="1"/>
          </p:cNvSpPr>
          <p:nvPr/>
        </p:nvSpPr>
        <p:spPr>
          <a:xfrm>
            <a:off x="742950" y="2733675"/>
            <a:ext cx="123825" cy="123825"/>
          </a:xfrm>
          <a:prstGeom prst="roundRect">
            <a:avLst>
              <a:gd name="adj" fmla="val 50000"/>
            </a:avLst>
          </a:prstGeom>
          <a:solidFill>
            <a:srgbClr val="92C8C1"/>
          </a:solidFill>
          <a:ln w="9525">
            <a:solidFill>
              <a:srgbClr val="92C8C1"/>
            </a:solidFill>
          </a:ln>
        </p:spPr>
      </p:sp>
      <p:sp>
        <p:nvSpPr>
          <p:cNvPr id="7" name="Rectangle 6">
            <a:extLst>
              <a:ext uri="{FF2B5EF4-FFF2-40B4-BE49-F238E27FC236}">
                <a16:creationId xmlns:a16="http://schemas.microsoft.com/office/drawing/2014/main" id="{2F654787-8541-4310-BD08-350326DEE809}"/>
              </a:ext>
            </a:extLst>
          </p:cNvPr>
          <p:cNvSpPr>
            <a:spLocks noGrp="1"/>
          </p:cNvSpPr>
          <p:nvPr/>
        </p:nvSpPr>
        <p:spPr>
          <a:xfrm>
            <a:off x="1066800" y="2667000"/>
            <a:ext cx="2857500" cy="228600"/>
          </a:xfrm>
          <a:prstGeom prst="rect">
            <a:avLst/>
          </a:prstGeom>
          <a:noFill/>
          <a:ln w="0">
            <a:noFill/>
          </a:ln>
        </p:spPr>
        <p:txBody>
          <a:bodyPr>
            <a:normAutofit fontScale="66667"/>
          </a:bodyPr>
          <a:lstStyle/>
          <a:p>
            <a:pPr>
              <a:buNone/>
              <a:defRPr sz="1350" b="1">
                <a:solidFill>
                  <a:srgbClr val="FFFFFF"/>
                </a:solidFill>
                <a:latin typeface="Arial"/>
                <a:ea typeface="Arial"/>
                <a:cs typeface="Arial"/>
              </a:defRPr>
            </a:pPr>
            <a:r>
              <a:rPr sz="1350" b="1">
                <a:solidFill>
                  <a:srgbClr val="FFFFFF"/>
                </a:solidFill>
                <a:latin typeface="Arial"/>
                <a:ea typeface="Arial"/>
                <a:cs typeface="Arial"/>
              </a:rPr>
              <a:t>React / TypeScript</a:t>
            </a:r>
          </a:p>
        </p:txBody>
      </p:sp>
      <p:sp>
        <p:nvSpPr>
          <p:cNvPr id="8" name="Rectangle 7">
            <a:extLst>
              <a:ext uri="{FF2B5EF4-FFF2-40B4-BE49-F238E27FC236}">
                <a16:creationId xmlns:a16="http://schemas.microsoft.com/office/drawing/2014/main" id="{BC868C80-CEE3-4FA1-9252-17B0053946BC}"/>
              </a:ext>
            </a:extLst>
          </p:cNvPr>
          <p:cNvSpPr>
            <a:spLocks noGrp="1"/>
          </p:cNvSpPr>
          <p:nvPr/>
        </p:nvSpPr>
        <p:spPr>
          <a:xfrm>
            <a:off x="1066800" y="2933700"/>
            <a:ext cx="4333875" cy="190500"/>
          </a:xfrm>
          <a:prstGeom prst="rect">
            <a:avLst/>
          </a:prstGeom>
          <a:noFill/>
          <a:ln w="0">
            <a:noFill/>
          </a:ln>
        </p:spPr>
        <p:txBody>
          <a:bodyPr>
            <a:normAutofit fontScale="61905"/>
          </a:bodyPr>
          <a:lstStyle/>
          <a:p>
            <a:pPr>
              <a:buNone/>
              <a:defRPr sz="1050" b="0">
                <a:solidFill>
                  <a:srgbClr val="BFD8D5"/>
                </a:solidFill>
                <a:latin typeface="Arial"/>
                <a:ea typeface="Arial"/>
                <a:cs typeface="Arial"/>
              </a:defRPr>
            </a:pPr>
            <a:r>
              <a:rPr sz="1050" b="0">
                <a:solidFill>
                  <a:srgbClr val="BFD8D5"/>
                </a:solidFill>
                <a:latin typeface="Arial"/>
                <a:ea typeface="Arial"/>
                <a:cs typeface="Arial"/>
              </a:rPr>
              <a:t>Bengali-first frontend and optional browser speech input</a:t>
            </a:r>
          </a:p>
        </p:txBody>
      </p:sp>
      <p:sp>
        <p:nvSpPr>
          <p:cNvPr id="9" name="Rectangle: Rounded Corners 8">
            <a:extLst>
              <a:ext uri="{FF2B5EF4-FFF2-40B4-BE49-F238E27FC236}">
                <a16:creationId xmlns:a16="http://schemas.microsoft.com/office/drawing/2014/main" id="{3284A156-CA81-4736-BB24-1C0341F89B50}"/>
              </a:ext>
            </a:extLst>
          </p:cNvPr>
          <p:cNvSpPr>
            <a:spLocks noGrp="1"/>
          </p:cNvSpPr>
          <p:nvPr/>
        </p:nvSpPr>
        <p:spPr>
          <a:xfrm>
            <a:off x="742950" y="3419475"/>
            <a:ext cx="123825" cy="123825"/>
          </a:xfrm>
          <a:prstGeom prst="roundRect">
            <a:avLst>
              <a:gd name="adj" fmla="val 50000"/>
            </a:avLst>
          </a:prstGeom>
          <a:solidFill>
            <a:srgbClr val="00A28F"/>
          </a:solidFill>
          <a:ln w="9525">
            <a:solidFill>
              <a:srgbClr val="00A28F"/>
            </a:solidFill>
          </a:ln>
        </p:spPr>
      </p:sp>
      <p:sp>
        <p:nvSpPr>
          <p:cNvPr id="10" name="Rectangle 9">
            <a:extLst>
              <a:ext uri="{FF2B5EF4-FFF2-40B4-BE49-F238E27FC236}">
                <a16:creationId xmlns:a16="http://schemas.microsoft.com/office/drawing/2014/main" id="{79965C15-9A99-47BB-84BB-E77199D1FE24}"/>
              </a:ext>
            </a:extLst>
          </p:cNvPr>
          <p:cNvSpPr>
            <a:spLocks noGrp="1"/>
          </p:cNvSpPr>
          <p:nvPr/>
        </p:nvSpPr>
        <p:spPr>
          <a:xfrm>
            <a:off x="1066800" y="3352800"/>
            <a:ext cx="2857500" cy="228600"/>
          </a:xfrm>
          <a:prstGeom prst="rect">
            <a:avLst/>
          </a:prstGeom>
          <a:noFill/>
          <a:ln w="0">
            <a:noFill/>
          </a:ln>
        </p:spPr>
        <p:txBody>
          <a:bodyPr>
            <a:normAutofit fontScale="66667"/>
          </a:bodyPr>
          <a:lstStyle/>
          <a:p>
            <a:pPr>
              <a:buNone/>
              <a:defRPr sz="1350" b="1">
                <a:solidFill>
                  <a:srgbClr val="FFFFFF"/>
                </a:solidFill>
                <a:latin typeface="Arial"/>
                <a:ea typeface="Arial"/>
                <a:cs typeface="Arial"/>
              </a:defRPr>
            </a:pPr>
            <a:r>
              <a:rPr sz="1350" b="1">
                <a:solidFill>
                  <a:srgbClr val="FFFFFF"/>
                </a:solidFill>
                <a:latin typeface="Arial"/>
                <a:ea typeface="Arial"/>
                <a:cs typeface="Arial"/>
              </a:rPr>
              <a:t>Java 21 / Spring Boot</a:t>
            </a:r>
          </a:p>
        </p:txBody>
      </p:sp>
      <p:sp>
        <p:nvSpPr>
          <p:cNvPr id="11" name="Rectangle 10">
            <a:extLst>
              <a:ext uri="{FF2B5EF4-FFF2-40B4-BE49-F238E27FC236}">
                <a16:creationId xmlns:a16="http://schemas.microsoft.com/office/drawing/2014/main" id="{30F33F65-CADA-4DE8-8186-924801D9B14B}"/>
              </a:ext>
            </a:extLst>
          </p:cNvPr>
          <p:cNvSpPr>
            <a:spLocks noGrp="1"/>
          </p:cNvSpPr>
          <p:nvPr/>
        </p:nvSpPr>
        <p:spPr>
          <a:xfrm>
            <a:off x="1066800" y="3619500"/>
            <a:ext cx="4333875" cy="190500"/>
          </a:xfrm>
          <a:prstGeom prst="rect">
            <a:avLst/>
          </a:prstGeom>
          <a:noFill/>
          <a:ln w="0">
            <a:noFill/>
          </a:ln>
        </p:spPr>
        <p:txBody>
          <a:bodyPr>
            <a:normAutofit fontScale="61905"/>
          </a:bodyPr>
          <a:lstStyle/>
          <a:p>
            <a:pPr>
              <a:buNone/>
              <a:defRPr sz="1050" b="0">
                <a:solidFill>
                  <a:srgbClr val="BFD8D5"/>
                </a:solidFill>
                <a:latin typeface="Arial"/>
                <a:ea typeface="Arial"/>
                <a:cs typeface="Arial"/>
              </a:defRPr>
            </a:pPr>
            <a:r>
              <a:rPr sz="1050" b="0">
                <a:solidFill>
                  <a:srgbClr val="BFD8D5"/>
                </a:solidFill>
                <a:latin typeface="Arial"/>
                <a:ea typeface="Arial"/>
                <a:cs typeface="Arial"/>
              </a:rPr>
              <a:t>Deterministic routing and safety fallback</a:t>
            </a:r>
          </a:p>
        </p:txBody>
      </p:sp>
      <p:sp>
        <p:nvSpPr>
          <p:cNvPr id="12" name="Rectangle: Rounded Corners 11">
            <a:extLst>
              <a:ext uri="{FF2B5EF4-FFF2-40B4-BE49-F238E27FC236}">
                <a16:creationId xmlns:a16="http://schemas.microsoft.com/office/drawing/2014/main" id="{02F83386-323E-4729-816D-27E9764215AA}"/>
              </a:ext>
            </a:extLst>
          </p:cNvPr>
          <p:cNvSpPr>
            <a:spLocks noGrp="1"/>
          </p:cNvSpPr>
          <p:nvPr/>
        </p:nvSpPr>
        <p:spPr>
          <a:xfrm>
            <a:off x="742950" y="4105275"/>
            <a:ext cx="123825" cy="123825"/>
          </a:xfrm>
          <a:prstGeom prst="roundRect">
            <a:avLst>
              <a:gd name="adj" fmla="val 50000"/>
            </a:avLst>
          </a:prstGeom>
          <a:solidFill>
            <a:srgbClr val="92C8C1"/>
          </a:solidFill>
          <a:ln w="9525">
            <a:solidFill>
              <a:srgbClr val="92C8C1"/>
            </a:solidFill>
          </a:ln>
        </p:spPr>
      </p:sp>
      <p:sp>
        <p:nvSpPr>
          <p:cNvPr id="13" name="Rectangle 12">
            <a:extLst>
              <a:ext uri="{FF2B5EF4-FFF2-40B4-BE49-F238E27FC236}">
                <a16:creationId xmlns:a16="http://schemas.microsoft.com/office/drawing/2014/main" id="{30AE21C8-E495-4A91-A499-1DAFCF61CACE}"/>
              </a:ext>
            </a:extLst>
          </p:cNvPr>
          <p:cNvSpPr>
            <a:spLocks noGrp="1"/>
          </p:cNvSpPr>
          <p:nvPr/>
        </p:nvSpPr>
        <p:spPr>
          <a:xfrm>
            <a:off x="1066800" y="4038600"/>
            <a:ext cx="2857500" cy="228600"/>
          </a:xfrm>
          <a:prstGeom prst="rect">
            <a:avLst/>
          </a:prstGeom>
          <a:noFill/>
          <a:ln w="0">
            <a:noFill/>
          </a:ln>
        </p:spPr>
        <p:txBody>
          <a:bodyPr>
            <a:normAutofit fontScale="66667"/>
          </a:bodyPr>
          <a:lstStyle/>
          <a:p>
            <a:pPr>
              <a:buNone/>
              <a:defRPr sz="1350" b="1">
                <a:solidFill>
                  <a:srgbClr val="FFFFFF"/>
                </a:solidFill>
                <a:latin typeface="Arial"/>
                <a:ea typeface="Arial"/>
                <a:cs typeface="Arial"/>
              </a:defRPr>
            </a:pPr>
            <a:r>
              <a:rPr sz="1350" b="1">
                <a:solidFill>
                  <a:srgbClr val="FFFFFF"/>
                </a:solidFill>
                <a:latin typeface="Arial"/>
                <a:ea typeface="Arial"/>
                <a:cs typeface="Arial"/>
              </a:rPr>
              <a:t>PostgreSQL</a:t>
            </a:r>
          </a:p>
        </p:txBody>
      </p:sp>
      <p:sp>
        <p:nvSpPr>
          <p:cNvPr id="14" name="Rectangle 13">
            <a:extLst>
              <a:ext uri="{FF2B5EF4-FFF2-40B4-BE49-F238E27FC236}">
                <a16:creationId xmlns:a16="http://schemas.microsoft.com/office/drawing/2014/main" id="{74793B44-070F-48AD-98A3-02EB6DD6D01A}"/>
              </a:ext>
            </a:extLst>
          </p:cNvPr>
          <p:cNvSpPr>
            <a:spLocks noGrp="1"/>
          </p:cNvSpPr>
          <p:nvPr/>
        </p:nvSpPr>
        <p:spPr>
          <a:xfrm>
            <a:off x="1066800" y="4305300"/>
            <a:ext cx="4333875" cy="190500"/>
          </a:xfrm>
          <a:prstGeom prst="rect">
            <a:avLst/>
          </a:prstGeom>
          <a:noFill/>
          <a:ln w="0">
            <a:noFill/>
          </a:ln>
        </p:spPr>
        <p:txBody>
          <a:bodyPr>
            <a:normAutofit fontScale="61905"/>
          </a:bodyPr>
          <a:lstStyle/>
          <a:p>
            <a:pPr>
              <a:buNone/>
              <a:defRPr sz="1050" b="0">
                <a:solidFill>
                  <a:srgbClr val="BFD8D5"/>
                </a:solidFill>
                <a:latin typeface="Arial"/>
                <a:ea typeface="Arial"/>
                <a:cs typeface="Arial"/>
              </a:defRPr>
            </a:pPr>
            <a:r>
              <a:rPr sz="1050" b="0">
                <a:solidFill>
                  <a:srgbClr val="BFD8D5"/>
                </a:solidFill>
                <a:latin typeface="Arial"/>
                <a:ea typeface="Arial"/>
                <a:cs typeface="Arial"/>
              </a:rPr>
              <a:t>Demo criteria plus route-specific guidance</a:t>
            </a:r>
          </a:p>
        </p:txBody>
      </p:sp>
      <p:sp>
        <p:nvSpPr>
          <p:cNvPr id="15" name="Rectangle: Rounded Corners 14">
            <a:extLst>
              <a:ext uri="{FF2B5EF4-FFF2-40B4-BE49-F238E27FC236}">
                <a16:creationId xmlns:a16="http://schemas.microsoft.com/office/drawing/2014/main" id="{9D347835-93EF-48BE-8F15-41B938788526}"/>
              </a:ext>
            </a:extLst>
          </p:cNvPr>
          <p:cNvSpPr>
            <a:spLocks noGrp="1"/>
          </p:cNvSpPr>
          <p:nvPr/>
        </p:nvSpPr>
        <p:spPr>
          <a:xfrm>
            <a:off x="742950" y="4791075"/>
            <a:ext cx="123825" cy="123825"/>
          </a:xfrm>
          <a:prstGeom prst="roundRect">
            <a:avLst>
              <a:gd name="adj" fmla="val 50000"/>
            </a:avLst>
          </a:prstGeom>
          <a:solidFill>
            <a:srgbClr val="92C8C1"/>
          </a:solidFill>
          <a:ln w="9525">
            <a:solidFill>
              <a:srgbClr val="92C8C1"/>
            </a:solidFill>
          </a:ln>
        </p:spPr>
      </p:sp>
      <p:sp>
        <p:nvSpPr>
          <p:cNvPr id="16" name="Rectangle 15">
            <a:extLst>
              <a:ext uri="{FF2B5EF4-FFF2-40B4-BE49-F238E27FC236}">
                <a16:creationId xmlns:a16="http://schemas.microsoft.com/office/drawing/2014/main" id="{321C489E-24FE-4581-BFAF-C3610823C419}"/>
              </a:ext>
            </a:extLst>
          </p:cNvPr>
          <p:cNvSpPr>
            <a:spLocks noGrp="1"/>
          </p:cNvSpPr>
          <p:nvPr/>
        </p:nvSpPr>
        <p:spPr>
          <a:xfrm>
            <a:off x="1066800" y="4724400"/>
            <a:ext cx="2857500" cy="228600"/>
          </a:xfrm>
          <a:prstGeom prst="rect">
            <a:avLst/>
          </a:prstGeom>
          <a:noFill/>
          <a:ln w="0">
            <a:noFill/>
          </a:ln>
        </p:spPr>
        <p:txBody>
          <a:bodyPr>
            <a:normAutofit fontScale="66667"/>
          </a:bodyPr>
          <a:lstStyle/>
          <a:p>
            <a:pPr>
              <a:buNone/>
              <a:defRPr sz="1350" b="1">
                <a:solidFill>
                  <a:srgbClr val="FFFFFF"/>
                </a:solidFill>
                <a:latin typeface="Arial"/>
                <a:ea typeface="Arial"/>
                <a:cs typeface="Arial"/>
              </a:defRPr>
            </a:pPr>
            <a:r>
              <a:rPr sz="1350" b="1">
                <a:solidFill>
                  <a:srgbClr val="FFFFFF"/>
                </a:solidFill>
                <a:latin typeface="Arial"/>
                <a:ea typeface="Arial"/>
                <a:cs typeface="Arial"/>
              </a:rPr>
              <a:t>Local Ollama</a:t>
            </a:r>
          </a:p>
        </p:txBody>
      </p:sp>
      <p:sp>
        <p:nvSpPr>
          <p:cNvPr id="17" name="Rectangle 16">
            <a:extLst>
              <a:ext uri="{FF2B5EF4-FFF2-40B4-BE49-F238E27FC236}">
                <a16:creationId xmlns:a16="http://schemas.microsoft.com/office/drawing/2014/main" id="{EB11A43E-CF26-4237-BB92-C48BF846E263}"/>
              </a:ext>
            </a:extLst>
          </p:cNvPr>
          <p:cNvSpPr>
            <a:spLocks noGrp="1"/>
          </p:cNvSpPr>
          <p:nvPr/>
        </p:nvSpPr>
        <p:spPr>
          <a:xfrm>
            <a:off x="1066800" y="4991100"/>
            <a:ext cx="4333875" cy="190500"/>
          </a:xfrm>
          <a:prstGeom prst="rect">
            <a:avLst/>
          </a:prstGeom>
          <a:noFill/>
          <a:ln w="0">
            <a:noFill/>
          </a:ln>
        </p:spPr>
        <p:txBody>
          <a:bodyPr>
            <a:normAutofit fontScale="61905"/>
          </a:bodyPr>
          <a:lstStyle/>
          <a:p>
            <a:pPr>
              <a:buNone/>
              <a:defRPr sz="1050" b="0">
                <a:solidFill>
                  <a:srgbClr val="BFD8D5"/>
                </a:solidFill>
                <a:latin typeface="Arial"/>
                <a:ea typeface="Arial"/>
                <a:cs typeface="Arial"/>
              </a:defRPr>
            </a:pPr>
            <a:r>
              <a:rPr sz="1050" b="0">
                <a:solidFill>
                  <a:srgbClr val="BFD8D5"/>
                </a:solidFill>
                <a:latin typeface="Arial"/>
                <a:ea typeface="Arial"/>
                <a:cs typeface="Arial"/>
              </a:rPr>
              <a:t>Optional explanation after Java locks the route</a:t>
            </a:r>
          </a:p>
        </p:txBody>
      </p:sp>
      <p:sp>
        <p:nvSpPr>
          <p:cNvPr id="18" name="Rectangle 17">
            <a:extLst>
              <a:ext uri="{FF2B5EF4-FFF2-40B4-BE49-F238E27FC236}">
                <a16:creationId xmlns:a16="http://schemas.microsoft.com/office/drawing/2014/main" id="{716ADE15-FF2A-4592-A9F7-6353A4208059}"/>
              </a:ext>
            </a:extLst>
          </p:cNvPr>
          <p:cNvSpPr>
            <a:spLocks noGrp="1"/>
          </p:cNvSpPr>
          <p:nvPr/>
        </p:nvSpPr>
        <p:spPr>
          <a:xfrm>
            <a:off x="6334125" y="2314575"/>
            <a:ext cx="9525" cy="0"/>
          </a:xfrm>
          <a:prstGeom prst="rect">
            <a:avLst/>
          </a:prstGeom>
          <a:ln w="9525"/>
        </p:spPr>
      </p:sp>
      <p:sp>
        <p:nvSpPr>
          <p:cNvPr id="19" name="Rectangle 18">
            <a:extLst>
              <a:ext uri="{FF2B5EF4-FFF2-40B4-BE49-F238E27FC236}">
                <a16:creationId xmlns:a16="http://schemas.microsoft.com/office/drawing/2014/main" id="{A63DE9B7-D9FC-4E9B-A21B-5482B8D7BBC0}"/>
              </a:ext>
            </a:extLst>
          </p:cNvPr>
          <p:cNvSpPr>
            <a:spLocks noGrp="1"/>
          </p:cNvSpPr>
          <p:nvPr/>
        </p:nvSpPr>
        <p:spPr>
          <a:xfrm>
            <a:off x="6848475" y="2286000"/>
            <a:ext cx="2381250" cy="171450"/>
          </a:xfrm>
          <a:prstGeom prst="rect">
            <a:avLst/>
          </a:prstGeom>
          <a:noFill/>
          <a:ln w="0">
            <a:noFill/>
          </a:ln>
        </p:spPr>
        <p:txBody>
          <a:bodyPr>
            <a:normAutofit fontScale="63636"/>
          </a:bodyPr>
          <a:lstStyle/>
          <a:p>
            <a:pPr>
              <a:buNone/>
              <a:defRPr sz="825" b="1">
                <a:solidFill>
                  <a:srgbClr val="00A28F"/>
                </a:solidFill>
                <a:latin typeface="Arial"/>
                <a:ea typeface="Arial"/>
                <a:cs typeface="Arial"/>
              </a:defRPr>
            </a:pPr>
            <a:r>
              <a:rPr sz="825" b="1">
                <a:solidFill>
                  <a:srgbClr val="00A28F"/>
                </a:solidFill>
                <a:latin typeface="Arial"/>
                <a:ea typeface="Arial"/>
                <a:cs typeface="Arial"/>
              </a:rPr>
              <a:t>DELIVERY EVIDENCE</a:t>
            </a:r>
          </a:p>
        </p:txBody>
      </p:sp>
      <p:sp>
        <p:nvSpPr>
          <p:cNvPr id="20" name="Rectangle 19">
            <a:extLst>
              <a:ext uri="{FF2B5EF4-FFF2-40B4-BE49-F238E27FC236}">
                <a16:creationId xmlns:a16="http://schemas.microsoft.com/office/drawing/2014/main" id="{2714BD0C-2F04-4B33-85F7-89BBC203DD4F}"/>
              </a:ext>
            </a:extLst>
          </p:cNvPr>
          <p:cNvSpPr>
            <a:spLocks noGrp="1"/>
          </p:cNvSpPr>
          <p:nvPr/>
        </p:nvSpPr>
        <p:spPr>
          <a:xfrm>
            <a:off x="6848475" y="2705100"/>
            <a:ext cx="1200150" cy="685800"/>
          </a:xfrm>
          <a:prstGeom prst="rect">
            <a:avLst/>
          </a:prstGeom>
          <a:noFill/>
          <a:ln w="0">
            <a:noFill/>
          </a:ln>
        </p:spPr>
        <p:txBody>
          <a:bodyPr>
            <a:normAutofit fontScale="92857"/>
          </a:bodyPr>
          <a:lstStyle/>
          <a:p>
            <a:pPr>
              <a:buNone/>
              <a:defRPr sz="4200" b="1">
                <a:solidFill>
                  <a:srgbClr val="FFFFFF"/>
                </a:solidFill>
                <a:latin typeface="Arial"/>
                <a:ea typeface="Arial"/>
                <a:cs typeface="Arial"/>
              </a:defRPr>
            </a:pPr>
            <a:r>
              <a:rPr sz="4200" b="1">
                <a:solidFill>
                  <a:srgbClr val="FFFFFF"/>
                </a:solidFill>
                <a:latin typeface="Arial"/>
                <a:ea typeface="Arial"/>
                <a:cs typeface="Arial"/>
              </a:rPr>
              <a:t>11</a:t>
            </a:r>
          </a:p>
        </p:txBody>
      </p:sp>
      <p:sp>
        <p:nvSpPr>
          <p:cNvPr id="21" name="Rectangle 20">
            <a:extLst>
              <a:ext uri="{FF2B5EF4-FFF2-40B4-BE49-F238E27FC236}">
                <a16:creationId xmlns:a16="http://schemas.microsoft.com/office/drawing/2014/main" id="{E8B4FCF6-1201-4698-9F1C-F2A5F0FB8C24}"/>
              </a:ext>
            </a:extLst>
          </p:cNvPr>
          <p:cNvSpPr>
            <a:spLocks noGrp="1"/>
          </p:cNvSpPr>
          <p:nvPr/>
        </p:nvSpPr>
        <p:spPr>
          <a:xfrm>
            <a:off x="8248650" y="2847975"/>
            <a:ext cx="2524125" cy="514350"/>
          </a:xfrm>
          <a:prstGeom prst="rect">
            <a:avLst/>
          </a:prstGeom>
          <a:noFill/>
          <a:ln w="0">
            <a:noFill/>
          </a:ln>
        </p:spPr>
        <p:txBody>
          <a:bodyPr>
            <a:normAutofit fontScale="88095"/>
          </a:bodyPr>
          <a:lstStyle/>
          <a:p>
            <a:pPr>
              <a:buNone/>
              <a:defRPr sz="1575" b="0">
                <a:solidFill>
                  <a:srgbClr val="D5EBE8"/>
                </a:solidFill>
                <a:latin typeface="Arial"/>
                <a:ea typeface="Arial"/>
                <a:cs typeface="Arial"/>
              </a:defRPr>
            </a:pPr>
            <a:r>
              <a:rPr sz="1575" b="0">
                <a:solidFill>
                  <a:srgbClr val="D5EBE8"/>
                </a:solidFill>
                <a:latin typeface="Arial"/>
                <a:ea typeface="Arial"/>
                <a:cs typeface="Arial"/>
              </a:rPr>
              <a:t>linked Jira delivery stories</a:t>
            </a:r>
          </a:p>
          <a:p>
            <a:pPr>
              <a:buNone/>
              <a:defRPr sz="1575" b="0">
                <a:solidFill>
                  <a:srgbClr val="D5EBE8"/>
                </a:solidFill>
                <a:latin typeface="Arial"/>
                <a:ea typeface="Arial"/>
                <a:cs typeface="Arial"/>
              </a:defRPr>
            </a:pPr>
            <a:r>
              <a:rPr sz="1575" b="0">
                <a:solidFill>
                  <a:srgbClr val="D5EBE8"/>
                </a:solidFill>
                <a:latin typeface="Arial"/>
                <a:ea typeface="Arial"/>
                <a:cs typeface="Arial"/>
              </a:rPr>
              <a:t>resolved</a:t>
            </a:r>
          </a:p>
        </p:txBody>
      </p:sp>
      <p:sp>
        <p:nvSpPr>
          <p:cNvPr id="22" name="Rectangle 21">
            <a:extLst>
              <a:ext uri="{FF2B5EF4-FFF2-40B4-BE49-F238E27FC236}">
                <a16:creationId xmlns:a16="http://schemas.microsoft.com/office/drawing/2014/main" id="{876F3826-4576-4822-A781-C4BE01F02315}"/>
              </a:ext>
            </a:extLst>
          </p:cNvPr>
          <p:cNvSpPr>
            <a:spLocks noGrp="1"/>
          </p:cNvSpPr>
          <p:nvPr/>
        </p:nvSpPr>
        <p:spPr>
          <a:xfrm>
            <a:off x="6848475" y="3733800"/>
            <a:ext cx="3524250" cy="19050"/>
          </a:xfrm>
          <a:prstGeom prst="rect">
            <a:avLst/>
          </a:prstGeom>
          <a:solidFill>
            <a:srgbClr val="00A28F"/>
          </a:solidFill>
          <a:ln w="9525">
            <a:solidFill>
              <a:srgbClr val="00A28F"/>
            </a:solidFill>
          </a:ln>
        </p:spPr>
      </p:sp>
      <p:sp>
        <p:nvSpPr>
          <p:cNvPr id="23" name="Rectangle 22">
            <a:extLst>
              <a:ext uri="{FF2B5EF4-FFF2-40B4-BE49-F238E27FC236}">
                <a16:creationId xmlns:a16="http://schemas.microsoft.com/office/drawing/2014/main" id="{6A9931D8-E4BA-4B19-8B07-BED3594FA3F7}"/>
              </a:ext>
            </a:extLst>
          </p:cNvPr>
          <p:cNvSpPr>
            <a:spLocks noGrp="1"/>
          </p:cNvSpPr>
          <p:nvPr/>
        </p:nvSpPr>
        <p:spPr>
          <a:xfrm>
            <a:off x="6848475" y="4076700"/>
            <a:ext cx="2381250" cy="209550"/>
          </a:xfrm>
          <a:prstGeom prst="rect">
            <a:avLst/>
          </a:prstGeom>
          <a:noFill/>
          <a:ln w="0">
            <a:noFill/>
          </a:ln>
        </p:spPr>
        <p:txBody>
          <a:bodyPr>
            <a:normAutofit fontScale="64583"/>
          </a:bodyPr>
          <a:lstStyle/>
          <a:p>
            <a:pPr>
              <a:buNone/>
              <a:defRPr sz="1200" b="1">
                <a:solidFill>
                  <a:srgbClr val="FFFFFF"/>
                </a:solidFill>
                <a:latin typeface="Arial"/>
                <a:ea typeface="Arial"/>
                <a:cs typeface="Arial"/>
              </a:defRPr>
            </a:pPr>
            <a:r>
              <a:rPr sz="1200" b="1">
                <a:solidFill>
                  <a:srgbClr val="FFFFFF"/>
                </a:solidFill>
                <a:latin typeface="Arial"/>
                <a:ea typeface="Arial"/>
                <a:cs typeface="Arial"/>
              </a:rPr>
              <a:t>Current automated evidence</a:t>
            </a:r>
          </a:p>
        </p:txBody>
      </p:sp>
      <p:sp>
        <p:nvSpPr>
          <p:cNvPr id="24" name="Rectangle 23">
            <a:extLst>
              <a:ext uri="{FF2B5EF4-FFF2-40B4-BE49-F238E27FC236}">
                <a16:creationId xmlns:a16="http://schemas.microsoft.com/office/drawing/2014/main" id="{0EFDAB26-57D1-45A1-9B86-A62298016CCB}"/>
              </a:ext>
            </a:extLst>
          </p:cNvPr>
          <p:cNvSpPr>
            <a:spLocks noGrp="1"/>
          </p:cNvSpPr>
          <p:nvPr/>
        </p:nvSpPr>
        <p:spPr>
          <a:xfrm>
            <a:off x="6848475" y="4419600"/>
            <a:ext cx="3619500" cy="819150"/>
          </a:xfrm>
          <a:prstGeom prst="rect">
            <a:avLst/>
          </a:prstGeom>
          <a:noFill/>
          <a:ln w="0">
            <a:noFill/>
          </a:ln>
        </p:spPr>
        <p:txBody>
          <a:bodyPr>
            <a:normAutofit fontScale="99479"/>
          </a:bodyPr>
          <a:lstStyle/>
          <a:p>
            <a:pPr>
              <a:buNone/>
              <a:defRPr sz="1200" b="0">
                <a:solidFill>
                  <a:srgbClr val="BFD8D5"/>
                </a:solidFill>
                <a:latin typeface="Arial"/>
                <a:ea typeface="Arial"/>
                <a:cs typeface="Arial"/>
              </a:defRPr>
            </a:pPr>
            <a:r>
              <a:rPr sz="1200" b="0">
                <a:solidFill>
                  <a:srgbClr val="BFD8D5"/>
                </a:solidFill>
                <a:latin typeface="Arial"/>
                <a:ea typeface="Arial"/>
                <a:cs typeface="Arial"/>
              </a:rPr>
              <a:t>Java unit tests cover the routing policy and output validation. Wider integration, end-to-end, accessibility, usability, and clinical validation remain pilot gates.</a:t>
            </a:r>
          </a:p>
        </p:txBody>
      </p:sp>
      <p:sp>
        <p:nvSpPr>
          <p:cNvPr id="25" name="Rectangle 24">
            <a:extLst>
              <a:ext uri="{FF2B5EF4-FFF2-40B4-BE49-F238E27FC236}">
                <a16:creationId xmlns:a16="http://schemas.microsoft.com/office/drawing/2014/main" id="{B79FF007-F90B-431D-9BE2-B5CAABF9CC9A}"/>
              </a:ext>
            </a:extLst>
          </p:cNvPr>
          <p:cNvSpPr>
            <a:spLocks noGrp="1"/>
          </p:cNvSpPr>
          <p:nvPr/>
        </p:nvSpPr>
        <p:spPr>
          <a:xfrm>
            <a:off x="723900" y="6181725"/>
            <a:ext cx="5524500" cy="152400"/>
          </a:xfrm>
          <a:prstGeom prst="rect">
            <a:avLst/>
          </a:prstGeom>
          <a:noFill/>
          <a:ln w="0">
            <a:noFill/>
          </a:ln>
        </p:spPr>
        <p:txBody>
          <a:bodyPr>
            <a:normAutofit fontScale="53333"/>
          </a:bodyPr>
          <a:lstStyle/>
          <a:p>
            <a:pPr>
              <a:buNone/>
              <a:defRPr sz="750" b="0">
                <a:solidFill>
                  <a:srgbClr val="8AB6B0"/>
                </a:solidFill>
                <a:latin typeface="Arial"/>
                <a:ea typeface="Arial"/>
                <a:cs typeface="Arial"/>
              </a:defRPr>
            </a:pPr>
            <a:r>
              <a:rPr sz="750" b="0">
                <a:solidFill>
                  <a:srgbClr val="8AB6B0"/>
                </a:solidFill>
                <a:latin typeface="Arial"/>
                <a:ea typeface="Arial"/>
                <a:cs typeface="Arial"/>
              </a:rPr>
              <a:t>Source: Jira Dashboard 10001 and repository test suite</a:t>
            </a:r>
          </a:p>
        </p:txBody>
      </p:sp>
      <p:sp>
        <p:nvSpPr>
          <p:cNvPr id="27" name="Rectangle 26">
            <a:extLst>
              <a:ext uri="{FF2B5EF4-FFF2-40B4-BE49-F238E27FC236}">
                <a16:creationId xmlns:a16="http://schemas.microsoft.com/office/drawing/2014/main" id="{CF6B5FE1-74E7-44AD-BB3A-9595E388B49E}"/>
              </a:ext>
            </a:extLst>
          </p:cNvPr>
          <p:cNvSpPr>
            <a:spLocks noGrp="1"/>
          </p:cNvSpPr>
          <p:nvPr/>
        </p:nvSpPr>
        <p:spPr>
          <a:xfrm>
            <a:off x="0" y="0"/>
            <a:ext cx="12192000" cy="6858000"/>
          </a:xfrm>
          <a:prstGeom prst="rect">
            <a:avLst/>
          </a:prstGeom>
          <a:solidFill>
            <a:srgbClr val="E9E7F5"/>
          </a:solidFill>
          <a:ln w="0">
            <a:noFill/>
          </a:ln>
        </p:spPr>
      </p:sp>
      <p:sp>
        <p:nvSpPr>
          <p:cNvPr id="28" name="Rectangle 27">
            <a:extLst>
              <a:ext uri="{FF2B5EF4-FFF2-40B4-BE49-F238E27FC236}">
                <a16:creationId xmlns:a16="http://schemas.microsoft.com/office/drawing/2014/main" id="{EC8DFB18-839B-4CF8-B15C-D07331E45DCB}"/>
              </a:ext>
            </a:extLst>
          </p:cNvPr>
          <p:cNvSpPr>
            <a:spLocks noGrp="1"/>
          </p:cNvSpPr>
          <p:nvPr/>
        </p:nvSpPr>
        <p:spPr>
          <a:xfrm>
            <a:off x="685800" y="419100"/>
            <a:ext cx="666750" cy="209550"/>
          </a:xfrm>
          <a:prstGeom prst="rect">
            <a:avLst/>
          </a:prstGeom>
          <a:noFill/>
          <a:ln w="0">
            <a:noFill/>
          </a:ln>
        </p:spPr>
        <p:txBody>
          <a:bodyPr>
            <a:noAutofit/>
          </a:bodyPr>
          <a:lstStyle/>
          <a:p>
            <a:pPr>
              <a:buNone/>
              <a:defRPr sz="1200" b="1">
                <a:solidFill>
                  <a:srgbClr val="E7A048"/>
                </a:solidFill>
                <a:latin typeface="Arial"/>
                <a:ea typeface="Arial"/>
                <a:cs typeface="Arial"/>
              </a:defRPr>
            </a:pPr>
            <a:r>
              <a:rPr lang="en-IN" sz="1200" b="1" dirty="0">
                <a:solidFill>
                  <a:srgbClr val="E7A048"/>
                </a:solidFill>
                <a:latin typeface="Arial"/>
                <a:ea typeface="Arial"/>
                <a:cs typeface="Arial"/>
              </a:rPr>
              <a:t>04</a:t>
            </a:r>
            <a:endParaRPr sz="1200" b="1" dirty="0">
              <a:solidFill>
                <a:srgbClr val="E7A048"/>
              </a:solidFill>
              <a:latin typeface="Arial"/>
              <a:ea typeface="Arial"/>
              <a:cs typeface="Arial"/>
            </a:endParaRPr>
          </a:p>
        </p:txBody>
      </p:sp>
      <p:sp>
        <p:nvSpPr>
          <p:cNvPr id="29" name="Rectangle 28">
            <a:extLst>
              <a:ext uri="{FF2B5EF4-FFF2-40B4-BE49-F238E27FC236}">
                <a16:creationId xmlns:a16="http://schemas.microsoft.com/office/drawing/2014/main" id="{7F14BA99-94B4-45A6-812D-B2F72A20651D}"/>
              </a:ext>
            </a:extLst>
          </p:cNvPr>
          <p:cNvSpPr>
            <a:spLocks noGrp="1"/>
          </p:cNvSpPr>
          <p:nvPr/>
        </p:nvSpPr>
        <p:spPr>
          <a:xfrm>
            <a:off x="9810750" y="428625"/>
            <a:ext cx="1695450" cy="190500"/>
          </a:xfrm>
          <a:prstGeom prst="rect">
            <a:avLst/>
          </a:prstGeom>
          <a:noFill/>
          <a:ln w="0">
            <a:noFill/>
          </a:ln>
        </p:spPr>
        <p:txBody>
          <a:bodyPr>
            <a:noAutofit/>
          </a:bodyPr>
          <a:lstStyle/>
          <a:p>
            <a:pPr algn="r">
              <a:buNone/>
              <a:defRPr sz="975" b="1">
                <a:solidFill>
                  <a:srgbClr val="4656A8"/>
                </a:solidFill>
                <a:latin typeface="Arial"/>
                <a:ea typeface="Arial"/>
                <a:cs typeface="Arial"/>
              </a:defRPr>
            </a:pPr>
            <a:r>
              <a:rPr sz="975" b="1">
                <a:solidFill>
                  <a:srgbClr val="4656A8"/>
                </a:solidFill>
                <a:latin typeface="Arial"/>
                <a:ea typeface="Arial"/>
                <a:cs typeface="Arial"/>
              </a:rPr>
              <a:t>NETRAJYOTI AI</a:t>
            </a:r>
          </a:p>
        </p:txBody>
      </p:sp>
      <p:sp>
        <p:nvSpPr>
          <p:cNvPr id="30" name="Rectangle 29">
            <a:extLst>
              <a:ext uri="{FF2B5EF4-FFF2-40B4-BE49-F238E27FC236}">
                <a16:creationId xmlns:a16="http://schemas.microsoft.com/office/drawing/2014/main" id="{01798C12-3B3F-4B5B-BF5C-72A65D2F4F9E}"/>
              </a:ext>
            </a:extLst>
          </p:cNvPr>
          <p:cNvSpPr>
            <a:spLocks noGrp="1"/>
          </p:cNvSpPr>
          <p:nvPr/>
        </p:nvSpPr>
        <p:spPr>
          <a:xfrm>
            <a:off x="685800" y="762000"/>
            <a:ext cx="10287000" cy="457200"/>
          </a:xfrm>
          <a:prstGeom prst="rect">
            <a:avLst/>
          </a:prstGeom>
          <a:noFill/>
          <a:ln w="0">
            <a:noFill/>
          </a:ln>
        </p:spPr>
        <p:txBody>
          <a:bodyPr>
            <a:noAutofit/>
          </a:bodyPr>
          <a:lstStyle/>
          <a:p>
            <a:pPr>
              <a:buNone/>
              <a:defRPr sz="2550" b="1">
                <a:solidFill>
                  <a:srgbClr val="202A44"/>
                </a:solidFill>
                <a:latin typeface="Arial"/>
                <a:ea typeface="Arial"/>
                <a:cs typeface="Arial"/>
              </a:defRPr>
            </a:pPr>
            <a:r>
              <a:rPr sz="2550" b="1">
                <a:solidFill>
                  <a:srgbClr val="202A44"/>
                </a:solidFill>
                <a:latin typeface="Arial"/>
                <a:ea typeface="Arial"/>
                <a:cs typeface="Arial"/>
              </a:rPr>
              <a:t>User journey</a:t>
            </a:r>
          </a:p>
        </p:txBody>
      </p:sp>
      <p:sp>
        <p:nvSpPr>
          <p:cNvPr id="31" name="Rectangle 30">
            <a:extLst>
              <a:ext uri="{FF2B5EF4-FFF2-40B4-BE49-F238E27FC236}">
                <a16:creationId xmlns:a16="http://schemas.microsoft.com/office/drawing/2014/main" id="{279575AA-2EE5-46D2-8553-92687C027905}"/>
              </a:ext>
            </a:extLst>
          </p:cNvPr>
          <p:cNvSpPr>
            <a:spLocks noGrp="1"/>
          </p:cNvSpPr>
          <p:nvPr/>
        </p:nvSpPr>
        <p:spPr>
          <a:xfrm>
            <a:off x="704850" y="1343025"/>
            <a:ext cx="10287000" cy="266700"/>
          </a:xfrm>
          <a:prstGeom prst="rect">
            <a:avLst/>
          </a:prstGeom>
          <a:noFill/>
          <a:ln w="0">
            <a:noFill/>
          </a:ln>
        </p:spPr>
        <p:txBody>
          <a:bodyPr>
            <a:noAutofit/>
          </a:bodyPr>
          <a:lstStyle/>
          <a:p>
            <a:pPr>
              <a:buNone/>
              <a:defRPr sz="1275">
                <a:solidFill>
                  <a:srgbClr val="56647A"/>
                </a:solidFill>
                <a:latin typeface="Arial"/>
                <a:ea typeface="Arial"/>
                <a:cs typeface="Arial"/>
              </a:defRPr>
            </a:pPr>
            <a:r>
              <a:rPr sz="1275">
                <a:solidFill>
                  <a:srgbClr val="56647A"/>
                </a:solidFill>
                <a:latin typeface="Arial"/>
                <a:ea typeface="Arial"/>
                <a:cs typeface="Arial"/>
              </a:rPr>
              <a:t>A single Bengali-first flow moves the user from consent to a clear next action</a:t>
            </a:r>
          </a:p>
        </p:txBody>
      </p:sp>
      <p:sp>
        <p:nvSpPr>
          <p:cNvPr id="32" name="Rectangle 31">
            <a:extLst>
              <a:ext uri="{FF2B5EF4-FFF2-40B4-BE49-F238E27FC236}">
                <a16:creationId xmlns:a16="http://schemas.microsoft.com/office/drawing/2014/main" id="{A9EBF57E-7760-4F46-A9B0-F3DC8876327C}"/>
              </a:ext>
            </a:extLst>
          </p:cNvPr>
          <p:cNvSpPr>
            <a:spLocks noGrp="1"/>
          </p:cNvSpPr>
          <p:nvPr/>
        </p:nvSpPr>
        <p:spPr>
          <a:xfrm>
            <a:off x="685800" y="1752600"/>
            <a:ext cx="10820400" cy="19050"/>
          </a:xfrm>
          <a:prstGeom prst="rect">
            <a:avLst/>
          </a:prstGeom>
          <a:solidFill>
            <a:srgbClr val="D7D0C7"/>
          </a:solidFill>
          <a:ln w="0">
            <a:noFill/>
          </a:ln>
        </p:spPr>
      </p:sp>
      <p:sp>
        <p:nvSpPr>
          <p:cNvPr id="33" name="Rectangle 32">
            <a:extLst>
              <a:ext uri="{FF2B5EF4-FFF2-40B4-BE49-F238E27FC236}">
                <a16:creationId xmlns:a16="http://schemas.microsoft.com/office/drawing/2014/main" id="{B04BFB26-CDAD-490E-82ED-3716C6077E25}"/>
              </a:ext>
            </a:extLst>
          </p:cNvPr>
          <p:cNvSpPr>
            <a:spLocks noGrp="1"/>
          </p:cNvSpPr>
          <p:nvPr/>
        </p:nvSpPr>
        <p:spPr>
          <a:xfrm>
            <a:off x="1095375" y="3486150"/>
            <a:ext cx="9620250" cy="38100"/>
          </a:xfrm>
          <a:prstGeom prst="rect">
            <a:avLst/>
          </a:prstGeom>
          <a:solidFill>
            <a:srgbClr val="4656A8"/>
          </a:solidFill>
          <a:ln w="0">
            <a:noFill/>
          </a:ln>
        </p:spPr>
      </p:sp>
      <p:sp>
        <p:nvSpPr>
          <p:cNvPr id="34" name="Oval 33">
            <a:extLst>
              <a:ext uri="{FF2B5EF4-FFF2-40B4-BE49-F238E27FC236}">
                <a16:creationId xmlns:a16="http://schemas.microsoft.com/office/drawing/2014/main" id="{DE5589C0-2873-4E35-93B6-0D035BB4D979}"/>
              </a:ext>
            </a:extLst>
          </p:cNvPr>
          <p:cNvSpPr>
            <a:spLocks noGrp="1"/>
          </p:cNvSpPr>
          <p:nvPr/>
        </p:nvSpPr>
        <p:spPr>
          <a:xfrm>
            <a:off x="1047750" y="3238500"/>
            <a:ext cx="495300" cy="495300"/>
          </a:xfrm>
          <a:prstGeom prst="ellipse">
            <a:avLst/>
          </a:prstGeom>
          <a:solidFill>
            <a:srgbClr val="237A7A"/>
          </a:solidFill>
          <a:ln w="0">
            <a:noFill/>
          </a:ln>
        </p:spPr>
      </p:sp>
      <p:sp>
        <p:nvSpPr>
          <p:cNvPr id="35" name="Rectangle 34">
            <a:extLst>
              <a:ext uri="{FF2B5EF4-FFF2-40B4-BE49-F238E27FC236}">
                <a16:creationId xmlns:a16="http://schemas.microsoft.com/office/drawing/2014/main" id="{1D3BF33D-F61E-4918-9B00-6FE07D20D5DE}"/>
              </a:ext>
            </a:extLst>
          </p:cNvPr>
          <p:cNvSpPr>
            <a:spLocks noGrp="1"/>
          </p:cNvSpPr>
          <p:nvPr/>
        </p:nvSpPr>
        <p:spPr>
          <a:xfrm>
            <a:off x="1047750" y="3362325"/>
            <a:ext cx="495300" cy="190500"/>
          </a:xfrm>
          <a:prstGeom prst="rect">
            <a:avLst/>
          </a:prstGeom>
          <a:noFill/>
          <a:ln w="0">
            <a:noFill/>
          </a:ln>
        </p:spPr>
        <p:txBody>
          <a:bodyPr>
            <a:noAutofit/>
          </a:bodyP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1</a:t>
            </a:r>
          </a:p>
        </p:txBody>
      </p:sp>
      <p:sp>
        <p:nvSpPr>
          <p:cNvPr id="36" name="Rectangle 35">
            <a:extLst>
              <a:ext uri="{FF2B5EF4-FFF2-40B4-BE49-F238E27FC236}">
                <a16:creationId xmlns:a16="http://schemas.microsoft.com/office/drawing/2014/main" id="{09D5ACE1-E941-40AF-99F4-9B8B65213C20}"/>
              </a:ext>
            </a:extLst>
          </p:cNvPr>
          <p:cNvSpPr>
            <a:spLocks noGrp="1"/>
          </p:cNvSpPr>
          <p:nvPr/>
        </p:nvSpPr>
        <p:spPr>
          <a:xfrm>
            <a:off x="590550" y="4133850"/>
            <a:ext cx="1409700" cy="247650"/>
          </a:xfrm>
          <a:prstGeom prst="rect">
            <a:avLst/>
          </a:prstGeom>
          <a:noFill/>
          <a:ln w="0">
            <a:noFill/>
          </a:ln>
        </p:spPr>
        <p:txBody>
          <a:bodyPr>
            <a:noAutofit/>
          </a:bodyPr>
          <a:lstStyle/>
          <a:p>
            <a:pPr algn="ctr">
              <a:buNone/>
              <a:defRPr sz="1350" b="1">
                <a:solidFill>
                  <a:srgbClr val="202A44"/>
                </a:solidFill>
                <a:latin typeface="Arial"/>
                <a:ea typeface="Arial"/>
                <a:cs typeface="Arial"/>
              </a:defRPr>
            </a:pPr>
            <a:r>
              <a:rPr sz="1350" b="1">
                <a:solidFill>
                  <a:srgbClr val="202A44"/>
                </a:solidFill>
                <a:latin typeface="Arial"/>
                <a:ea typeface="Arial"/>
                <a:cs typeface="Arial"/>
              </a:rPr>
              <a:t>Consent</a:t>
            </a:r>
          </a:p>
        </p:txBody>
      </p:sp>
      <p:sp>
        <p:nvSpPr>
          <p:cNvPr id="37" name="Rectangle 36">
            <a:extLst>
              <a:ext uri="{FF2B5EF4-FFF2-40B4-BE49-F238E27FC236}">
                <a16:creationId xmlns:a16="http://schemas.microsoft.com/office/drawing/2014/main" id="{738B27AC-2F7A-4E2A-92EE-CB3697C7BE24}"/>
              </a:ext>
            </a:extLst>
          </p:cNvPr>
          <p:cNvSpPr>
            <a:spLocks noGrp="1"/>
          </p:cNvSpPr>
          <p:nvPr/>
        </p:nvSpPr>
        <p:spPr>
          <a:xfrm>
            <a:off x="533400" y="4495800"/>
            <a:ext cx="1524000" cy="419100"/>
          </a:xfrm>
          <a:prstGeom prst="rect">
            <a:avLst/>
          </a:prstGeom>
          <a:noFill/>
          <a:ln w="0">
            <a:noFill/>
          </a:ln>
        </p:spPr>
        <p:txBody>
          <a:bodyPr>
            <a:noAutofit/>
          </a:bodyPr>
          <a:lstStyle/>
          <a:p>
            <a:pPr algn="ctr">
              <a:buNone/>
              <a:defRPr sz="1050">
                <a:solidFill>
                  <a:srgbClr val="56647A"/>
                </a:solidFill>
                <a:latin typeface="Arial"/>
                <a:ea typeface="Arial"/>
                <a:cs typeface="Arial"/>
              </a:defRPr>
            </a:pPr>
            <a:r>
              <a:rPr sz="1050">
                <a:solidFill>
                  <a:srgbClr val="56647A"/>
                </a:solidFill>
                <a:latin typeface="Arial"/>
                <a:ea typeface="Arial"/>
                <a:cs typeface="Arial"/>
              </a:rPr>
              <a:t>Clear purpose</a:t>
            </a:r>
          </a:p>
          <a:p>
            <a:pPr algn="ctr">
              <a:buNone/>
              <a:defRPr sz="1050">
                <a:solidFill>
                  <a:srgbClr val="56647A"/>
                </a:solidFill>
                <a:latin typeface="Arial"/>
                <a:ea typeface="Arial"/>
                <a:cs typeface="Arial"/>
              </a:defRPr>
            </a:pPr>
            <a:r>
              <a:rPr sz="1050">
                <a:solidFill>
                  <a:srgbClr val="56647A"/>
                </a:solidFill>
                <a:latin typeface="Arial"/>
                <a:ea typeface="Arial"/>
                <a:cs typeface="Arial"/>
              </a:rPr>
              <a:t>and data choice</a:t>
            </a:r>
          </a:p>
        </p:txBody>
      </p:sp>
      <p:sp>
        <p:nvSpPr>
          <p:cNvPr id="38" name="Arrow: Right 37">
            <a:extLst>
              <a:ext uri="{FF2B5EF4-FFF2-40B4-BE49-F238E27FC236}">
                <a16:creationId xmlns:a16="http://schemas.microsoft.com/office/drawing/2014/main" id="{3E619982-382F-4AC7-85E2-409E700E892A}"/>
              </a:ext>
            </a:extLst>
          </p:cNvPr>
          <p:cNvSpPr>
            <a:spLocks noGrp="1"/>
          </p:cNvSpPr>
          <p:nvPr/>
        </p:nvSpPr>
        <p:spPr>
          <a:xfrm>
            <a:off x="2019300" y="3400425"/>
            <a:ext cx="361950" cy="171450"/>
          </a:xfrm>
          <a:prstGeom prst="rightArrow">
            <a:avLst/>
          </a:prstGeom>
          <a:solidFill>
            <a:srgbClr val="4656A8"/>
          </a:solidFill>
          <a:ln w="0">
            <a:noFill/>
          </a:ln>
        </p:spPr>
      </p:sp>
      <p:sp>
        <p:nvSpPr>
          <p:cNvPr id="39" name="Oval 38">
            <a:extLst>
              <a:ext uri="{FF2B5EF4-FFF2-40B4-BE49-F238E27FC236}">
                <a16:creationId xmlns:a16="http://schemas.microsoft.com/office/drawing/2014/main" id="{9798DF25-73D1-4233-9DB2-88D6782889CA}"/>
              </a:ext>
            </a:extLst>
          </p:cNvPr>
          <p:cNvSpPr>
            <a:spLocks noGrp="1"/>
          </p:cNvSpPr>
          <p:nvPr/>
        </p:nvSpPr>
        <p:spPr>
          <a:xfrm>
            <a:off x="3095625" y="3238500"/>
            <a:ext cx="495300" cy="495300"/>
          </a:xfrm>
          <a:prstGeom prst="ellipse">
            <a:avLst/>
          </a:prstGeom>
          <a:solidFill>
            <a:srgbClr val="4656A8"/>
          </a:solidFill>
          <a:ln w="0">
            <a:noFill/>
          </a:ln>
        </p:spPr>
      </p:sp>
      <p:sp>
        <p:nvSpPr>
          <p:cNvPr id="40" name="Rectangle 39">
            <a:extLst>
              <a:ext uri="{FF2B5EF4-FFF2-40B4-BE49-F238E27FC236}">
                <a16:creationId xmlns:a16="http://schemas.microsoft.com/office/drawing/2014/main" id="{1AF6A539-75BB-40CA-B008-190D0B750FBD}"/>
              </a:ext>
            </a:extLst>
          </p:cNvPr>
          <p:cNvSpPr>
            <a:spLocks noGrp="1"/>
          </p:cNvSpPr>
          <p:nvPr/>
        </p:nvSpPr>
        <p:spPr>
          <a:xfrm>
            <a:off x="3095625" y="3362325"/>
            <a:ext cx="495300" cy="190500"/>
          </a:xfrm>
          <a:prstGeom prst="rect">
            <a:avLst/>
          </a:prstGeom>
          <a:noFill/>
          <a:ln w="0">
            <a:noFill/>
          </a:ln>
        </p:spPr>
        <p:txBody>
          <a:bodyPr>
            <a:noAutofit/>
          </a:bodyP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2</a:t>
            </a:r>
          </a:p>
        </p:txBody>
      </p:sp>
      <p:sp>
        <p:nvSpPr>
          <p:cNvPr id="41" name="Rectangle 40">
            <a:extLst>
              <a:ext uri="{FF2B5EF4-FFF2-40B4-BE49-F238E27FC236}">
                <a16:creationId xmlns:a16="http://schemas.microsoft.com/office/drawing/2014/main" id="{A4254C37-CE41-475B-877E-1996DDF73A7E}"/>
              </a:ext>
            </a:extLst>
          </p:cNvPr>
          <p:cNvSpPr>
            <a:spLocks noGrp="1"/>
          </p:cNvSpPr>
          <p:nvPr/>
        </p:nvSpPr>
        <p:spPr>
          <a:xfrm>
            <a:off x="2638425" y="4133850"/>
            <a:ext cx="1409700" cy="247650"/>
          </a:xfrm>
          <a:prstGeom prst="rect">
            <a:avLst/>
          </a:prstGeom>
          <a:noFill/>
          <a:ln w="0">
            <a:noFill/>
          </a:ln>
        </p:spPr>
        <p:txBody>
          <a:bodyPr>
            <a:noAutofit/>
          </a:bodyPr>
          <a:lstStyle/>
          <a:p>
            <a:pPr algn="ctr">
              <a:buNone/>
              <a:defRPr sz="1350" b="1">
                <a:solidFill>
                  <a:srgbClr val="202A44"/>
                </a:solidFill>
                <a:latin typeface="Arial"/>
                <a:ea typeface="Arial"/>
                <a:cs typeface="Arial"/>
              </a:defRPr>
            </a:pPr>
            <a:r>
              <a:rPr sz="1350" b="1">
                <a:solidFill>
                  <a:srgbClr val="202A44"/>
                </a:solidFill>
                <a:latin typeface="Arial"/>
                <a:ea typeface="Arial"/>
                <a:cs typeface="Arial"/>
              </a:rPr>
              <a:t>Symptoms</a:t>
            </a:r>
          </a:p>
        </p:txBody>
      </p:sp>
      <p:sp>
        <p:nvSpPr>
          <p:cNvPr id="42" name="Rectangle 41">
            <a:extLst>
              <a:ext uri="{FF2B5EF4-FFF2-40B4-BE49-F238E27FC236}">
                <a16:creationId xmlns:a16="http://schemas.microsoft.com/office/drawing/2014/main" id="{F1A4F89A-F698-4FE6-A19E-9DA6B538CEF4}"/>
              </a:ext>
            </a:extLst>
          </p:cNvPr>
          <p:cNvSpPr>
            <a:spLocks noGrp="1"/>
          </p:cNvSpPr>
          <p:nvPr/>
        </p:nvSpPr>
        <p:spPr>
          <a:xfrm>
            <a:off x="2581275" y="4495800"/>
            <a:ext cx="1524000" cy="419100"/>
          </a:xfrm>
          <a:prstGeom prst="rect">
            <a:avLst/>
          </a:prstGeom>
          <a:noFill/>
          <a:ln w="0">
            <a:noFill/>
          </a:ln>
        </p:spPr>
        <p:txBody>
          <a:bodyPr>
            <a:noAutofit/>
          </a:bodyPr>
          <a:lstStyle/>
          <a:p>
            <a:pPr algn="ctr">
              <a:buNone/>
              <a:defRPr sz="1050">
                <a:solidFill>
                  <a:srgbClr val="56647A"/>
                </a:solidFill>
                <a:latin typeface="Arial"/>
                <a:ea typeface="Arial"/>
                <a:cs typeface="Arial"/>
              </a:defRPr>
            </a:pPr>
            <a:r>
              <a:rPr sz="1050">
                <a:solidFill>
                  <a:srgbClr val="56647A"/>
                </a:solidFill>
                <a:latin typeface="Arial"/>
                <a:ea typeface="Arial"/>
                <a:cs typeface="Arial"/>
              </a:rPr>
              <a:t>Fixed Bengali options</a:t>
            </a:r>
          </a:p>
          <a:p>
            <a:pPr algn="ctr">
              <a:buNone/>
              <a:defRPr sz="1050">
                <a:solidFill>
                  <a:srgbClr val="56647A"/>
                </a:solidFill>
                <a:latin typeface="Arial"/>
                <a:ea typeface="Arial"/>
                <a:cs typeface="Arial"/>
              </a:defRPr>
            </a:pPr>
            <a:r>
              <a:rPr sz="1050">
                <a:solidFill>
                  <a:srgbClr val="56647A"/>
                </a:solidFill>
                <a:latin typeface="Arial"/>
                <a:ea typeface="Arial"/>
                <a:cs typeface="Arial"/>
              </a:rPr>
              <a:t>or voice input</a:t>
            </a:r>
          </a:p>
        </p:txBody>
      </p:sp>
      <p:sp>
        <p:nvSpPr>
          <p:cNvPr id="43" name="Arrow: Right 42">
            <a:extLst>
              <a:ext uri="{FF2B5EF4-FFF2-40B4-BE49-F238E27FC236}">
                <a16:creationId xmlns:a16="http://schemas.microsoft.com/office/drawing/2014/main" id="{B19A865A-541C-4993-ABFA-1EAC0A37396A}"/>
              </a:ext>
            </a:extLst>
          </p:cNvPr>
          <p:cNvSpPr>
            <a:spLocks noGrp="1"/>
          </p:cNvSpPr>
          <p:nvPr/>
        </p:nvSpPr>
        <p:spPr>
          <a:xfrm>
            <a:off x="4067175" y="3400425"/>
            <a:ext cx="361950" cy="171450"/>
          </a:xfrm>
          <a:prstGeom prst="rightArrow">
            <a:avLst/>
          </a:prstGeom>
          <a:solidFill>
            <a:srgbClr val="4656A8"/>
          </a:solidFill>
          <a:ln w="0">
            <a:noFill/>
          </a:ln>
        </p:spPr>
      </p:sp>
      <p:sp>
        <p:nvSpPr>
          <p:cNvPr id="44" name="Oval 43">
            <a:extLst>
              <a:ext uri="{FF2B5EF4-FFF2-40B4-BE49-F238E27FC236}">
                <a16:creationId xmlns:a16="http://schemas.microsoft.com/office/drawing/2014/main" id="{83520088-BFE2-40EB-8383-3664B5EFB891}"/>
              </a:ext>
            </a:extLst>
          </p:cNvPr>
          <p:cNvSpPr>
            <a:spLocks noGrp="1"/>
          </p:cNvSpPr>
          <p:nvPr/>
        </p:nvSpPr>
        <p:spPr>
          <a:xfrm>
            <a:off x="5143500" y="3238500"/>
            <a:ext cx="495300" cy="495300"/>
          </a:xfrm>
          <a:prstGeom prst="ellipse">
            <a:avLst/>
          </a:prstGeom>
          <a:solidFill>
            <a:srgbClr val="DE664C"/>
          </a:solidFill>
          <a:ln w="0">
            <a:noFill/>
          </a:ln>
        </p:spPr>
      </p:sp>
      <p:sp>
        <p:nvSpPr>
          <p:cNvPr id="45" name="Rectangle 44">
            <a:extLst>
              <a:ext uri="{FF2B5EF4-FFF2-40B4-BE49-F238E27FC236}">
                <a16:creationId xmlns:a16="http://schemas.microsoft.com/office/drawing/2014/main" id="{513437FD-F6B7-40D1-A912-BF4CE47437A6}"/>
              </a:ext>
            </a:extLst>
          </p:cNvPr>
          <p:cNvSpPr>
            <a:spLocks noGrp="1"/>
          </p:cNvSpPr>
          <p:nvPr/>
        </p:nvSpPr>
        <p:spPr>
          <a:xfrm>
            <a:off x="5143500" y="3362325"/>
            <a:ext cx="495300" cy="190500"/>
          </a:xfrm>
          <a:prstGeom prst="rect">
            <a:avLst/>
          </a:prstGeom>
          <a:noFill/>
          <a:ln w="0">
            <a:noFill/>
          </a:ln>
        </p:spPr>
        <p:txBody>
          <a:bodyPr>
            <a:noAutofit/>
          </a:bodyP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3</a:t>
            </a:r>
          </a:p>
        </p:txBody>
      </p:sp>
      <p:sp>
        <p:nvSpPr>
          <p:cNvPr id="46" name="Rectangle 45">
            <a:extLst>
              <a:ext uri="{FF2B5EF4-FFF2-40B4-BE49-F238E27FC236}">
                <a16:creationId xmlns:a16="http://schemas.microsoft.com/office/drawing/2014/main" id="{CBAC1890-AB61-4E74-A091-58EC4BB4CEBE}"/>
              </a:ext>
            </a:extLst>
          </p:cNvPr>
          <p:cNvSpPr>
            <a:spLocks noGrp="1"/>
          </p:cNvSpPr>
          <p:nvPr/>
        </p:nvSpPr>
        <p:spPr>
          <a:xfrm>
            <a:off x="4686300" y="4133850"/>
            <a:ext cx="1409700" cy="247650"/>
          </a:xfrm>
          <a:prstGeom prst="rect">
            <a:avLst/>
          </a:prstGeom>
          <a:noFill/>
          <a:ln w="0">
            <a:noFill/>
          </a:ln>
        </p:spPr>
        <p:txBody>
          <a:bodyPr>
            <a:noAutofit/>
          </a:bodyPr>
          <a:lstStyle/>
          <a:p>
            <a:pPr algn="ctr">
              <a:buNone/>
              <a:defRPr sz="1350" b="1">
                <a:solidFill>
                  <a:srgbClr val="202A44"/>
                </a:solidFill>
                <a:latin typeface="Arial"/>
                <a:ea typeface="Arial"/>
                <a:cs typeface="Arial"/>
              </a:defRPr>
            </a:pPr>
            <a:r>
              <a:rPr sz="1350" b="1">
                <a:solidFill>
                  <a:srgbClr val="202A44"/>
                </a:solidFill>
                <a:latin typeface="Arial"/>
                <a:ea typeface="Arial"/>
                <a:cs typeface="Arial"/>
              </a:rPr>
              <a:t>Safety check</a:t>
            </a:r>
          </a:p>
        </p:txBody>
      </p:sp>
      <p:sp>
        <p:nvSpPr>
          <p:cNvPr id="47" name="Rectangle 46">
            <a:extLst>
              <a:ext uri="{FF2B5EF4-FFF2-40B4-BE49-F238E27FC236}">
                <a16:creationId xmlns:a16="http://schemas.microsoft.com/office/drawing/2014/main" id="{B1855DC1-0B1C-48AF-8B2C-C2805BCDFCCB}"/>
              </a:ext>
            </a:extLst>
          </p:cNvPr>
          <p:cNvSpPr>
            <a:spLocks noGrp="1"/>
          </p:cNvSpPr>
          <p:nvPr/>
        </p:nvSpPr>
        <p:spPr>
          <a:xfrm>
            <a:off x="4629150" y="4495800"/>
            <a:ext cx="1524000" cy="419100"/>
          </a:xfrm>
          <a:prstGeom prst="rect">
            <a:avLst/>
          </a:prstGeom>
          <a:noFill/>
          <a:ln w="0">
            <a:noFill/>
          </a:ln>
        </p:spPr>
        <p:txBody>
          <a:bodyPr>
            <a:noAutofit/>
          </a:bodyPr>
          <a:lstStyle/>
          <a:p>
            <a:pPr algn="ctr">
              <a:buNone/>
              <a:defRPr sz="1050">
                <a:solidFill>
                  <a:srgbClr val="56647A"/>
                </a:solidFill>
                <a:latin typeface="Arial"/>
                <a:ea typeface="Arial"/>
                <a:cs typeface="Arial"/>
              </a:defRPr>
            </a:pPr>
            <a:r>
              <a:rPr sz="1050">
                <a:solidFill>
                  <a:srgbClr val="56647A"/>
                </a:solidFill>
                <a:latin typeface="Arial"/>
                <a:ea typeface="Arial"/>
                <a:cs typeface="Arial"/>
              </a:rPr>
              <a:t>Urgent signs</a:t>
            </a:r>
          </a:p>
          <a:p>
            <a:pPr algn="ctr">
              <a:buNone/>
              <a:defRPr sz="1050">
                <a:solidFill>
                  <a:srgbClr val="56647A"/>
                </a:solidFill>
                <a:latin typeface="Arial"/>
                <a:ea typeface="Arial"/>
                <a:cs typeface="Arial"/>
              </a:defRPr>
            </a:pPr>
            <a:r>
              <a:rPr sz="1050">
                <a:solidFill>
                  <a:srgbClr val="56647A"/>
                </a:solidFill>
                <a:latin typeface="Arial"/>
                <a:ea typeface="Arial"/>
                <a:cs typeface="Arial"/>
              </a:rPr>
              <a:t>checked first</a:t>
            </a:r>
          </a:p>
        </p:txBody>
      </p:sp>
      <p:sp>
        <p:nvSpPr>
          <p:cNvPr id="48" name="Arrow: Right 47">
            <a:extLst>
              <a:ext uri="{FF2B5EF4-FFF2-40B4-BE49-F238E27FC236}">
                <a16:creationId xmlns:a16="http://schemas.microsoft.com/office/drawing/2014/main" id="{8AB0E81F-7F31-4732-B469-214074A0520A}"/>
              </a:ext>
            </a:extLst>
          </p:cNvPr>
          <p:cNvSpPr>
            <a:spLocks noGrp="1"/>
          </p:cNvSpPr>
          <p:nvPr/>
        </p:nvSpPr>
        <p:spPr>
          <a:xfrm>
            <a:off x="6115050" y="3400425"/>
            <a:ext cx="361950" cy="171450"/>
          </a:xfrm>
          <a:prstGeom prst="rightArrow">
            <a:avLst/>
          </a:prstGeom>
          <a:solidFill>
            <a:srgbClr val="4656A8"/>
          </a:solidFill>
          <a:ln w="0">
            <a:noFill/>
          </a:ln>
        </p:spPr>
      </p:sp>
      <p:sp>
        <p:nvSpPr>
          <p:cNvPr id="49" name="Oval 48">
            <a:extLst>
              <a:ext uri="{FF2B5EF4-FFF2-40B4-BE49-F238E27FC236}">
                <a16:creationId xmlns:a16="http://schemas.microsoft.com/office/drawing/2014/main" id="{48126197-AFC0-4CDB-81B3-B5829C2B33DC}"/>
              </a:ext>
            </a:extLst>
          </p:cNvPr>
          <p:cNvSpPr>
            <a:spLocks noGrp="1"/>
          </p:cNvSpPr>
          <p:nvPr/>
        </p:nvSpPr>
        <p:spPr>
          <a:xfrm>
            <a:off x="7191375" y="3238500"/>
            <a:ext cx="495300" cy="495300"/>
          </a:xfrm>
          <a:prstGeom prst="ellipse">
            <a:avLst/>
          </a:prstGeom>
          <a:solidFill>
            <a:srgbClr val="E7A048"/>
          </a:solidFill>
          <a:ln w="0">
            <a:noFill/>
          </a:ln>
        </p:spPr>
      </p:sp>
      <p:sp>
        <p:nvSpPr>
          <p:cNvPr id="50" name="Rectangle 49">
            <a:extLst>
              <a:ext uri="{FF2B5EF4-FFF2-40B4-BE49-F238E27FC236}">
                <a16:creationId xmlns:a16="http://schemas.microsoft.com/office/drawing/2014/main" id="{F62738CE-4B7D-4811-B8BB-8E04702A9289}"/>
              </a:ext>
            </a:extLst>
          </p:cNvPr>
          <p:cNvSpPr>
            <a:spLocks noGrp="1"/>
          </p:cNvSpPr>
          <p:nvPr/>
        </p:nvSpPr>
        <p:spPr>
          <a:xfrm>
            <a:off x="7191375" y="3362325"/>
            <a:ext cx="495300" cy="190500"/>
          </a:xfrm>
          <a:prstGeom prst="rect">
            <a:avLst/>
          </a:prstGeom>
          <a:noFill/>
          <a:ln w="0">
            <a:noFill/>
          </a:ln>
        </p:spPr>
        <p:txBody>
          <a:bodyPr>
            <a:noAutofit/>
          </a:bodyP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4</a:t>
            </a:r>
          </a:p>
        </p:txBody>
      </p:sp>
      <p:sp>
        <p:nvSpPr>
          <p:cNvPr id="51" name="Rectangle 50">
            <a:extLst>
              <a:ext uri="{FF2B5EF4-FFF2-40B4-BE49-F238E27FC236}">
                <a16:creationId xmlns:a16="http://schemas.microsoft.com/office/drawing/2014/main" id="{4DCA4FC7-C3F5-4340-9B9F-77DE56629674}"/>
              </a:ext>
            </a:extLst>
          </p:cNvPr>
          <p:cNvSpPr>
            <a:spLocks noGrp="1"/>
          </p:cNvSpPr>
          <p:nvPr/>
        </p:nvSpPr>
        <p:spPr>
          <a:xfrm>
            <a:off x="6734175" y="4133850"/>
            <a:ext cx="1409700" cy="247650"/>
          </a:xfrm>
          <a:prstGeom prst="rect">
            <a:avLst/>
          </a:prstGeom>
          <a:noFill/>
          <a:ln w="0">
            <a:noFill/>
          </a:ln>
        </p:spPr>
        <p:txBody>
          <a:bodyPr>
            <a:noAutofit/>
          </a:bodyPr>
          <a:lstStyle/>
          <a:p>
            <a:pPr algn="ctr">
              <a:buNone/>
              <a:defRPr sz="1350" b="1">
                <a:solidFill>
                  <a:srgbClr val="202A44"/>
                </a:solidFill>
                <a:latin typeface="Arial"/>
                <a:ea typeface="Arial"/>
                <a:cs typeface="Arial"/>
              </a:defRPr>
            </a:pPr>
            <a:r>
              <a:rPr sz="1350" b="1">
                <a:solidFill>
                  <a:srgbClr val="202A44"/>
                </a:solidFill>
                <a:latin typeface="Arial"/>
                <a:ea typeface="Arial"/>
                <a:cs typeface="Arial"/>
              </a:rPr>
              <a:t>Safe route</a:t>
            </a:r>
          </a:p>
        </p:txBody>
      </p:sp>
      <p:sp>
        <p:nvSpPr>
          <p:cNvPr id="52" name="Rectangle 51">
            <a:extLst>
              <a:ext uri="{FF2B5EF4-FFF2-40B4-BE49-F238E27FC236}">
                <a16:creationId xmlns:a16="http://schemas.microsoft.com/office/drawing/2014/main" id="{78EA62D1-B2F7-41B8-A5FF-C2C0A9679282}"/>
              </a:ext>
            </a:extLst>
          </p:cNvPr>
          <p:cNvSpPr>
            <a:spLocks noGrp="1"/>
          </p:cNvSpPr>
          <p:nvPr/>
        </p:nvSpPr>
        <p:spPr>
          <a:xfrm>
            <a:off x="6677025" y="4495800"/>
            <a:ext cx="1524000" cy="419100"/>
          </a:xfrm>
          <a:prstGeom prst="rect">
            <a:avLst/>
          </a:prstGeom>
          <a:noFill/>
          <a:ln w="0">
            <a:noFill/>
          </a:ln>
        </p:spPr>
        <p:txBody>
          <a:bodyPr>
            <a:noAutofit/>
          </a:bodyPr>
          <a:lstStyle/>
          <a:p>
            <a:pPr algn="ctr">
              <a:buNone/>
              <a:defRPr sz="1050">
                <a:solidFill>
                  <a:srgbClr val="56647A"/>
                </a:solidFill>
                <a:latin typeface="Arial"/>
                <a:ea typeface="Arial"/>
                <a:cs typeface="Arial"/>
              </a:defRPr>
            </a:pPr>
            <a:r>
              <a:rPr sz="1050">
                <a:solidFill>
                  <a:srgbClr val="56647A"/>
                </a:solidFill>
                <a:latin typeface="Arial"/>
                <a:ea typeface="Arial"/>
                <a:cs typeface="Arial"/>
              </a:rPr>
              <a:t>Urgent, routine, or</a:t>
            </a:r>
          </a:p>
          <a:p>
            <a:pPr algn="ctr">
              <a:buNone/>
              <a:defRPr sz="1050">
                <a:solidFill>
                  <a:srgbClr val="56647A"/>
                </a:solidFill>
                <a:latin typeface="Arial"/>
                <a:ea typeface="Arial"/>
                <a:cs typeface="Arial"/>
              </a:defRPr>
            </a:pPr>
            <a:r>
              <a:rPr sz="1050">
                <a:solidFill>
                  <a:srgbClr val="56647A"/>
                </a:solidFill>
                <a:latin typeface="Arial"/>
                <a:ea typeface="Arial"/>
                <a:cs typeface="Arial"/>
              </a:rPr>
              <a:t>human support</a:t>
            </a:r>
          </a:p>
        </p:txBody>
      </p:sp>
      <p:sp>
        <p:nvSpPr>
          <p:cNvPr id="53" name="Arrow: Right 52">
            <a:extLst>
              <a:ext uri="{FF2B5EF4-FFF2-40B4-BE49-F238E27FC236}">
                <a16:creationId xmlns:a16="http://schemas.microsoft.com/office/drawing/2014/main" id="{5C8FC8CB-EE61-4B36-9911-9020556CB082}"/>
              </a:ext>
            </a:extLst>
          </p:cNvPr>
          <p:cNvSpPr>
            <a:spLocks noGrp="1"/>
          </p:cNvSpPr>
          <p:nvPr/>
        </p:nvSpPr>
        <p:spPr>
          <a:xfrm>
            <a:off x="8162925" y="3400425"/>
            <a:ext cx="361950" cy="171450"/>
          </a:xfrm>
          <a:prstGeom prst="rightArrow">
            <a:avLst/>
          </a:prstGeom>
          <a:solidFill>
            <a:srgbClr val="4656A8"/>
          </a:solidFill>
          <a:ln w="0">
            <a:noFill/>
          </a:ln>
        </p:spPr>
      </p:sp>
      <p:sp>
        <p:nvSpPr>
          <p:cNvPr id="54" name="Oval 53">
            <a:extLst>
              <a:ext uri="{FF2B5EF4-FFF2-40B4-BE49-F238E27FC236}">
                <a16:creationId xmlns:a16="http://schemas.microsoft.com/office/drawing/2014/main" id="{78BC831F-C6AA-454D-ABB5-EBC61F360EA1}"/>
              </a:ext>
            </a:extLst>
          </p:cNvPr>
          <p:cNvSpPr>
            <a:spLocks noGrp="1"/>
          </p:cNvSpPr>
          <p:nvPr/>
        </p:nvSpPr>
        <p:spPr>
          <a:xfrm>
            <a:off x="9239250" y="3238500"/>
            <a:ext cx="495300" cy="495300"/>
          </a:xfrm>
          <a:prstGeom prst="ellipse">
            <a:avLst/>
          </a:prstGeom>
          <a:solidFill>
            <a:srgbClr val="237A7A"/>
          </a:solidFill>
          <a:ln w="0">
            <a:noFill/>
          </a:ln>
        </p:spPr>
      </p:sp>
      <p:sp>
        <p:nvSpPr>
          <p:cNvPr id="55" name="Rectangle 54">
            <a:extLst>
              <a:ext uri="{FF2B5EF4-FFF2-40B4-BE49-F238E27FC236}">
                <a16:creationId xmlns:a16="http://schemas.microsoft.com/office/drawing/2014/main" id="{48CD07ED-4629-4C5A-BD4A-B3A8A909463C}"/>
              </a:ext>
            </a:extLst>
          </p:cNvPr>
          <p:cNvSpPr>
            <a:spLocks noGrp="1"/>
          </p:cNvSpPr>
          <p:nvPr/>
        </p:nvSpPr>
        <p:spPr>
          <a:xfrm>
            <a:off x="9239250" y="3362325"/>
            <a:ext cx="495300" cy="190500"/>
          </a:xfrm>
          <a:prstGeom prst="rect">
            <a:avLst/>
          </a:prstGeom>
          <a:noFill/>
          <a:ln w="0">
            <a:noFill/>
          </a:ln>
        </p:spPr>
        <p:txBody>
          <a:bodyPr>
            <a:noAutofit/>
          </a:bodyP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5</a:t>
            </a:r>
          </a:p>
        </p:txBody>
      </p:sp>
      <p:sp>
        <p:nvSpPr>
          <p:cNvPr id="56" name="Rectangle 55">
            <a:extLst>
              <a:ext uri="{FF2B5EF4-FFF2-40B4-BE49-F238E27FC236}">
                <a16:creationId xmlns:a16="http://schemas.microsoft.com/office/drawing/2014/main" id="{456B9774-0CE8-4E99-B7AE-381372C7DD9C}"/>
              </a:ext>
            </a:extLst>
          </p:cNvPr>
          <p:cNvSpPr>
            <a:spLocks noGrp="1"/>
          </p:cNvSpPr>
          <p:nvPr/>
        </p:nvSpPr>
        <p:spPr>
          <a:xfrm>
            <a:off x="8782050" y="4133850"/>
            <a:ext cx="1409700" cy="247650"/>
          </a:xfrm>
          <a:prstGeom prst="rect">
            <a:avLst/>
          </a:prstGeom>
          <a:noFill/>
          <a:ln w="0">
            <a:noFill/>
          </a:ln>
        </p:spPr>
        <p:txBody>
          <a:bodyPr>
            <a:noAutofit/>
          </a:bodyPr>
          <a:lstStyle/>
          <a:p>
            <a:pPr algn="ctr">
              <a:buNone/>
              <a:defRPr sz="1350" b="1">
                <a:solidFill>
                  <a:srgbClr val="202A44"/>
                </a:solidFill>
                <a:latin typeface="Arial"/>
                <a:ea typeface="Arial"/>
                <a:cs typeface="Arial"/>
              </a:defRPr>
            </a:pPr>
            <a:r>
              <a:rPr sz="1350" b="1">
                <a:solidFill>
                  <a:srgbClr val="202A44"/>
                </a:solidFill>
                <a:latin typeface="Arial"/>
                <a:ea typeface="Arial"/>
                <a:cs typeface="Arial"/>
              </a:rPr>
              <a:t>Next action</a:t>
            </a:r>
          </a:p>
        </p:txBody>
      </p:sp>
      <p:sp>
        <p:nvSpPr>
          <p:cNvPr id="57" name="Rectangle 56">
            <a:extLst>
              <a:ext uri="{FF2B5EF4-FFF2-40B4-BE49-F238E27FC236}">
                <a16:creationId xmlns:a16="http://schemas.microsoft.com/office/drawing/2014/main" id="{06452303-EDFC-4F2A-8704-2AF06273424B}"/>
              </a:ext>
            </a:extLst>
          </p:cNvPr>
          <p:cNvSpPr>
            <a:spLocks noGrp="1"/>
          </p:cNvSpPr>
          <p:nvPr/>
        </p:nvSpPr>
        <p:spPr>
          <a:xfrm>
            <a:off x="8724900" y="4495800"/>
            <a:ext cx="1524000" cy="419100"/>
          </a:xfrm>
          <a:prstGeom prst="rect">
            <a:avLst/>
          </a:prstGeom>
          <a:noFill/>
          <a:ln w="0">
            <a:noFill/>
          </a:ln>
        </p:spPr>
        <p:txBody>
          <a:bodyPr>
            <a:noAutofit/>
          </a:bodyPr>
          <a:lstStyle/>
          <a:p>
            <a:pPr algn="ctr">
              <a:buNone/>
              <a:defRPr sz="1050">
                <a:solidFill>
                  <a:srgbClr val="56647A"/>
                </a:solidFill>
                <a:latin typeface="Arial"/>
                <a:ea typeface="Arial"/>
                <a:cs typeface="Arial"/>
              </a:defRPr>
            </a:pPr>
            <a:r>
              <a:rPr sz="1050">
                <a:solidFill>
                  <a:srgbClr val="56647A"/>
                </a:solidFill>
                <a:latin typeface="Arial"/>
                <a:ea typeface="Arial"/>
                <a:cs typeface="Arial"/>
              </a:rPr>
              <a:t>Guidance, service</a:t>
            </a:r>
          </a:p>
          <a:p>
            <a:pPr algn="ctr">
              <a:buNone/>
              <a:defRPr sz="1050">
                <a:solidFill>
                  <a:srgbClr val="56647A"/>
                </a:solidFill>
                <a:latin typeface="Arial"/>
                <a:ea typeface="Arial"/>
                <a:cs typeface="Arial"/>
              </a:defRPr>
            </a:pPr>
            <a:r>
              <a:rPr sz="1050">
                <a:solidFill>
                  <a:srgbClr val="56647A"/>
                </a:solidFill>
                <a:latin typeface="Arial"/>
                <a:ea typeface="Arial"/>
                <a:cs typeface="Arial"/>
              </a:rPr>
              <a:t>direction, sharing</a:t>
            </a:r>
          </a:p>
        </p:txBody>
      </p:sp>
      <p:sp>
        <p:nvSpPr>
          <p:cNvPr id="58" name="Rectangle: Rounded Corners 57">
            <a:extLst>
              <a:ext uri="{FF2B5EF4-FFF2-40B4-BE49-F238E27FC236}">
                <a16:creationId xmlns:a16="http://schemas.microsoft.com/office/drawing/2014/main" id="{A1EA363B-8A57-4D48-B321-F7DA9FF795EB}"/>
              </a:ext>
            </a:extLst>
          </p:cNvPr>
          <p:cNvSpPr>
            <a:spLocks noGrp="1"/>
          </p:cNvSpPr>
          <p:nvPr/>
        </p:nvSpPr>
        <p:spPr>
          <a:xfrm>
            <a:off x="1714500" y="5391150"/>
            <a:ext cx="8382000" cy="742950"/>
          </a:xfrm>
          <a:prstGeom prst="roundRect">
            <a:avLst>
              <a:gd name="adj" fmla="val 10256"/>
            </a:avLst>
          </a:prstGeom>
          <a:solidFill>
            <a:srgbClr val="FFFFFF"/>
          </a:solidFill>
          <a:ln w="0">
            <a:noFill/>
          </a:ln>
        </p:spPr>
      </p:sp>
      <p:sp>
        <p:nvSpPr>
          <p:cNvPr id="59" name="Rectangle 58">
            <a:extLst>
              <a:ext uri="{FF2B5EF4-FFF2-40B4-BE49-F238E27FC236}">
                <a16:creationId xmlns:a16="http://schemas.microsoft.com/office/drawing/2014/main" id="{E0CBD234-018D-4CCA-89B8-286938FBCCEE}"/>
              </a:ext>
            </a:extLst>
          </p:cNvPr>
          <p:cNvSpPr>
            <a:spLocks noGrp="1"/>
          </p:cNvSpPr>
          <p:nvPr/>
        </p:nvSpPr>
        <p:spPr>
          <a:xfrm>
            <a:off x="2000250" y="5572125"/>
            <a:ext cx="7810500" cy="400050"/>
          </a:xfrm>
          <a:prstGeom prst="rect">
            <a:avLst/>
          </a:prstGeom>
          <a:noFill/>
          <a:ln w="0">
            <a:noFill/>
          </a:ln>
        </p:spPr>
        <p:txBody>
          <a:bodyPr>
            <a:noAutofit/>
          </a:bodyPr>
          <a:lstStyle/>
          <a:p>
            <a:pPr algn="ctr">
              <a:buNone/>
              <a:defRPr sz="1275" b="1">
                <a:solidFill>
                  <a:srgbClr val="202A44"/>
                </a:solidFill>
                <a:latin typeface="Arial"/>
                <a:ea typeface="Arial"/>
                <a:cs typeface="Arial"/>
              </a:defRPr>
            </a:pPr>
            <a:r>
              <a:rPr sz="1275" b="1">
                <a:solidFill>
                  <a:srgbClr val="202A44"/>
                </a:solidFill>
                <a:latin typeface="Arial"/>
                <a:ea typeface="Arial"/>
                <a:cs typeface="Arial"/>
              </a:rPr>
              <a:t>Every result offers a Back or Start again option so people can revisit choices</a:t>
            </a:r>
          </a:p>
          <a:p>
            <a:pPr algn="ctr">
              <a:buNone/>
              <a:defRPr sz="1275" b="1">
                <a:solidFill>
                  <a:srgbClr val="202A44"/>
                </a:solidFill>
                <a:latin typeface="Arial"/>
                <a:ea typeface="Arial"/>
                <a:cs typeface="Arial"/>
              </a:defRPr>
            </a:pPr>
            <a:r>
              <a:rPr sz="1275" b="1">
                <a:solidFill>
                  <a:srgbClr val="202A44"/>
                </a:solidFill>
                <a:latin typeface="Arial"/>
                <a:ea typeface="Arial"/>
                <a:cs typeface="Arial"/>
              </a:rPr>
              <a:t>without losing the journey.</a:t>
            </a:r>
          </a:p>
        </p:txBody>
      </p:sp>
      <p:sp>
        <p:nvSpPr>
          <p:cNvPr id="60" name="Rectangle 59">
            <a:extLst>
              <a:ext uri="{FF2B5EF4-FFF2-40B4-BE49-F238E27FC236}">
                <a16:creationId xmlns:a16="http://schemas.microsoft.com/office/drawing/2014/main" id="{57A760AE-3083-45A7-AE43-710380D28AF4}"/>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56647A"/>
                </a:solidFill>
                <a:latin typeface="Arial"/>
                <a:ea typeface="Arial"/>
                <a:cs typeface="Arial"/>
              </a:defRPr>
            </a:pPr>
            <a:r>
              <a:rPr sz="900">
                <a:solidFill>
                  <a:srgbClr val="56647A"/>
                </a:solidFill>
                <a:latin typeface="Arial"/>
                <a:ea typeface="Arial"/>
                <a:cs typeface="Arial"/>
              </a:rPr>
              <a:t>4</a:t>
            </a:r>
          </a:p>
        </p:txBody>
      </p:sp>
    </p:spTree>
    <p:extLst>
      <p:ext uri="{BB962C8B-B14F-4D97-AF65-F5344CB8AC3E}">
        <p14:creationId xmlns:p14="http://schemas.microsoft.com/office/powerpoint/2010/main" val="378439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9"/>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0ABD0F25-75C8-4380-B8D5-B8D86CC99C53}"/>
              </a:ext>
            </a:extLst>
          </p:cNvPr>
          <p:cNvSpPr>
            <a:spLocks noGrp="1"/>
          </p:cNvSpPr>
          <p:nvPr/>
        </p:nvSpPr>
        <p:spPr>
          <a:xfrm>
            <a:off x="704850" y="495300"/>
            <a:ext cx="419100" cy="209550"/>
          </a:xfrm>
          <a:prstGeom prst="rect">
            <a:avLst/>
          </a:prstGeom>
          <a:noFill/>
          <a:ln w="0">
            <a:noFill/>
          </a:ln>
        </p:spPr>
        <p:txBody>
          <a:bodyPr>
            <a:normAutofit fontScale="86111"/>
          </a:bodyPr>
          <a:lstStyle/>
          <a:p>
            <a:pPr>
              <a:buNone/>
              <a:defRPr sz="900" b="1">
                <a:solidFill>
                  <a:srgbClr val="00A28F"/>
                </a:solidFill>
                <a:latin typeface="Arial"/>
                <a:ea typeface="Arial"/>
                <a:cs typeface="Arial"/>
              </a:defRPr>
            </a:pPr>
            <a:r>
              <a:rPr sz="900" b="1">
                <a:solidFill>
                  <a:srgbClr val="00A28F"/>
                </a:solidFill>
                <a:latin typeface="Arial"/>
                <a:ea typeface="Arial"/>
                <a:cs typeface="Arial"/>
              </a:rPr>
              <a:t>05</a:t>
            </a:r>
          </a:p>
        </p:txBody>
      </p:sp>
      <p:sp>
        <p:nvSpPr>
          <p:cNvPr id="2" name="Rectangle 1">
            <a:extLst>
              <a:ext uri="{FF2B5EF4-FFF2-40B4-BE49-F238E27FC236}">
                <a16:creationId xmlns:a16="http://schemas.microsoft.com/office/drawing/2014/main" id="{DB3BBFC2-39A3-4F45-BCB7-C33F2A2C389B}"/>
              </a:ext>
            </a:extLst>
          </p:cNvPr>
          <p:cNvSpPr>
            <a:spLocks noGrp="1"/>
          </p:cNvSpPr>
          <p:nvPr/>
        </p:nvSpPr>
        <p:spPr>
          <a:xfrm>
            <a:off x="704850" y="790575"/>
            <a:ext cx="9525000" cy="447675"/>
          </a:xfrm>
          <a:prstGeom prst="rect">
            <a:avLst/>
          </a:prstGeom>
          <a:noFill/>
          <a:ln w="0">
            <a:noFill/>
          </a:ln>
        </p:spPr>
        <p:txBody>
          <a:bodyPr>
            <a:normAutofit fontScale="91667"/>
          </a:bodyPr>
          <a:lstStyle/>
          <a:p>
            <a:pPr>
              <a:buNone/>
              <a:defRPr sz="2550" b="1">
                <a:solidFill>
                  <a:srgbClr val="092F3E"/>
                </a:solidFill>
                <a:latin typeface="Arial"/>
                <a:ea typeface="Arial"/>
                <a:cs typeface="Arial"/>
              </a:defRPr>
            </a:pPr>
            <a:r>
              <a:rPr sz="2550" b="1">
                <a:solidFill>
                  <a:srgbClr val="092F3E"/>
                </a:solidFill>
                <a:latin typeface="Arial"/>
                <a:ea typeface="Arial"/>
                <a:cs typeface="Arial"/>
              </a:rPr>
              <a:t>Live user journey</a:t>
            </a:r>
          </a:p>
        </p:txBody>
      </p:sp>
      <p:sp>
        <p:nvSpPr>
          <p:cNvPr id="3" name="Rectangle 2">
            <a:extLst>
              <a:ext uri="{FF2B5EF4-FFF2-40B4-BE49-F238E27FC236}">
                <a16:creationId xmlns:a16="http://schemas.microsoft.com/office/drawing/2014/main" id="{C73F853F-83B9-4FD5-B9AA-4B09816B7951}"/>
              </a:ext>
            </a:extLst>
          </p:cNvPr>
          <p:cNvSpPr>
            <a:spLocks noGrp="1"/>
          </p:cNvSpPr>
          <p:nvPr/>
        </p:nvSpPr>
        <p:spPr>
          <a:xfrm>
            <a:off x="723900" y="1323975"/>
            <a:ext cx="9144000" cy="266700"/>
          </a:xfrm>
          <a:prstGeom prst="rect">
            <a:avLst/>
          </a:prstGeom>
          <a:noFill/>
          <a:ln w="0">
            <a:noFill/>
          </a:ln>
        </p:spPr>
        <p:txBody>
          <a:bodyPr>
            <a:normAutofit fontScale="95833"/>
          </a:bodyPr>
          <a:lstStyle/>
          <a:p>
            <a:pPr>
              <a:buNone/>
              <a:defRPr sz="1200" b="0">
                <a:solidFill>
                  <a:srgbClr val="5B7180"/>
                </a:solidFill>
                <a:latin typeface="Arial"/>
                <a:ea typeface="Arial"/>
                <a:cs typeface="Arial"/>
              </a:defRPr>
            </a:pPr>
            <a:r>
              <a:rPr sz="1200" b="0">
                <a:solidFill>
                  <a:srgbClr val="5B7180"/>
                </a:solidFill>
                <a:latin typeface="Arial"/>
                <a:ea typeface="Arial"/>
                <a:cs typeface="Arial"/>
              </a:rPr>
              <a:t>One intake flow, then a clear route to an appropriate next action</a:t>
            </a:r>
          </a:p>
        </p:txBody>
      </p:sp>
      <p:sp>
        <p:nvSpPr>
          <p:cNvPr id="4" name="Rectangle 3">
            <a:extLst>
              <a:ext uri="{FF2B5EF4-FFF2-40B4-BE49-F238E27FC236}">
                <a16:creationId xmlns:a16="http://schemas.microsoft.com/office/drawing/2014/main" id="{61F99B2C-29B3-4D27-B7DD-26F591B15355}"/>
              </a:ext>
            </a:extLst>
          </p:cNvPr>
          <p:cNvSpPr>
            <a:spLocks noGrp="1"/>
          </p:cNvSpPr>
          <p:nvPr/>
        </p:nvSpPr>
        <p:spPr>
          <a:xfrm>
            <a:off x="704850" y="1762125"/>
            <a:ext cx="1066800" cy="47625"/>
          </a:xfrm>
          <a:prstGeom prst="rect">
            <a:avLst/>
          </a:prstGeom>
          <a:solidFill>
            <a:srgbClr val="00A28F"/>
          </a:solidFill>
          <a:ln w="9525">
            <a:solidFill>
              <a:srgbClr val="00A28F"/>
            </a:solidFill>
          </a:ln>
        </p:spPr>
      </p:sp>
      <p:sp>
        <p:nvSpPr>
          <p:cNvPr id="5" name="Rectangle 4">
            <a:extLst>
              <a:ext uri="{FF2B5EF4-FFF2-40B4-BE49-F238E27FC236}">
                <a16:creationId xmlns:a16="http://schemas.microsoft.com/office/drawing/2014/main" id="{96E86DE7-2B0C-40EE-94F6-5415A39D74D7}"/>
              </a:ext>
            </a:extLst>
          </p:cNvPr>
          <p:cNvSpPr>
            <a:spLocks noGrp="1"/>
          </p:cNvSpPr>
          <p:nvPr/>
        </p:nvSpPr>
        <p:spPr>
          <a:xfrm>
            <a:off x="704850" y="6457950"/>
            <a:ext cx="10782300" cy="9525"/>
          </a:xfrm>
          <a:prstGeom prst="rect">
            <a:avLst/>
          </a:prstGeom>
          <a:solidFill>
            <a:srgbClr val="C9DFDE"/>
          </a:solidFill>
          <a:ln w="9525">
            <a:solidFill>
              <a:srgbClr val="C9DFDE"/>
            </a:solidFill>
          </a:ln>
        </p:spPr>
      </p:sp>
      <p:sp>
        <p:nvSpPr>
          <p:cNvPr id="6" name="Rectangle 5">
            <a:extLst>
              <a:ext uri="{FF2B5EF4-FFF2-40B4-BE49-F238E27FC236}">
                <a16:creationId xmlns:a16="http://schemas.microsoft.com/office/drawing/2014/main" id="{03BA477B-84D0-45B1-A788-565265E7452C}"/>
              </a:ext>
            </a:extLst>
          </p:cNvPr>
          <p:cNvSpPr>
            <a:spLocks noGrp="1"/>
          </p:cNvSpPr>
          <p:nvPr/>
        </p:nvSpPr>
        <p:spPr>
          <a:xfrm>
            <a:off x="704850" y="6581775"/>
            <a:ext cx="2952750" cy="142875"/>
          </a:xfrm>
          <a:prstGeom prst="rect">
            <a:avLst/>
          </a:prstGeom>
          <a:noFill/>
          <a:ln w="0">
            <a:noFill/>
          </a:ln>
        </p:spPr>
        <p:txBody>
          <a:bodyPr>
            <a:normAutofit fontScale="50000"/>
          </a:bodyPr>
          <a:lstStyle/>
          <a:p>
            <a:pPr>
              <a:buNone/>
              <a:defRPr sz="675" b="0">
                <a:solidFill>
                  <a:srgbClr val="5B7180"/>
                </a:solidFill>
                <a:latin typeface="Arial"/>
                <a:ea typeface="Arial"/>
                <a:cs typeface="Arial"/>
              </a:defRPr>
            </a:pPr>
            <a:r>
              <a:rPr sz="675" b="0">
                <a:solidFill>
                  <a:srgbClr val="5B7180"/>
                </a:solidFill>
                <a:latin typeface="Arial"/>
                <a:ea typeface="Arial"/>
                <a:cs typeface="Arial"/>
              </a:rPr>
              <a:t>NETRAJYOTI AI  /  CAPSTONE MVP</a:t>
            </a:r>
          </a:p>
        </p:txBody>
      </p:sp>
      <p:sp>
        <p:nvSpPr>
          <p:cNvPr id="7" name="Rectangle 6">
            <a:extLst>
              <a:ext uri="{FF2B5EF4-FFF2-40B4-BE49-F238E27FC236}">
                <a16:creationId xmlns:a16="http://schemas.microsoft.com/office/drawing/2014/main" id="{535E19D1-7BEE-4A6C-9D7D-876940B5200F}"/>
              </a:ext>
            </a:extLst>
          </p:cNvPr>
          <p:cNvSpPr>
            <a:spLocks noGrp="1"/>
          </p:cNvSpPr>
          <p:nvPr/>
        </p:nvSpPr>
        <p:spPr>
          <a:xfrm>
            <a:off x="10991850" y="6581775"/>
            <a:ext cx="495300" cy="142875"/>
          </a:xfrm>
          <a:prstGeom prst="rect">
            <a:avLst/>
          </a:prstGeom>
          <a:noFill/>
          <a:ln w="0">
            <a:noFill/>
          </a:ln>
        </p:spPr>
        <p:txBody>
          <a:bodyPr>
            <a:normAutofit fontScale="50000"/>
          </a:bodyPr>
          <a:lstStyle/>
          <a:p>
            <a:pPr>
              <a:buNone/>
              <a:defRPr sz="675" b="0">
                <a:solidFill>
                  <a:srgbClr val="5B7180"/>
                </a:solidFill>
                <a:latin typeface="Arial"/>
                <a:ea typeface="Arial"/>
                <a:cs typeface="Arial"/>
              </a:defRPr>
            </a:pPr>
            <a:r>
              <a:rPr sz="675" b="0">
                <a:solidFill>
                  <a:srgbClr val="5B7180"/>
                </a:solidFill>
                <a:latin typeface="Arial"/>
                <a:ea typeface="Arial"/>
                <a:cs typeface="Arial"/>
              </a:rPr>
              <a:t>05</a:t>
            </a:r>
          </a:p>
        </p:txBody>
      </p:sp>
      <p:sp>
        <p:nvSpPr>
          <p:cNvPr id="8" name="Rectangle 7">
            <a:extLst>
              <a:ext uri="{FF2B5EF4-FFF2-40B4-BE49-F238E27FC236}">
                <a16:creationId xmlns:a16="http://schemas.microsoft.com/office/drawing/2014/main" id="{B0BDE83E-70C4-4CB8-812D-0E85775CE8B7}"/>
              </a:ext>
            </a:extLst>
          </p:cNvPr>
          <p:cNvSpPr>
            <a:spLocks noGrp="1"/>
          </p:cNvSpPr>
          <p:nvPr/>
        </p:nvSpPr>
        <p:spPr>
          <a:xfrm>
            <a:off x="762000" y="2181225"/>
            <a:ext cx="1524000" cy="161925"/>
          </a:xfrm>
          <a:prstGeom prst="rect">
            <a:avLst/>
          </a:prstGeom>
          <a:noFill/>
          <a:ln w="0">
            <a:noFill/>
          </a:ln>
        </p:spPr>
        <p:txBody>
          <a:bodyPr>
            <a:normAutofit fontScale="56061"/>
          </a:bodyPr>
          <a:lstStyle/>
          <a:p>
            <a:pPr>
              <a:buNone/>
              <a:defRPr sz="825" b="1">
                <a:solidFill>
                  <a:srgbClr val="00A28F"/>
                </a:solidFill>
                <a:latin typeface="Arial"/>
                <a:ea typeface="Arial"/>
                <a:cs typeface="Arial"/>
              </a:defRPr>
            </a:pPr>
            <a:r>
              <a:rPr sz="825" b="1">
                <a:solidFill>
                  <a:srgbClr val="00A28F"/>
                </a:solidFill>
                <a:latin typeface="Arial"/>
                <a:ea typeface="Arial"/>
                <a:cs typeface="Arial"/>
              </a:rPr>
              <a:t>COMMON INTAKE</a:t>
            </a:r>
          </a:p>
        </p:txBody>
      </p:sp>
      <p:sp>
        <p:nvSpPr>
          <p:cNvPr id="9" name="Rectangle: Rounded Corners 8">
            <a:extLst>
              <a:ext uri="{FF2B5EF4-FFF2-40B4-BE49-F238E27FC236}">
                <a16:creationId xmlns:a16="http://schemas.microsoft.com/office/drawing/2014/main" id="{7CEA6CEE-9D0C-492C-A446-5CC071E08CF9}"/>
              </a:ext>
            </a:extLst>
          </p:cNvPr>
          <p:cNvSpPr>
            <a:spLocks noGrp="1"/>
          </p:cNvSpPr>
          <p:nvPr/>
        </p:nvSpPr>
        <p:spPr>
          <a:xfrm>
            <a:off x="781050" y="2533650"/>
            <a:ext cx="1809750" cy="1066800"/>
          </a:xfrm>
          <a:prstGeom prst="roundRect">
            <a:avLst>
              <a:gd name="adj" fmla="val 7143"/>
            </a:avLst>
          </a:prstGeom>
          <a:solidFill>
            <a:srgbClr val="FFFFFF"/>
          </a:solidFill>
          <a:ln w="9525">
            <a:solidFill>
              <a:srgbClr val="C9DFDE"/>
            </a:solidFill>
          </a:ln>
        </p:spPr>
      </p:sp>
      <p:sp>
        <p:nvSpPr>
          <p:cNvPr id="10" name="Rectangle 9">
            <a:extLst>
              <a:ext uri="{FF2B5EF4-FFF2-40B4-BE49-F238E27FC236}">
                <a16:creationId xmlns:a16="http://schemas.microsoft.com/office/drawing/2014/main" id="{9CFC9E74-9567-4B3E-9BED-3AB6EB9ED26C}"/>
              </a:ext>
            </a:extLst>
          </p:cNvPr>
          <p:cNvSpPr>
            <a:spLocks noGrp="1"/>
          </p:cNvSpPr>
          <p:nvPr/>
        </p:nvSpPr>
        <p:spPr>
          <a:xfrm>
            <a:off x="952500" y="2705100"/>
            <a:ext cx="381000" cy="171450"/>
          </a:xfrm>
          <a:prstGeom prst="rect">
            <a:avLst/>
          </a:prstGeom>
          <a:noFill/>
          <a:ln w="0">
            <a:noFill/>
          </a:ln>
        </p:spPr>
        <p:txBody>
          <a:bodyPr>
            <a:normAutofit fontScale="63636"/>
          </a:bodyPr>
          <a:lstStyle/>
          <a:p>
            <a:pPr>
              <a:buNone/>
              <a:defRPr sz="825" b="1">
                <a:solidFill>
                  <a:srgbClr val="00A28F"/>
                </a:solidFill>
                <a:latin typeface="Arial"/>
                <a:ea typeface="Arial"/>
                <a:cs typeface="Arial"/>
              </a:defRPr>
            </a:pPr>
            <a:r>
              <a:rPr sz="825" b="1">
                <a:solidFill>
                  <a:srgbClr val="00A28F"/>
                </a:solidFill>
                <a:latin typeface="Arial"/>
                <a:ea typeface="Arial"/>
                <a:cs typeface="Arial"/>
              </a:rPr>
              <a:t>01</a:t>
            </a:r>
          </a:p>
        </p:txBody>
      </p:sp>
      <p:sp>
        <p:nvSpPr>
          <p:cNvPr id="11" name="Rectangle 10">
            <a:extLst>
              <a:ext uri="{FF2B5EF4-FFF2-40B4-BE49-F238E27FC236}">
                <a16:creationId xmlns:a16="http://schemas.microsoft.com/office/drawing/2014/main" id="{5FAEF527-8910-4E69-8125-C59A5FF777FA}"/>
              </a:ext>
            </a:extLst>
          </p:cNvPr>
          <p:cNvSpPr>
            <a:spLocks noGrp="1"/>
          </p:cNvSpPr>
          <p:nvPr/>
        </p:nvSpPr>
        <p:spPr>
          <a:xfrm>
            <a:off x="952500" y="2962275"/>
            <a:ext cx="1428750" cy="238125"/>
          </a:xfrm>
          <a:prstGeom prst="rect">
            <a:avLst/>
          </a:prstGeom>
          <a:noFill/>
          <a:ln w="0">
            <a:noFill/>
          </a:ln>
        </p:spPr>
        <p:txBody>
          <a:bodyPr>
            <a:normAutofit fontScale="71296"/>
          </a:bodyPr>
          <a:lstStyle/>
          <a:p>
            <a:pPr>
              <a:buNone/>
              <a:defRPr sz="1350" b="1">
                <a:solidFill>
                  <a:srgbClr val="092F3E"/>
                </a:solidFill>
                <a:latin typeface="Arial"/>
                <a:ea typeface="Arial"/>
                <a:cs typeface="Arial"/>
              </a:defRPr>
            </a:pPr>
            <a:r>
              <a:rPr sz="1350" b="1">
                <a:solidFill>
                  <a:srgbClr val="092F3E"/>
                </a:solidFill>
                <a:latin typeface="Arial"/>
                <a:ea typeface="Arial"/>
                <a:cs typeface="Arial"/>
              </a:rPr>
              <a:t>Consent</a:t>
            </a:r>
          </a:p>
        </p:txBody>
      </p:sp>
      <p:sp>
        <p:nvSpPr>
          <p:cNvPr id="12" name="Rectangle 11">
            <a:extLst>
              <a:ext uri="{FF2B5EF4-FFF2-40B4-BE49-F238E27FC236}">
                <a16:creationId xmlns:a16="http://schemas.microsoft.com/office/drawing/2014/main" id="{164C18FB-0EB0-4435-8182-BE6F796DA269}"/>
              </a:ext>
            </a:extLst>
          </p:cNvPr>
          <p:cNvSpPr>
            <a:spLocks noGrp="1"/>
          </p:cNvSpPr>
          <p:nvPr/>
        </p:nvSpPr>
        <p:spPr>
          <a:xfrm>
            <a:off x="952500" y="3286125"/>
            <a:ext cx="1428750" cy="180975"/>
          </a:xfrm>
          <a:prstGeom prst="rect">
            <a:avLst/>
          </a:prstGeom>
          <a:noFill/>
          <a:ln w="0">
            <a:noFill/>
          </a:ln>
        </p:spPr>
        <p:txBody>
          <a:bodyPr>
            <a:normAutofit fontScale="60256"/>
          </a:bodyPr>
          <a:lstStyle/>
          <a:p>
            <a:pPr>
              <a:buNone/>
              <a:defRPr sz="975" b="0">
                <a:solidFill>
                  <a:srgbClr val="5B7180"/>
                </a:solidFill>
                <a:latin typeface="Arial"/>
                <a:ea typeface="Arial"/>
                <a:cs typeface="Arial"/>
              </a:defRPr>
            </a:pPr>
            <a:r>
              <a:rPr sz="975" b="0">
                <a:solidFill>
                  <a:srgbClr val="5B7180"/>
                </a:solidFill>
                <a:latin typeface="Arial"/>
                <a:ea typeface="Arial"/>
                <a:cs typeface="Arial"/>
              </a:rPr>
              <a:t>User agrees to begin</a:t>
            </a:r>
          </a:p>
        </p:txBody>
      </p:sp>
      <p:sp>
        <p:nvSpPr>
          <p:cNvPr id="13" name="Rectangle 12">
            <a:extLst>
              <a:ext uri="{FF2B5EF4-FFF2-40B4-BE49-F238E27FC236}">
                <a16:creationId xmlns:a16="http://schemas.microsoft.com/office/drawing/2014/main" id="{6FDCF42E-D127-4F42-B0EB-E5F72B7345F5}"/>
              </a:ext>
            </a:extLst>
          </p:cNvPr>
          <p:cNvSpPr>
            <a:spLocks noGrp="1"/>
          </p:cNvSpPr>
          <p:nvPr/>
        </p:nvSpPr>
        <p:spPr>
          <a:xfrm>
            <a:off x="2628900" y="2895600"/>
            <a:ext cx="381000" cy="361950"/>
          </a:xfrm>
          <a:prstGeom prst="rect">
            <a:avLst/>
          </a:prstGeom>
          <a:noFill/>
          <a:ln w="0">
            <a:noFill/>
          </a:ln>
        </p:spPr>
        <p:txBody>
          <a:bodyPr>
            <a:normAutofit fontScale="64830"/>
          </a:bodyPr>
          <a:lstStyle/>
          <a:p>
            <a:pPr>
              <a:buNone/>
              <a:defRPr sz="2400" b="0">
                <a:solidFill>
                  <a:srgbClr val="00A28F"/>
                </a:solidFill>
                <a:latin typeface="Arial"/>
                <a:ea typeface="Arial"/>
                <a:cs typeface="Arial"/>
              </a:defRPr>
            </a:pPr>
            <a:r>
              <a:rPr sz="2400" b="0">
                <a:solidFill>
                  <a:srgbClr val="00A28F"/>
                </a:solidFill>
                <a:latin typeface="Arial"/>
                <a:ea typeface="Arial"/>
                <a:cs typeface="Arial"/>
              </a:rPr>
              <a:t>→</a:t>
            </a:r>
          </a:p>
        </p:txBody>
      </p:sp>
      <p:sp>
        <p:nvSpPr>
          <p:cNvPr id="14" name="Rectangle: Rounded Corners 13">
            <a:extLst>
              <a:ext uri="{FF2B5EF4-FFF2-40B4-BE49-F238E27FC236}">
                <a16:creationId xmlns:a16="http://schemas.microsoft.com/office/drawing/2014/main" id="{108F51DA-797E-47E4-8044-3AC7E7A48A42}"/>
              </a:ext>
            </a:extLst>
          </p:cNvPr>
          <p:cNvSpPr>
            <a:spLocks noGrp="1"/>
          </p:cNvSpPr>
          <p:nvPr/>
        </p:nvSpPr>
        <p:spPr>
          <a:xfrm>
            <a:off x="2990850" y="2533650"/>
            <a:ext cx="1809750" cy="1066800"/>
          </a:xfrm>
          <a:prstGeom prst="roundRect">
            <a:avLst>
              <a:gd name="adj" fmla="val 7143"/>
            </a:avLst>
          </a:prstGeom>
          <a:solidFill>
            <a:srgbClr val="FFFFFF"/>
          </a:solidFill>
          <a:ln w="9525">
            <a:solidFill>
              <a:srgbClr val="C9DFDE"/>
            </a:solidFill>
          </a:ln>
        </p:spPr>
      </p:sp>
      <p:sp>
        <p:nvSpPr>
          <p:cNvPr id="15" name="Rectangle 14">
            <a:extLst>
              <a:ext uri="{FF2B5EF4-FFF2-40B4-BE49-F238E27FC236}">
                <a16:creationId xmlns:a16="http://schemas.microsoft.com/office/drawing/2014/main" id="{03C18C48-B890-4507-829E-3AB8BC9311B6}"/>
              </a:ext>
            </a:extLst>
          </p:cNvPr>
          <p:cNvSpPr>
            <a:spLocks noGrp="1"/>
          </p:cNvSpPr>
          <p:nvPr/>
        </p:nvSpPr>
        <p:spPr>
          <a:xfrm>
            <a:off x="3162300" y="2705100"/>
            <a:ext cx="381000" cy="171450"/>
          </a:xfrm>
          <a:prstGeom prst="rect">
            <a:avLst/>
          </a:prstGeom>
          <a:noFill/>
          <a:ln w="0">
            <a:noFill/>
          </a:ln>
        </p:spPr>
        <p:txBody>
          <a:bodyPr>
            <a:normAutofit fontScale="63636"/>
          </a:bodyPr>
          <a:lstStyle/>
          <a:p>
            <a:pPr>
              <a:buNone/>
              <a:defRPr sz="825" b="1">
                <a:solidFill>
                  <a:srgbClr val="00A28F"/>
                </a:solidFill>
                <a:latin typeface="Arial"/>
                <a:ea typeface="Arial"/>
                <a:cs typeface="Arial"/>
              </a:defRPr>
            </a:pPr>
            <a:r>
              <a:rPr sz="825" b="1">
                <a:solidFill>
                  <a:srgbClr val="00A28F"/>
                </a:solidFill>
                <a:latin typeface="Arial"/>
                <a:ea typeface="Arial"/>
                <a:cs typeface="Arial"/>
              </a:rPr>
              <a:t>02</a:t>
            </a:r>
          </a:p>
        </p:txBody>
      </p:sp>
      <p:sp>
        <p:nvSpPr>
          <p:cNvPr id="16" name="Rectangle 15">
            <a:extLst>
              <a:ext uri="{FF2B5EF4-FFF2-40B4-BE49-F238E27FC236}">
                <a16:creationId xmlns:a16="http://schemas.microsoft.com/office/drawing/2014/main" id="{286EF276-1243-413B-B421-EF6FE5ED9EB6}"/>
              </a:ext>
            </a:extLst>
          </p:cNvPr>
          <p:cNvSpPr>
            <a:spLocks noGrp="1"/>
          </p:cNvSpPr>
          <p:nvPr/>
        </p:nvSpPr>
        <p:spPr>
          <a:xfrm>
            <a:off x="3162300" y="2962275"/>
            <a:ext cx="1428750" cy="238125"/>
          </a:xfrm>
          <a:prstGeom prst="rect">
            <a:avLst/>
          </a:prstGeom>
          <a:noFill/>
          <a:ln w="0">
            <a:noFill/>
          </a:ln>
        </p:spPr>
        <p:txBody>
          <a:bodyPr>
            <a:normAutofit fontScale="71296"/>
          </a:bodyPr>
          <a:lstStyle/>
          <a:p>
            <a:pPr>
              <a:buNone/>
              <a:defRPr sz="1350" b="1">
                <a:solidFill>
                  <a:srgbClr val="092F3E"/>
                </a:solidFill>
                <a:latin typeface="Arial"/>
                <a:ea typeface="Arial"/>
                <a:cs typeface="Arial"/>
              </a:defRPr>
            </a:pPr>
            <a:r>
              <a:rPr sz="1350" b="1">
                <a:solidFill>
                  <a:srgbClr val="092F3E"/>
                </a:solidFill>
                <a:latin typeface="Arial"/>
                <a:ea typeface="Arial"/>
                <a:cs typeface="Arial"/>
              </a:rPr>
              <a:t>Symptoms</a:t>
            </a:r>
          </a:p>
        </p:txBody>
      </p:sp>
      <p:sp>
        <p:nvSpPr>
          <p:cNvPr id="17" name="Rectangle 16">
            <a:extLst>
              <a:ext uri="{FF2B5EF4-FFF2-40B4-BE49-F238E27FC236}">
                <a16:creationId xmlns:a16="http://schemas.microsoft.com/office/drawing/2014/main" id="{601751A8-7C2D-4ADE-AB48-25C1B4210C73}"/>
              </a:ext>
            </a:extLst>
          </p:cNvPr>
          <p:cNvSpPr>
            <a:spLocks noGrp="1"/>
          </p:cNvSpPr>
          <p:nvPr/>
        </p:nvSpPr>
        <p:spPr>
          <a:xfrm>
            <a:off x="3162300" y="3286125"/>
            <a:ext cx="1428750" cy="180975"/>
          </a:xfrm>
          <a:prstGeom prst="rect">
            <a:avLst/>
          </a:prstGeom>
          <a:noFill/>
          <a:ln w="0">
            <a:noFill/>
          </a:ln>
        </p:spPr>
        <p:txBody>
          <a:bodyPr>
            <a:normAutofit fontScale="60256"/>
          </a:bodyPr>
          <a:lstStyle/>
          <a:p>
            <a:pPr>
              <a:buNone/>
              <a:defRPr sz="975" b="0">
                <a:solidFill>
                  <a:srgbClr val="5B7180"/>
                </a:solidFill>
                <a:latin typeface="Arial"/>
                <a:ea typeface="Arial"/>
                <a:cs typeface="Arial"/>
              </a:defRPr>
            </a:pPr>
            <a:r>
              <a:rPr sz="975" b="0">
                <a:solidFill>
                  <a:srgbClr val="5B7180"/>
                </a:solidFill>
                <a:latin typeface="Arial"/>
                <a:ea typeface="Arial"/>
                <a:cs typeface="Arial"/>
              </a:rPr>
              <a:t>Fixed Bengali choices</a:t>
            </a:r>
          </a:p>
        </p:txBody>
      </p:sp>
      <p:sp>
        <p:nvSpPr>
          <p:cNvPr id="18" name="Rectangle 17">
            <a:extLst>
              <a:ext uri="{FF2B5EF4-FFF2-40B4-BE49-F238E27FC236}">
                <a16:creationId xmlns:a16="http://schemas.microsoft.com/office/drawing/2014/main" id="{34141C45-F851-442A-BCFB-58750AE4AFC0}"/>
              </a:ext>
            </a:extLst>
          </p:cNvPr>
          <p:cNvSpPr>
            <a:spLocks noGrp="1"/>
          </p:cNvSpPr>
          <p:nvPr/>
        </p:nvSpPr>
        <p:spPr>
          <a:xfrm>
            <a:off x="4838700" y="2895600"/>
            <a:ext cx="381000" cy="361950"/>
          </a:xfrm>
          <a:prstGeom prst="rect">
            <a:avLst/>
          </a:prstGeom>
          <a:noFill/>
          <a:ln w="0">
            <a:noFill/>
          </a:ln>
        </p:spPr>
        <p:txBody>
          <a:bodyPr>
            <a:normAutofit fontScale="64830"/>
          </a:bodyPr>
          <a:lstStyle/>
          <a:p>
            <a:pPr>
              <a:buNone/>
              <a:defRPr sz="2400" b="0">
                <a:solidFill>
                  <a:srgbClr val="00A28F"/>
                </a:solidFill>
                <a:latin typeface="Arial"/>
                <a:ea typeface="Arial"/>
                <a:cs typeface="Arial"/>
              </a:defRPr>
            </a:pPr>
            <a:r>
              <a:rPr sz="2400" b="0">
                <a:solidFill>
                  <a:srgbClr val="00A28F"/>
                </a:solidFill>
                <a:latin typeface="Arial"/>
                <a:ea typeface="Arial"/>
                <a:cs typeface="Arial"/>
              </a:rPr>
              <a:t>→</a:t>
            </a:r>
          </a:p>
        </p:txBody>
      </p:sp>
      <p:sp>
        <p:nvSpPr>
          <p:cNvPr id="19" name="Rectangle: Rounded Corners 18">
            <a:extLst>
              <a:ext uri="{FF2B5EF4-FFF2-40B4-BE49-F238E27FC236}">
                <a16:creationId xmlns:a16="http://schemas.microsoft.com/office/drawing/2014/main" id="{8A12AC08-B728-44BC-A0CF-87C16E5B15E2}"/>
              </a:ext>
            </a:extLst>
          </p:cNvPr>
          <p:cNvSpPr>
            <a:spLocks noGrp="1"/>
          </p:cNvSpPr>
          <p:nvPr/>
        </p:nvSpPr>
        <p:spPr>
          <a:xfrm>
            <a:off x="5200650" y="2533650"/>
            <a:ext cx="1809750" cy="1066800"/>
          </a:xfrm>
          <a:prstGeom prst="roundRect">
            <a:avLst>
              <a:gd name="adj" fmla="val 7143"/>
            </a:avLst>
          </a:prstGeom>
          <a:solidFill>
            <a:srgbClr val="FFFFFF"/>
          </a:solidFill>
          <a:ln w="9525">
            <a:solidFill>
              <a:srgbClr val="C9DFDE"/>
            </a:solidFill>
          </a:ln>
        </p:spPr>
      </p:sp>
      <p:sp>
        <p:nvSpPr>
          <p:cNvPr id="20" name="Rectangle 19">
            <a:extLst>
              <a:ext uri="{FF2B5EF4-FFF2-40B4-BE49-F238E27FC236}">
                <a16:creationId xmlns:a16="http://schemas.microsoft.com/office/drawing/2014/main" id="{0C33BCE5-4ED5-4B38-90F3-9F73B2263B15}"/>
              </a:ext>
            </a:extLst>
          </p:cNvPr>
          <p:cNvSpPr>
            <a:spLocks noGrp="1"/>
          </p:cNvSpPr>
          <p:nvPr/>
        </p:nvSpPr>
        <p:spPr>
          <a:xfrm>
            <a:off x="5372100" y="2705100"/>
            <a:ext cx="381000" cy="171450"/>
          </a:xfrm>
          <a:prstGeom prst="rect">
            <a:avLst/>
          </a:prstGeom>
          <a:noFill/>
          <a:ln w="0">
            <a:noFill/>
          </a:ln>
        </p:spPr>
        <p:txBody>
          <a:bodyPr>
            <a:normAutofit fontScale="63636"/>
          </a:bodyPr>
          <a:lstStyle/>
          <a:p>
            <a:pPr>
              <a:buNone/>
              <a:defRPr sz="825" b="1">
                <a:solidFill>
                  <a:srgbClr val="00A28F"/>
                </a:solidFill>
                <a:latin typeface="Arial"/>
                <a:ea typeface="Arial"/>
                <a:cs typeface="Arial"/>
              </a:defRPr>
            </a:pPr>
            <a:r>
              <a:rPr sz="825" b="1">
                <a:solidFill>
                  <a:srgbClr val="00A28F"/>
                </a:solidFill>
                <a:latin typeface="Arial"/>
                <a:ea typeface="Arial"/>
                <a:cs typeface="Arial"/>
              </a:rPr>
              <a:t>03</a:t>
            </a:r>
          </a:p>
        </p:txBody>
      </p:sp>
      <p:sp>
        <p:nvSpPr>
          <p:cNvPr id="21" name="Rectangle 20">
            <a:extLst>
              <a:ext uri="{FF2B5EF4-FFF2-40B4-BE49-F238E27FC236}">
                <a16:creationId xmlns:a16="http://schemas.microsoft.com/office/drawing/2014/main" id="{D218BCE0-75F5-4378-86FC-BF1FFE6B19CA}"/>
              </a:ext>
            </a:extLst>
          </p:cNvPr>
          <p:cNvSpPr>
            <a:spLocks noGrp="1"/>
          </p:cNvSpPr>
          <p:nvPr/>
        </p:nvSpPr>
        <p:spPr>
          <a:xfrm>
            <a:off x="5372100" y="2962275"/>
            <a:ext cx="1428750" cy="238125"/>
          </a:xfrm>
          <a:prstGeom prst="rect">
            <a:avLst/>
          </a:prstGeom>
          <a:noFill/>
          <a:ln w="0">
            <a:noFill/>
          </a:ln>
        </p:spPr>
        <p:txBody>
          <a:bodyPr>
            <a:normAutofit fontScale="71296"/>
          </a:bodyPr>
          <a:lstStyle/>
          <a:p>
            <a:pPr>
              <a:buNone/>
              <a:defRPr sz="1350" b="1">
                <a:solidFill>
                  <a:srgbClr val="092F3E"/>
                </a:solidFill>
                <a:latin typeface="Arial"/>
                <a:ea typeface="Arial"/>
                <a:cs typeface="Arial"/>
              </a:defRPr>
            </a:pPr>
            <a:r>
              <a:rPr sz="1350" b="1">
                <a:solidFill>
                  <a:srgbClr val="092F3E"/>
                </a:solidFill>
                <a:latin typeface="Arial"/>
                <a:ea typeface="Arial"/>
                <a:cs typeface="Arial"/>
              </a:rPr>
              <a:t>Urgent check</a:t>
            </a:r>
          </a:p>
        </p:txBody>
      </p:sp>
      <p:sp>
        <p:nvSpPr>
          <p:cNvPr id="22" name="Rectangle 21">
            <a:extLst>
              <a:ext uri="{FF2B5EF4-FFF2-40B4-BE49-F238E27FC236}">
                <a16:creationId xmlns:a16="http://schemas.microsoft.com/office/drawing/2014/main" id="{0D561312-232B-4F3B-B62F-93CE4B879B99}"/>
              </a:ext>
            </a:extLst>
          </p:cNvPr>
          <p:cNvSpPr>
            <a:spLocks noGrp="1"/>
          </p:cNvSpPr>
          <p:nvPr/>
        </p:nvSpPr>
        <p:spPr>
          <a:xfrm>
            <a:off x="5372100" y="3286125"/>
            <a:ext cx="1428750" cy="180975"/>
          </a:xfrm>
          <a:prstGeom prst="rect">
            <a:avLst/>
          </a:prstGeom>
          <a:noFill/>
          <a:ln w="0">
            <a:noFill/>
          </a:ln>
        </p:spPr>
        <p:txBody>
          <a:bodyPr>
            <a:normAutofit fontScale="60256"/>
          </a:bodyPr>
          <a:lstStyle/>
          <a:p>
            <a:pPr>
              <a:buNone/>
              <a:defRPr sz="975" b="0">
                <a:solidFill>
                  <a:srgbClr val="5B7180"/>
                </a:solidFill>
                <a:latin typeface="Arial"/>
                <a:ea typeface="Arial"/>
                <a:cs typeface="Arial"/>
              </a:defRPr>
            </a:pPr>
            <a:r>
              <a:rPr sz="975" b="0">
                <a:solidFill>
                  <a:srgbClr val="5B7180"/>
                </a:solidFill>
                <a:latin typeface="Arial"/>
                <a:ea typeface="Arial"/>
                <a:cs typeface="Arial"/>
              </a:rPr>
              <a:t>Current warning signs</a:t>
            </a:r>
          </a:p>
        </p:txBody>
      </p:sp>
      <p:sp>
        <p:nvSpPr>
          <p:cNvPr id="23" name="Rectangle: Rounded Corners 22">
            <a:extLst>
              <a:ext uri="{FF2B5EF4-FFF2-40B4-BE49-F238E27FC236}">
                <a16:creationId xmlns:a16="http://schemas.microsoft.com/office/drawing/2014/main" id="{0255C798-4EF7-46E6-84CC-60DEA379709B}"/>
              </a:ext>
            </a:extLst>
          </p:cNvPr>
          <p:cNvSpPr>
            <a:spLocks noGrp="1"/>
          </p:cNvSpPr>
          <p:nvPr/>
        </p:nvSpPr>
        <p:spPr>
          <a:xfrm>
            <a:off x="7534275" y="2343150"/>
            <a:ext cx="2457450" cy="1447800"/>
          </a:xfrm>
          <a:prstGeom prst="roundRect">
            <a:avLst>
              <a:gd name="adj" fmla="val 5263"/>
            </a:avLst>
          </a:prstGeom>
          <a:solidFill>
            <a:srgbClr val="0B3A4A"/>
          </a:solidFill>
          <a:ln w="9525">
            <a:solidFill>
              <a:srgbClr val="0B3A4A"/>
            </a:solidFill>
          </a:ln>
        </p:spPr>
      </p:sp>
      <p:sp>
        <p:nvSpPr>
          <p:cNvPr id="24" name="Rectangle 23">
            <a:extLst>
              <a:ext uri="{FF2B5EF4-FFF2-40B4-BE49-F238E27FC236}">
                <a16:creationId xmlns:a16="http://schemas.microsoft.com/office/drawing/2014/main" id="{12667886-C98B-4C88-9E66-E68044FC4F3E}"/>
              </a:ext>
            </a:extLst>
          </p:cNvPr>
          <p:cNvSpPr>
            <a:spLocks noGrp="1"/>
          </p:cNvSpPr>
          <p:nvPr/>
        </p:nvSpPr>
        <p:spPr>
          <a:xfrm>
            <a:off x="7848600" y="2647950"/>
            <a:ext cx="1819275" cy="504825"/>
          </a:xfrm>
          <a:prstGeom prst="rect">
            <a:avLst/>
          </a:prstGeom>
          <a:noFill/>
          <a:ln w="0">
            <a:noFill/>
          </a:ln>
        </p:spPr>
        <p:txBody>
          <a:bodyPr>
            <a:normAutofit fontScale="90417"/>
          </a:bodyPr>
          <a:lstStyle/>
          <a:p>
            <a:pPr>
              <a:buNone/>
              <a:defRPr sz="1500" b="1">
                <a:solidFill>
                  <a:srgbClr val="FFFFFF"/>
                </a:solidFill>
                <a:latin typeface="Arial"/>
                <a:ea typeface="Arial"/>
                <a:cs typeface="Arial"/>
              </a:defRPr>
            </a:pPr>
            <a:r>
              <a:rPr sz="1500" b="1">
                <a:solidFill>
                  <a:srgbClr val="FFFFFF"/>
                </a:solidFill>
                <a:latin typeface="Arial"/>
                <a:ea typeface="Arial"/>
                <a:cs typeface="Arial"/>
              </a:rPr>
              <a:t>JAVA SELECTS</a:t>
            </a:r>
          </a:p>
          <a:p>
            <a:pPr>
              <a:buNone/>
              <a:defRPr sz="1500" b="1">
                <a:solidFill>
                  <a:srgbClr val="FFFFFF"/>
                </a:solidFill>
                <a:latin typeface="Arial"/>
                <a:ea typeface="Arial"/>
                <a:cs typeface="Arial"/>
              </a:defRPr>
            </a:pPr>
            <a:r>
              <a:rPr sz="1500" b="1">
                <a:solidFill>
                  <a:srgbClr val="FFFFFF"/>
                </a:solidFill>
                <a:latin typeface="Arial"/>
                <a:ea typeface="Arial"/>
                <a:cs typeface="Arial"/>
              </a:rPr>
              <a:t>ONE SAFE ROUTE</a:t>
            </a:r>
          </a:p>
        </p:txBody>
      </p:sp>
      <p:sp>
        <p:nvSpPr>
          <p:cNvPr id="25" name="Rectangle 24">
            <a:extLst>
              <a:ext uri="{FF2B5EF4-FFF2-40B4-BE49-F238E27FC236}">
                <a16:creationId xmlns:a16="http://schemas.microsoft.com/office/drawing/2014/main" id="{4F3E38D9-1112-462C-9A0A-3B181CEE3B3A}"/>
              </a:ext>
            </a:extLst>
          </p:cNvPr>
          <p:cNvSpPr>
            <a:spLocks noGrp="1"/>
          </p:cNvSpPr>
          <p:nvPr/>
        </p:nvSpPr>
        <p:spPr>
          <a:xfrm>
            <a:off x="7810500" y="3314700"/>
            <a:ext cx="1905000" cy="228600"/>
          </a:xfrm>
          <a:prstGeom prst="rect">
            <a:avLst/>
          </a:prstGeom>
          <a:noFill/>
          <a:ln w="0">
            <a:noFill/>
          </a:ln>
        </p:spPr>
        <p:txBody>
          <a:bodyPr>
            <a:normAutofit fontScale="75611"/>
          </a:bodyPr>
          <a:lstStyle/>
          <a:p>
            <a:pPr>
              <a:buNone/>
              <a:defRPr sz="975" b="0">
                <a:solidFill>
                  <a:srgbClr val="CDE5E1"/>
                </a:solidFill>
                <a:latin typeface="Arial"/>
                <a:ea typeface="Arial"/>
                <a:cs typeface="Arial"/>
              </a:defRPr>
            </a:pPr>
            <a:r>
              <a:rPr sz="975" b="0">
                <a:solidFill>
                  <a:srgbClr val="CDE5E1"/>
                </a:solidFill>
                <a:latin typeface="Arial"/>
                <a:ea typeface="Arial"/>
                <a:cs typeface="Arial"/>
              </a:rPr>
              <a:t>The selected route drives the next screen</a:t>
            </a:r>
          </a:p>
        </p:txBody>
      </p:sp>
      <p:sp>
        <p:nvSpPr>
          <p:cNvPr id="26" name="Rectangle 25">
            <a:extLst>
              <a:ext uri="{FF2B5EF4-FFF2-40B4-BE49-F238E27FC236}">
                <a16:creationId xmlns:a16="http://schemas.microsoft.com/office/drawing/2014/main" id="{6D77BAA4-1B0A-4698-8DA6-44BE2A62CE89}"/>
              </a:ext>
            </a:extLst>
          </p:cNvPr>
          <p:cNvSpPr>
            <a:spLocks noGrp="1"/>
          </p:cNvSpPr>
          <p:nvPr/>
        </p:nvSpPr>
        <p:spPr>
          <a:xfrm>
            <a:off x="10048875" y="2895600"/>
            <a:ext cx="381000" cy="361950"/>
          </a:xfrm>
          <a:prstGeom prst="rect">
            <a:avLst/>
          </a:prstGeom>
          <a:noFill/>
          <a:ln w="0">
            <a:noFill/>
          </a:ln>
        </p:spPr>
        <p:txBody>
          <a:bodyPr>
            <a:normAutofit fontScale="64830"/>
          </a:bodyPr>
          <a:lstStyle/>
          <a:p>
            <a:pPr>
              <a:buNone/>
              <a:defRPr sz="2400" b="0">
                <a:solidFill>
                  <a:srgbClr val="00A28F"/>
                </a:solidFill>
                <a:latin typeface="Arial"/>
                <a:ea typeface="Arial"/>
                <a:cs typeface="Arial"/>
              </a:defRPr>
            </a:pPr>
            <a:r>
              <a:rPr sz="2400" b="0">
                <a:solidFill>
                  <a:srgbClr val="00A28F"/>
                </a:solidFill>
                <a:latin typeface="Arial"/>
                <a:ea typeface="Arial"/>
                <a:cs typeface="Arial"/>
              </a:rPr>
              <a:t>→</a:t>
            </a:r>
          </a:p>
        </p:txBody>
      </p:sp>
      <p:sp>
        <p:nvSpPr>
          <p:cNvPr id="27" name="Rectangle 26">
            <a:extLst>
              <a:ext uri="{FF2B5EF4-FFF2-40B4-BE49-F238E27FC236}">
                <a16:creationId xmlns:a16="http://schemas.microsoft.com/office/drawing/2014/main" id="{81CA566C-AA2E-4B90-B070-88EC15B80AB9}"/>
              </a:ext>
            </a:extLst>
          </p:cNvPr>
          <p:cNvSpPr>
            <a:spLocks noGrp="1"/>
          </p:cNvSpPr>
          <p:nvPr/>
        </p:nvSpPr>
        <p:spPr>
          <a:xfrm>
            <a:off x="762000" y="4352925"/>
            <a:ext cx="1524000" cy="161925"/>
          </a:xfrm>
          <a:prstGeom prst="rect">
            <a:avLst/>
          </a:prstGeom>
          <a:noFill/>
          <a:ln w="0">
            <a:noFill/>
          </a:ln>
        </p:spPr>
        <p:txBody>
          <a:bodyPr>
            <a:normAutofit fontScale="56061"/>
          </a:bodyPr>
          <a:lstStyle/>
          <a:p>
            <a:pPr>
              <a:buNone/>
              <a:defRPr sz="825" b="1">
                <a:solidFill>
                  <a:srgbClr val="00A28F"/>
                </a:solidFill>
                <a:latin typeface="Arial"/>
                <a:ea typeface="Arial"/>
                <a:cs typeface="Arial"/>
              </a:defRPr>
            </a:pPr>
            <a:r>
              <a:rPr sz="825" b="1">
                <a:solidFill>
                  <a:srgbClr val="00A28F"/>
                </a:solidFill>
                <a:latin typeface="Arial"/>
                <a:ea typeface="Arial"/>
                <a:cs typeface="Arial"/>
              </a:rPr>
              <a:t>RESULT PATHS</a:t>
            </a:r>
          </a:p>
        </p:txBody>
      </p:sp>
      <p:sp>
        <p:nvSpPr>
          <p:cNvPr id="28" name="Rectangle 27">
            <a:extLst>
              <a:ext uri="{FF2B5EF4-FFF2-40B4-BE49-F238E27FC236}">
                <a16:creationId xmlns:a16="http://schemas.microsoft.com/office/drawing/2014/main" id="{52B519BB-0243-4337-B133-4173BB228D30}"/>
              </a:ext>
            </a:extLst>
          </p:cNvPr>
          <p:cNvSpPr>
            <a:spLocks noGrp="1"/>
          </p:cNvSpPr>
          <p:nvPr/>
        </p:nvSpPr>
        <p:spPr>
          <a:xfrm>
            <a:off x="781050" y="4829175"/>
            <a:ext cx="3162300" cy="47625"/>
          </a:xfrm>
          <a:prstGeom prst="rect">
            <a:avLst/>
          </a:prstGeom>
          <a:solidFill>
            <a:srgbClr val="E2524B"/>
          </a:solidFill>
          <a:ln w="9525">
            <a:solidFill>
              <a:srgbClr val="E2524B"/>
            </a:solidFill>
          </a:ln>
        </p:spPr>
      </p:sp>
      <p:sp>
        <p:nvSpPr>
          <p:cNvPr id="29" name="Rectangle 28">
            <a:extLst>
              <a:ext uri="{FF2B5EF4-FFF2-40B4-BE49-F238E27FC236}">
                <a16:creationId xmlns:a16="http://schemas.microsoft.com/office/drawing/2014/main" id="{4E440626-F1B2-46CD-8503-C18BFAB59928}"/>
              </a:ext>
            </a:extLst>
          </p:cNvPr>
          <p:cNvSpPr>
            <a:spLocks noGrp="1"/>
          </p:cNvSpPr>
          <p:nvPr/>
        </p:nvSpPr>
        <p:spPr>
          <a:xfrm>
            <a:off x="781050" y="5010150"/>
            <a:ext cx="2952750" cy="238125"/>
          </a:xfrm>
          <a:prstGeom prst="rect">
            <a:avLst/>
          </a:prstGeom>
          <a:noFill/>
          <a:ln w="0">
            <a:noFill/>
          </a:ln>
        </p:spPr>
        <p:txBody>
          <a:bodyPr>
            <a:normAutofit fontScale="64167"/>
          </a:bodyPr>
          <a:lstStyle/>
          <a:p>
            <a:pPr>
              <a:buNone/>
              <a:defRPr sz="1500" b="1">
                <a:solidFill>
                  <a:srgbClr val="E2524B"/>
                </a:solidFill>
                <a:latin typeface="Arial"/>
                <a:ea typeface="Arial"/>
                <a:cs typeface="Arial"/>
              </a:defRPr>
            </a:pPr>
            <a:r>
              <a:rPr sz="1500" b="1">
                <a:solidFill>
                  <a:srgbClr val="E2524B"/>
                </a:solidFill>
                <a:latin typeface="Arial"/>
                <a:ea typeface="Arial"/>
                <a:cs typeface="Arial"/>
              </a:rPr>
              <a:t>Urgent</a:t>
            </a:r>
          </a:p>
        </p:txBody>
      </p:sp>
      <p:sp>
        <p:nvSpPr>
          <p:cNvPr id="30" name="Rectangle 29">
            <a:extLst>
              <a:ext uri="{FF2B5EF4-FFF2-40B4-BE49-F238E27FC236}">
                <a16:creationId xmlns:a16="http://schemas.microsoft.com/office/drawing/2014/main" id="{4B835AD0-4F70-4D29-AD5A-1DC18E583B47}"/>
              </a:ext>
            </a:extLst>
          </p:cNvPr>
          <p:cNvSpPr>
            <a:spLocks noGrp="1"/>
          </p:cNvSpPr>
          <p:nvPr/>
        </p:nvSpPr>
        <p:spPr>
          <a:xfrm>
            <a:off x="781050" y="5324475"/>
            <a:ext cx="3162300" cy="209550"/>
          </a:xfrm>
          <a:prstGeom prst="rect">
            <a:avLst/>
          </a:prstGeom>
          <a:noFill/>
          <a:ln w="0">
            <a:noFill/>
          </a:ln>
        </p:spPr>
        <p:txBody>
          <a:bodyPr>
            <a:normAutofit fontScale="64583"/>
          </a:bodyPr>
          <a:lstStyle/>
          <a:p>
            <a:pPr>
              <a:buNone/>
              <a:defRPr sz="1200" b="0">
                <a:solidFill>
                  <a:srgbClr val="092F3E"/>
                </a:solidFill>
                <a:latin typeface="Arial"/>
                <a:ea typeface="Arial"/>
                <a:cs typeface="Arial"/>
              </a:defRPr>
            </a:pPr>
            <a:r>
              <a:rPr sz="1200" b="0">
                <a:solidFill>
                  <a:srgbClr val="092F3E"/>
                </a:solidFill>
                <a:latin typeface="Arial"/>
                <a:ea typeface="Arial"/>
                <a:cs typeface="Arial"/>
              </a:rPr>
              <a:t>Seek eye care without delay</a:t>
            </a:r>
          </a:p>
        </p:txBody>
      </p:sp>
      <p:sp>
        <p:nvSpPr>
          <p:cNvPr id="31" name="Rectangle 30">
            <a:extLst>
              <a:ext uri="{FF2B5EF4-FFF2-40B4-BE49-F238E27FC236}">
                <a16:creationId xmlns:a16="http://schemas.microsoft.com/office/drawing/2014/main" id="{43BE8753-9FA6-47D1-90BD-50D2AFF3BDDB}"/>
              </a:ext>
            </a:extLst>
          </p:cNvPr>
          <p:cNvSpPr>
            <a:spLocks noGrp="1"/>
          </p:cNvSpPr>
          <p:nvPr/>
        </p:nvSpPr>
        <p:spPr>
          <a:xfrm>
            <a:off x="781050" y="5638800"/>
            <a:ext cx="3162300" cy="180975"/>
          </a:xfrm>
          <a:prstGeom prst="rect">
            <a:avLst/>
          </a:prstGeom>
          <a:noFill/>
          <a:ln w="0">
            <a:noFill/>
          </a:ln>
        </p:spPr>
        <p:txBody>
          <a:bodyPr>
            <a:normAutofit fontScale="60256"/>
          </a:bodyPr>
          <a:lstStyle/>
          <a:p>
            <a:pPr>
              <a:buNone/>
              <a:defRPr sz="975" b="0">
                <a:solidFill>
                  <a:srgbClr val="5B7180"/>
                </a:solidFill>
                <a:latin typeface="Arial"/>
                <a:ea typeface="Arial"/>
                <a:cs typeface="Arial"/>
              </a:defRPr>
            </a:pPr>
            <a:r>
              <a:rPr sz="975" b="0">
                <a:solidFill>
                  <a:srgbClr val="5B7180"/>
                </a:solidFill>
                <a:latin typeface="Arial"/>
                <a:ea typeface="Arial"/>
                <a:cs typeface="Arial"/>
              </a:rPr>
              <a:t>Urgent care direction</a:t>
            </a:r>
          </a:p>
        </p:txBody>
      </p:sp>
      <p:sp>
        <p:nvSpPr>
          <p:cNvPr id="32" name="Rectangle 31">
            <a:extLst>
              <a:ext uri="{FF2B5EF4-FFF2-40B4-BE49-F238E27FC236}">
                <a16:creationId xmlns:a16="http://schemas.microsoft.com/office/drawing/2014/main" id="{941120F0-2FD0-4083-813D-9D7321119C84}"/>
              </a:ext>
            </a:extLst>
          </p:cNvPr>
          <p:cNvSpPr>
            <a:spLocks noGrp="1"/>
          </p:cNvSpPr>
          <p:nvPr/>
        </p:nvSpPr>
        <p:spPr>
          <a:xfrm>
            <a:off x="4419600" y="4829175"/>
            <a:ext cx="3162300" cy="47625"/>
          </a:xfrm>
          <a:prstGeom prst="rect">
            <a:avLst/>
          </a:prstGeom>
          <a:solidFill>
            <a:srgbClr val="00A28F"/>
          </a:solidFill>
          <a:ln w="9525">
            <a:solidFill>
              <a:srgbClr val="00A28F"/>
            </a:solidFill>
          </a:ln>
        </p:spPr>
      </p:sp>
      <p:sp>
        <p:nvSpPr>
          <p:cNvPr id="33" name="Rectangle 32">
            <a:extLst>
              <a:ext uri="{FF2B5EF4-FFF2-40B4-BE49-F238E27FC236}">
                <a16:creationId xmlns:a16="http://schemas.microsoft.com/office/drawing/2014/main" id="{137CFB41-4263-4324-B3A3-14995C1A0715}"/>
              </a:ext>
            </a:extLst>
          </p:cNvPr>
          <p:cNvSpPr>
            <a:spLocks noGrp="1"/>
          </p:cNvSpPr>
          <p:nvPr/>
        </p:nvSpPr>
        <p:spPr>
          <a:xfrm>
            <a:off x="4419600" y="5010150"/>
            <a:ext cx="2952750" cy="238125"/>
          </a:xfrm>
          <a:prstGeom prst="rect">
            <a:avLst/>
          </a:prstGeom>
          <a:noFill/>
          <a:ln w="0">
            <a:noFill/>
          </a:ln>
        </p:spPr>
        <p:txBody>
          <a:bodyPr>
            <a:normAutofit fontScale="64167"/>
          </a:bodyPr>
          <a:lstStyle/>
          <a:p>
            <a:pPr>
              <a:buNone/>
              <a:defRPr sz="1500" b="1">
                <a:solidFill>
                  <a:srgbClr val="00A28F"/>
                </a:solidFill>
                <a:latin typeface="Arial"/>
                <a:ea typeface="Arial"/>
                <a:cs typeface="Arial"/>
              </a:defRPr>
            </a:pPr>
            <a:r>
              <a:rPr sz="1500" b="1">
                <a:solidFill>
                  <a:srgbClr val="00A28F"/>
                </a:solidFill>
                <a:latin typeface="Arial"/>
                <a:ea typeface="Arial"/>
                <a:cs typeface="Arial"/>
              </a:rPr>
              <a:t>Routine</a:t>
            </a:r>
          </a:p>
        </p:txBody>
      </p:sp>
      <p:sp>
        <p:nvSpPr>
          <p:cNvPr id="34" name="Rectangle 33">
            <a:extLst>
              <a:ext uri="{FF2B5EF4-FFF2-40B4-BE49-F238E27FC236}">
                <a16:creationId xmlns:a16="http://schemas.microsoft.com/office/drawing/2014/main" id="{CF2C4FD8-1DAE-4B4C-891C-BB0D89A8D776}"/>
              </a:ext>
            </a:extLst>
          </p:cNvPr>
          <p:cNvSpPr>
            <a:spLocks noGrp="1"/>
          </p:cNvSpPr>
          <p:nvPr/>
        </p:nvSpPr>
        <p:spPr>
          <a:xfrm>
            <a:off x="4419600" y="5324475"/>
            <a:ext cx="3162300" cy="209550"/>
          </a:xfrm>
          <a:prstGeom prst="rect">
            <a:avLst/>
          </a:prstGeom>
          <a:noFill/>
          <a:ln w="0">
            <a:noFill/>
          </a:ln>
        </p:spPr>
        <p:txBody>
          <a:bodyPr>
            <a:normAutofit fontScale="64583"/>
          </a:bodyPr>
          <a:lstStyle/>
          <a:p>
            <a:pPr>
              <a:buNone/>
              <a:defRPr sz="1200" b="0">
                <a:solidFill>
                  <a:srgbClr val="092F3E"/>
                </a:solidFill>
                <a:latin typeface="Arial"/>
                <a:ea typeface="Arial"/>
                <a:cs typeface="Arial"/>
              </a:defRPr>
            </a:pPr>
            <a:r>
              <a:rPr sz="1200" b="0">
                <a:solidFill>
                  <a:srgbClr val="092F3E"/>
                </a:solidFill>
                <a:latin typeface="Arial"/>
                <a:ea typeface="Arial"/>
                <a:cs typeface="Arial"/>
              </a:rPr>
              <a:t>Plan an eye-care next step</a:t>
            </a:r>
          </a:p>
        </p:txBody>
      </p:sp>
      <p:sp>
        <p:nvSpPr>
          <p:cNvPr id="35" name="Rectangle 34">
            <a:extLst>
              <a:ext uri="{FF2B5EF4-FFF2-40B4-BE49-F238E27FC236}">
                <a16:creationId xmlns:a16="http://schemas.microsoft.com/office/drawing/2014/main" id="{D5FDE2A4-6DD2-45C2-894F-A8A0FDA17C88}"/>
              </a:ext>
            </a:extLst>
          </p:cNvPr>
          <p:cNvSpPr>
            <a:spLocks noGrp="1"/>
          </p:cNvSpPr>
          <p:nvPr/>
        </p:nvSpPr>
        <p:spPr>
          <a:xfrm>
            <a:off x="4419600" y="5638800"/>
            <a:ext cx="3162300" cy="180975"/>
          </a:xfrm>
          <a:prstGeom prst="rect">
            <a:avLst/>
          </a:prstGeom>
          <a:noFill/>
          <a:ln w="0">
            <a:noFill/>
          </a:ln>
        </p:spPr>
        <p:txBody>
          <a:bodyPr>
            <a:normAutofit fontScale="60256"/>
          </a:bodyPr>
          <a:lstStyle/>
          <a:p>
            <a:pPr>
              <a:buNone/>
              <a:defRPr sz="975" b="0">
                <a:solidFill>
                  <a:srgbClr val="5B7180"/>
                </a:solidFill>
                <a:latin typeface="Arial"/>
                <a:ea typeface="Arial"/>
                <a:cs typeface="Arial"/>
              </a:defRPr>
            </a:pPr>
            <a:r>
              <a:rPr sz="975" b="0">
                <a:solidFill>
                  <a:srgbClr val="5B7180"/>
                </a:solidFill>
                <a:latin typeface="Arial"/>
                <a:ea typeface="Arial"/>
                <a:cs typeface="Arial"/>
              </a:rPr>
              <a:t>Service direction and share</a:t>
            </a:r>
          </a:p>
        </p:txBody>
      </p:sp>
      <p:sp>
        <p:nvSpPr>
          <p:cNvPr id="36" name="Rectangle 35">
            <a:extLst>
              <a:ext uri="{FF2B5EF4-FFF2-40B4-BE49-F238E27FC236}">
                <a16:creationId xmlns:a16="http://schemas.microsoft.com/office/drawing/2014/main" id="{FC81892E-CD22-4962-AFEB-80EAFCE1ACD3}"/>
              </a:ext>
            </a:extLst>
          </p:cNvPr>
          <p:cNvSpPr>
            <a:spLocks noGrp="1"/>
          </p:cNvSpPr>
          <p:nvPr/>
        </p:nvSpPr>
        <p:spPr>
          <a:xfrm>
            <a:off x="8058150" y="4829175"/>
            <a:ext cx="3162300" cy="47625"/>
          </a:xfrm>
          <a:prstGeom prst="rect">
            <a:avLst/>
          </a:prstGeom>
          <a:solidFill>
            <a:srgbClr val="0B3A4A"/>
          </a:solidFill>
          <a:ln w="9525">
            <a:solidFill>
              <a:srgbClr val="0B3A4A"/>
            </a:solidFill>
          </a:ln>
        </p:spPr>
      </p:sp>
      <p:sp>
        <p:nvSpPr>
          <p:cNvPr id="37" name="Rectangle 36">
            <a:extLst>
              <a:ext uri="{FF2B5EF4-FFF2-40B4-BE49-F238E27FC236}">
                <a16:creationId xmlns:a16="http://schemas.microsoft.com/office/drawing/2014/main" id="{DF7C9A43-91C6-45B1-97EB-58CBCA0E99A1}"/>
              </a:ext>
            </a:extLst>
          </p:cNvPr>
          <p:cNvSpPr>
            <a:spLocks noGrp="1"/>
          </p:cNvSpPr>
          <p:nvPr/>
        </p:nvSpPr>
        <p:spPr>
          <a:xfrm>
            <a:off x="8058150" y="5010150"/>
            <a:ext cx="2952750" cy="238125"/>
          </a:xfrm>
          <a:prstGeom prst="rect">
            <a:avLst/>
          </a:prstGeom>
          <a:noFill/>
          <a:ln w="0">
            <a:noFill/>
          </a:ln>
        </p:spPr>
        <p:txBody>
          <a:bodyPr>
            <a:normAutofit fontScale="64167"/>
          </a:bodyPr>
          <a:lstStyle/>
          <a:p>
            <a:pPr>
              <a:buNone/>
              <a:defRPr sz="1500" b="1">
                <a:solidFill>
                  <a:srgbClr val="0B3A4A"/>
                </a:solidFill>
                <a:latin typeface="Arial"/>
                <a:ea typeface="Arial"/>
                <a:cs typeface="Arial"/>
              </a:defRPr>
            </a:pPr>
            <a:r>
              <a:rPr sz="1500" b="1">
                <a:solidFill>
                  <a:srgbClr val="0B3A4A"/>
                </a:solidFill>
                <a:latin typeface="Arial"/>
                <a:ea typeface="Arial"/>
                <a:cs typeface="Arial"/>
              </a:rPr>
              <a:t>Human support</a:t>
            </a:r>
          </a:p>
        </p:txBody>
      </p:sp>
      <p:sp>
        <p:nvSpPr>
          <p:cNvPr id="38" name="Rectangle 37">
            <a:extLst>
              <a:ext uri="{FF2B5EF4-FFF2-40B4-BE49-F238E27FC236}">
                <a16:creationId xmlns:a16="http://schemas.microsoft.com/office/drawing/2014/main" id="{A16BEEB3-7B68-4BF6-839E-C13191FF0D86}"/>
              </a:ext>
            </a:extLst>
          </p:cNvPr>
          <p:cNvSpPr>
            <a:spLocks noGrp="1"/>
          </p:cNvSpPr>
          <p:nvPr/>
        </p:nvSpPr>
        <p:spPr>
          <a:xfrm>
            <a:off x="8058150" y="5324475"/>
            <a:ext cx="3162300" cy="209550"/>
          </a:xfrm>
          <a:prstGeom prst="rect">
            <a:avLst/>
          </a:prstGeom>
          <a:noFill/>
          <a:ln w="0">
            <a:noFill/>
          </a:ln>
        </p:spPr>
        <p:txBody>
          <a:bodyPr>
            <a:normAutofit fontScale="64583"/>
          </a:bodyPr>
          <a:lstStyle/>
          <a:p>
            <a:pPr>
              <a:buNone/>
              <a:defRPr sz="1200" b="0">
                <a:solidFill>
                  <a:srgbClr val="092F3E"/>
                </a:solidFill>
                <a:latin typeface="Arial"/>
                <a:ea typeface="Arial"/>
                <a:cs typeface="Arial"/>
              </a:defRPr>
            </a:pPr>
            <a:r>
              <a:rPr sz="1200" b="0">
                <a:solidFill>
                  <a:srgbClr val="092F3E"/>
                </a:solidFill>
                <a:latin typeface="Arial"/>
                <a:ea typeface="Arial"/>
                <a:cs typeface="Arial"/>
              </a:rPr>
              <a:t>Find nearby trusted support</a:t>
            </a:r>
          </a:p>
        </p:txBody>
      </p:sp>
      <p:sp>
        <p:nvSpPr>
          <p:cNvPr id="39" name="Rectangle 38">
            <a:extLst>
              <a:ext uri="{FF2B5EF4-FFF2-40B4-BE49-F238E27FC236}">
                <a16:creationId xmlns:a16="http://schemas.microsoft.com/office/drawing/2014/main" id="{9FA51EAF-BF09-487E-A3DD-36695085F55E}"/>
              </a:ext>
            </a:extLst>
          </p:cNvPr>
          <p:cNvSpPr>
            <a:spLocks noGrp="1"/>
          </p:cNvSpPr>
          <p:nvPr/>
        </p:nvSpPr>
        <p:spPr>
          <a:xfrm>
            <a:off x="8058150" y="5638800"/>
            <a:ext cx="3162300" cy="180975"/>
          </a:xfrm>
          <a:prstGeom prst="rect">
            <a:avLst/>
          </a:prstGeom>
          <a:noFill/>
          <a:ln w="0">
            <a:noFill/>
          </a:ln>
        </p:spPr>
        <p:txBody>
          <a:bodyPr>
            <a:normAutofit fontScale="60256"/>
          </a:bodyPr>
          <a:lstStyle/>
          <a:p>
            <a:pPr>
              <a:buNone/>
              <a:defRPr sz="975" b="0">
                <a:solidFill>
                  <a:srgbClr val="5B7180"/>
                </a:solidFill>
                <a:latin typeface="Arial"/>
                <a:ea typeface="Arial"/>
                <a:cs typeface="Arial"/>
              </a:defRPr>
            </a:pPr>
            <a:r>
              <a:rPr sz="975" b="0">
                <a:solidFill>
                  <a:srgbClr val="5B7180"/>
                </a:solidFill>
                <a:latin typeface="Arial"/>
                <a:ea typeface="Arial"/>
                <a:cs typeface="Arial"/>
              </a:rPr>
              <a:t>ASHA, PHC, clinic, or family</a:t>
            </a:r>
          </a:p>
        </p:txBody>
      </p:sp>
      <p:sp>
        <p:nvSpPr>
          <p:cNvPr id="41" name="Rectangle 40">
            <a:extLst>
              <a:ext uri="{FF2B5EF4-FFF2-40B4-BE49-F238E27FC236}">
                <a16:creationId xmlns:a16="http://schemas.microsoft.com/office/drawing/2014/main" id="{8CB2902A-56B9-4E2D-AA66-023EC0AA5B65}"/>
              </a:ext>
            </a:extLst>
          </p:cNvPr>
          <p:cNvSpPr>
            <a:spLocks noGrp="1"/>
          </p:cNvSpPr>
          <p:nvPr/>
        </p:nvSpPr>
        <p:spPr>
          <a:xfrm>
            <a:off x="0" y="0"/>
            <a:ext cx="12192000" cy="6858000"/>
          </a:xfrm>
          <a:prstGeom prst="rect">
            <a:avLst/>
          </a:prstGeom>
          <a:solidFill>
            <a:srgbClr val="DDE8F6"/>
          </a:solidFill>
          <a:ln w="0">
            <a:noFill/>
          </a:ln>
        </p:spPr>
      </p:sp>
      <p:sp>
        <p:nvSpPr>
          <p:cNvPr id="42" name="Rectangle 41">
            <a:extLst>
              <a:ext uri="{FF2B5EF4-FFF2-40B4-BE49-F238E27FC236}">
                <a16:creationId xmlns:a16="http://schemas.microsoft.com/office/drawing/2014/main" id="{5214BDDA-5145-4BB5-B841-3FD742064BB6}"/>
              </a:ext>
            </a:extLst>
          </p:cNvPr>
          <p:cNvSpPr>
            <a:spLocks noGrp="1"/>
          </p:cNvSpPr>
          <p:nvPr/>
        </p:nvSpPr>
        <p:spPr>
          <a:xfrm>
            <a:off x="685800" y="419100"/>
            <a:ext cx="666750" cy="209550"/>
          </a:xfrm>
          <a:prstGeom prst="rect">
            <a:avLst/>
          </a:prstGeom>
          <a:noFill/>
          <a:ln w="0">
            <a:noFill/>
          </a:ln>
        </p:spPr>
        <p:txBody>
          <a:bodyPr>
            <a:noAutofit/>
          </a:bodyPr>
          <a:lstStyle/>
          <a:p>
            <a:pPr>
              <a:buNone/>
              <a:defRPr sz="1200" b="1">
                <a:solidFill>
                  <a:srgbClr val="E7A048"/>
                </a:solidFill>
                <a:latin typeface="Arial"/>
                <a:ea typeface="Arial"/>
                <a:cs typeface="Arial"/>
              </a:defRPr>
            </a:pPr>
            <a:r>
              <a:rPr lang="en-IN" sz="1200" b="1" dirty="0">
                <a:solidFill>
                  <a:srgbClr val="E7A048"/>
                </a:solidFill>
                <a:latin typeface="Arial"/>
                <a:ea typeface="Arial"/>
                <a:cs typeface="Arial"/>
              </a:rPr>
              <a:t>05</a:t>
            </a:r>
            <a:endParaRPr sz="1200" b="1" dirty="0">
              <a:solidFill>
                <a:srgbClr val="E7A048"/>
              </a:solidFill>
              <a:latin typeface="Arial"/>
              <a:ea typeface="Arial"/>
              <a:cs typeface="Arial"/>
            </a:endParaRPr>
          </a:p>
        </p:txBody>
      </p:sp>
      <p:sp>
        <p:nvSpPr>
          <p:cNvPr id="43" name="Rectangle 42">
            <a:extLst>
              <a:ext uri="{FF2B5EF4-FFF2-40B4-BE49-F238E27FC236}">
                <a16:creationId xmlns:a16="http://schemas.microsoft.com/office/drawing/2014/main" id="{6AADA492-2116-4E4C-AFE1-3555B4DEA02D}"/>
              </a:ext>
            </a:extLst>
          </p:cNvPr>
          <p:cNvSpPr>
            <a:spLocks noGrp="1"/>
          </p:cNvSpPr>
          <p:nvPr/>
        </p:nvSpPr>
        <p:spPr>
          <a:xfrm>
            <a:off x="9810750" y="428625"/>
            <a:ext cx="1695450" cy="190500"/>
          </a:xfrm>
          <a:prstGeom prst="rect">
            <a:avLst/>
          </a:prstGeom>
          <a:noFill/>
          <a:ln w="0">
            <a:noFill/>
          </a:ln>
        </p:spPr>
        <p:txBody>
          <a:bodyPr>
            <a:noAutofit/>
          </a:bodyPr>
          <a:lstStyle/>
          <a:p>
            <a:pPr algn="r">
              <a:buNone/>
              <a:defRPr sz="975" b="1">
                <a:solidFill>
                  <a:srgbClr val="4656A8"/>
                </a:solidFill>
                <a:latin typeface="Arial"/>
                <a:ea typeface="Arial"/>
                <a:cs typeface="Arial"/>
              </a:defRPr>
            </a:pPr>
            <a:r>
              <a:rPr sz="975" b="1">
                <a:solidFill>
                  <a:srgbClr val="4656A8"/>
                </a:solidFill>
                <a:latin typeface="Arial"/>
                <a:ea typeface="Arial"/>
                <a:cs typeface="Arial"/>
              </a:rPr>
              <a:t>NETRAJYOTI AI</a:t>
            </a:r>
          </a:p>
        </p:txBody>
      </p:sp>
      <p:sp>
        <p:nvSpPr>
          <p:cNvPr id="44" name="Rectangle 43">
            <a:extLst>
              <a:ext uri="{FF2B5EF4-FFF2-40B4-BE49-F238E27FC236}">
                <a16:creationId xmlns:a16="http://schemas.microsoft.com/office/drawing/2014/main" id="{6E12C83A-979D-4640-904E-1AD4CAB0DC18}"/>
              </a:ext>
            </a:extLst>
          </p:cNvPr>
          <p:cNvSpPr>
            <a:spLocks noGrp="1"/>
          </p:cNvSpPr>
          <p:nvPr/>
        </p:nvSpPr>
        <p:spPr>
          <a:xfrm>
            <a:off x="685800" y="762000"/>
            <a:ext cx="10287000" cy="457200"/>
          </a:xfrm>
          <a:prstGeom prst="rect">
            <a:avLst/>
          </a:prstGeom>
          <a:noFill/>
          <a:ln w="0">
            <a:noFill/>
          </a:ln>
        </p:spPr>
        <p:txBody>
          <a:bodyPr>
            <a:noAutofit/>
          </a:bodyPr>
          <a:lstStyle/>
          <a:p>
            <a:pPr>
              <a:buNone/>
              <a:defRPr sz="2550" b="1">
                <a:solidFill>
                  <a:srgbClr val="202A44"/>
                </a:solidFill>
                <a:latin typeface="Arial"/>
                <a:ea typeface="Arial"/>
                <a:cs typeface="Arial"/>
              </a:defRPr>
            </a:pPr>
            <a:r>
              <a:rPr sz="2550" b="1">
                <a:solidFill>
                  <a:srgbClr val="202A44"/>
                </a:solidFill>
                <a:latin typeface="Arial"/>
                <a:ea typeface="Arial"/>
                <a:cs typeface="Arial"/>
              </a:rPr>
              <a:t>Application technology stack</a:t>
            </a:r>
          </a:p>
        </p:txBody>
      </p:sp>
      <p:sp>
        <p:nvSpPr>
          <p:cNvPr id="45" name="Rectangle 44">
            <a:extLst>
              <a:ext uri="{FF2B5EF4-FFF2-40B4-BE49-F238E27FC236}">
                <a16:creationId xmlns:a16="http://schemas.microsoft.com/office/drawing/2014/main" id="{D4059C87-37ED-4C90-BCB3-97E8E82461F8}"/>
              </a:ext>
            </a:extLst>
          </p:cNvPr>
          <p:cNvSpPr>
            <a:spLocks noGrp="1"/>
          </p:cNvSpPr>
          <p:nvPr/>
        </p:nvSpPr>
        <p:spPr>
          <a:xfrm>
            <a:off x="704850" y="1343025"/>
            <a:ext cx="10287000" cy="266700"/>
          </a:xfrm>
          <a:prstGeom prst="rect">
            <a:avLst/>
          </a:prstGeom>
          <a:noFill/>
          <a:ln w="0">
            <a:noFill/>
          </a:ln>
        </p:spPr>
        <p:txBody>
          <a:bodyPr>
            <a:noAutofit/>
          </a:bodyPr>
          <a:lstStyle/>
          <a:p>
            <a:pPr>
              <a:buNone/>
              <a:defRPr sz="1275">
                <a:solidFill>
                  <a:srgbClr val="56647A"/>
                </a:solidFill>
                <a:latin typeface="Arial"/>
                <a:ea typeface="Arial"/>
                <a:cs typeface="Arial"/>
              </a:defRPr>
            </a:pPr>
            <a:r>
              <a:rPr sz="1275">
                <a:solidFill>
                  <a:srgbClr val="56647A"/>
                </a:solidFill>
                <a:latin typeface="Arial"/>
                <a:ea typeface="Arial"/>
                <a:cs typeface="Arial"/>
              </a:rPr>
              <a:t>A lightweight web client, Java deterministic engine, PostgreSQL data layer, and local Ollama model</a:t>
            </a:r>
          </a:p>
        </p:txBody>
      </p:sp>
      <p:sp>
        <p:nvSpPr>
          <p:cNvPr id="46" name="Rectangle 45">
            <a:extLst>
              <a:ext uri="{FF2B5EF4-FFF2-40B4-BE49-F238E27FC236}">
                <a16:creationId xmlns:a16="http://schemas.microsoft.com/office/drawing/2014/main" id="{636B973D-9A3A-4B6A-A125-E4F94166B5F6}"/>
              </a:ext>
            </a:extLst>
          </p:cNvPr>
          <p:cNvSpPr>
            <a:spLocks noGrp="1"/>
          </p:cNvSpPr>
          <p:nvPr/>
        </p:nvSpPr>
        <p:spPr>
          <a:xfrm>
            <a:off x="685800" y="1752600"/>
            <a:ext cx="10820400" cy="19050"/>
          </a:xfrm>
          <a:prstGeom prst="rect">
            <a:avLst/>
          </a:prstGeom>
          <a:solidFill>
            <a:srgbClr val="D7D0C7"/>
          </a:solidFill>
          <a:ln w="0">
            <a:noFill/>
          </a:ln>
        </p:spPr>
      </p:sp>
      <p:sp>
        <p:nvSpPr>
          <p:cNvPr id="47" name="Rectangle: Rounded Corners 46">
            <a:extLst>
              <a:ext uri="{FF2B5EF4-FFF2-40B4-BE49-F238E27FC236}">
                <a16:creationId xmlns:a16="http://schemas.microsoft.com/office/drawing/2014/main" id="{A96C5F0B-2387-45A0-AB24-B1C3610CB103}"/>
              </a:ext>
            </a:extLst>
          </p:cNvPr>
          <p:cNvSpPr>
            <a:spLocks noGrp="1"/>
          </p:cNvSpPr>
          <p:nvPr/>
        </p:nvSpPr>
        <p:spPr>
          <a:xfrm>
            <a:off x="723900" y="2400300"/>
            <a:ext cx="4762500" cy="1257300"/>
          </a:xfrm>
          <a:prstGeom prst="roundRect">
            <a:avLst>
              <a:gd name="adj" fmla="val 6061"/>
            </a:avLst>
          </a:prstGeom>
          <a:solidFill>
            <a:srgbClr val="FFFFFF"/>
          </a:solidFill>
          <a:ln w="9525">
            <a:solidFill>
              <a:srgbClr val="D7D0C7"/>
            </a:solidFill>
          </a:ln>
        </p:spPr>
      </p:sp>
      <p:sp>
        <p:nvSpPr>
          <p:cNvPr id="48" name="Rectangle: Rounded Corners 47">
            <a:extLst>
              <a:ext uri="{FF2B5EF4-FFF2-40B4-BE49-F238E27FC236}">
                <a16:creationId xmlns:a16="http://schemas.microsoft.com/office/drawing/2014/main" id="{E56C05AC-EF13-4C31-A3EF-131C84446A67}"/>
              </a:ext>
            </a:extLst>
          </p:cNvPr>
          <p:cNvSpPr>
            <a:spLocks noGrp="1"/>
          </p:cNvSpPr>
          <p:nvPr/>
        </p:nvSpPr>
        <p:spPr>
          <a:xfrm>
            <a:off x="723900" y="2400300"/>
            <a:ext cx="114300" cy="1257300"/>
          </a:xfrm>
          <a:prstGeom prst="roundRect">
            <a:avLst>
              <a:gd name="adj" fmla="val 50000"/>
            </a:avLst>
          </a:prstGeom>
          <a:solidFill>
            <a:srgbClr val="237A7A"/>
          </a:solidFill>
          <a:ln w="0">
            <a:noFill/>
          </a:ln>
        </p:spPr>
      </p:sp>
      <p:sp>
        <p:nvSpPr>
          <p:cNvPr id="49" name="Rectangle 48">
            <a:extLst>
              <a:ext uri="{FF2B5EF4-FFF2-40B4-BE49-F238E27FC236}">
                <a16:creationId xmlns:a16="http://schemas.microsoft.com/office/drawing/2014/main" id="{07833797-1F69-4601-AF93-65DB69791DC5}"/>
              </a:ext>
            </a:extLst>
          </p:cNvPr>
          <p:cNvSpPr>
            <a:spLocks noGrp="1"/>
          </p:cNvSpPr>
          <p:nvPr/>
        </p:nvSpPr>
        <p:spPr>
          <a:xfrm>
            <a:off x="1047750" y="2590800"/>
            <a:ext cx="4000500" cy="171450"/>
          </a:xfrm>
          <a:prstGeom prst="rect">
            <a:avLst/>
          </a:prstGeom>
          <a:noFill/>
          <a:ln w="0">
            <a:noFill/>
          </a:ln>
        </p:spPr>
        <p:txBody>
          <a:bodyPr>
            <a:noAutofit/>
          </a:bodyPr>
          <a:lstStyle/>
          <a:p>
            <a:pPr>
              <a:buNone/>
              <a:defRPr sz="1050" b="1">
                <a:solidFill>
                  <a:srgbClr val="4656A8"/>
                </a:solidFill>
                <a:latin typeface="Arial"/>
                <a:ea typeface="Arial"/>
                <a:cs typeface="Arial"/>
              </a:defRPr>
            </a:pPr>
            <a:r>
              <a:rPr sz="1050" b="1">
                <a:solidFill>
                  <a:srgbClr val="4656A8"/>
                </a:solidFill>
                <a:latin typeface="Arial"/>
                <a:ea typeface="Arial"/>
                <a:cs typeface="Arial"/>
              </a:rPr>
              <a:t>Experience layer</a:t>
            </a:r>
          </a:p>
        </p:txBody>
      </p:sp>
      <p:sp>
        <p:nvSpPr>
          <p:cNvPr id="50" name="Rectangle 49">
            <a:extLst>
              <a:ext uri="{FF2B5EF4-FFF2-40B4-BE49-F238E27FC236}">
                <a16:creationId xmlns:a16="http://schemas.microsoft.com/office/drawing/2014/main" id="{903FEC1B-BA8E-4472-84E1-5AFB3C3CF128}"/>
              </a:ext>
            </a:extLst>
          </p:cNvPr>
          <p:cNvSpPr>
            <a:spLocks noGrp="1"/>
          </p:cNvSpPr>
          <p:nvPr/>
        </p:nvSpPr>
        <p:spPr>
          <a:xfrm>
            <a:off x="1047750" y="2876550"/>
            <a:ext cx="4095750" cy="257175"/>
          </a:xfrm>
          <a:prstGeom prst="rect">
            <a:avLst/>
          </a:prstGeom>
          <a:noFill/>
          <a:ln w="0">
            <a:noFill/>
          </a:ln>
        </p:spPr>
        <p:txBody>
          <a:bodyPr>
            <a:noAutofit/>
          </a:bodyPr>
          <a:lstStyle/>
          <a:p>
            <a:pPr>
              <a:buNone/>
              <a:defRPr sz="1650" b="1">
                <a:solidFill>
                  <a:srgbClr val="202A44"/>
                </a:solidFill>
                <a:latin typeface="Arial"/>
                <a:ea typeface="Arial"/>
                <a:cs typeface="Arial"/>
              </a:defRPr>
            </a:pPr>
            <a:r>
              <a:rPr sz="1650" b="1">
                <a:solidFill>
                  <a:srgbClr val="202A44"/>
                </a:solidFill>
                <a:latin typeface="Arial"/>
                <a:ea typeface="Arial"/>
                <a:cs typeface="Arial"/>
              </a:rPr>
              <a:t>React PWA</a:t>
            </a:r>
          </a:p>
        </p:txBody>
      </p:sp>
      <p:sp>
        <p:nvSpPr>
          <p:cNvPr id="51" name="Rectangle 50">
            <a:extLst>
              <a:ext uri="{FF2B5EF4-FFF2-40B4-BE49-F238E27FC236}">
                <a16:creationId xmlns:a16="http://schemas.microsoft.com/office/drawing/2014/main" id="{8DD63BD9-43AB-474B-9FD9-C810CF28927A}"/>
              </a:ext>
            </a:extLst>
          </p:cNvPr>
          <p:cNvSpPr>
            <a:spLocks noGrp="1"/>
          </p:cNvSpPr>
          <p:nvPr/>
        </p:nvSpPr>
        <p:spPr>
          <a:xfrm>
            <a:off x="1047750" y="3238500"/>
            <a:ext cx="4095750" cy="247650"/>
          </a:xfrm>
          <a:prstGeom prst="rect">
            <a:avLst/>
          </a:prstGeom>
          <a:noFill/>
          <a:ln w="0">
            <a:noFill/>
          </a:ln>
        </p:spPr>
        <p:txBody>
          <a:bodyPr>
            <a:noAutofit/>
          </a:bodyPr>
          <a:lstStyle/>
          <a:p>
            <a:pPr>
              <a:buNone/>
              <a:defRPr sz="1125">
                <a:solidFill>
                  <a:srgbClr val="56647A"/>
                </a:solidFill>
                <a:latin typeface="Arial"/>
                <a:ea typeface="Arial"/>
                <a:cs typeface="Arial"/>
              </a:defRPr>
            </a:pPr>
            <a:r>
              <a:rPr sz="1125">
                <a:solidFill>
                  <a:srgbClr val="56647A"/>
                </a:solidFill>
                <a:latin typeface="Arial"/>
                <a:ea typeface="Arial"/>
                <a:cs typeface="Arial"/>
              </a:rPr>
              <a:t>TypeScript, Vite, Tailwind CSS</a:t>
            </a:r>
          </a:p>
        </p:txBody>
      </p:sp>
      <p:sp>
        <p:nvSpPr>
          <p:cNvPr id="52" name="Rectangle: Rounded Corners 51">
            <a:extLst>
              <a:ext uri="{FF2B5EF4-FFF2-40B4-BE49-F238E27FC236}">
                <a16:creationId xmlns:a16="http://schemas.microsoft.com/office/drawing/2014/main" id="{1189172A-7162-4D77-979D-A372CB860C6D}"/>
              </a:ext>
            </a:extLst>
          </p:cNvPr>
          <p:cNvSpPr>
            <a:spLocks noGrp="1"/>
          </p:cNvSpPr>
          <p:nvPr/>
        </p:nvSpPr>
        <p:spPr>
          <a:xfrm>
            <a:off x="6076950" y="2400300"/>
            <a:ext cx="4762500" cy="1257300"/>
          </a:xfrm>
          <a:prstGeom prst="roundRect">
            <a:avLst>
              <a:gd name="adj" fmla="val 6061"/>
            </a:avLst>
          </a:prstGeom>
          <a:solidFill>
            <a:srgbClr val="DDF0EC"/>
          </a:solidFill>
          <a:ln w="9525">
            <a:solidFill>
              <a:srgbClr val="D7D0C7"/>
            </a:solidFill>
          </a:ln>
        </p:spPr>
      </p:sp>
      <p:sp>
        <p:nvSpPr>
          <p:cNvPr id="53" name="Rectangle: Rounded Corners 52">
            <a:extLst>
              <a:ext uri="{FF2B5EF4-FFF2-40B4-BE49-F238E27FC236}">
                <a16:creationId xmlns:a16="http://schemas.microsoft.com/office/drawing/2014/main" id="{61369A2D-81CC-4A2A-8BE1-83EF241A275D}"/>
              </a:ext>
            </a:extLst>
          </p:cNvPr>
          <p:cNvSpPr>
            <a:spLocks noGrp="1"/>
          </p:cNvSpPr>
          <p:nvPr/>
        </p:nvSpPr>
        <p:spPr>
          <a:xfrm>
            <a:off x="6076950" y="2400300"/>
            <a:ext cx="114300" cy="1257300"/>
          </a:xfrm>
          <a:prstGeom prst="roundRect">
            <a:avLst>
              <a:gd name="adj" fmla="val 50000"/>
            </a:avLst>
          </a:prstGeom>
          <a:solidFill>
            <a:srgbClr val="4656A8"/>
          </a:solidFill>
          <a:ln w="0">
            <a:noFill/>
          </a:ln>
        </p:spPr>
      </p:sp>
      <p:sp>
        <p:nvSpPr>
          <p:cNvPr id="54" name="Rectangle 53">
            <a:extLst>
              <a:ext uri="{FF2B5EF4-FFF2-40B4-BE49-F238E27FC236}">
                <a16:creationId xmlns:a16="http://schemas.microsoft.com/office/drawing/2014/main" id="{53A59EA9-372D-4FA7-BEFF-0F22FACA8A4D}"/>
              </a:ext>
            </a:extLst>
          </p:cNvPr>
          <p:cNvSpPr>
            <a:spLocks noGrp="1"/>
          </p:cNvSpPr>
          <p:nvPr/>
        </p:nvSpPr>
        <p:spPr>
          <a:xfrm>
            <a:off x="6400800" y="2590800"/>
            <a:ext cx="4000500" cy="171450"/>
          </a:xfrm>
          <a:prstGeom prst="rect">
            <a:avLst/>
          </a:prstGeom>
          <a:noFill/>
          <a:ln w="0">
            <a:noFill/>
          </a:ln>
        </p:spPr>
        <p:txBody>
          <a:bodyPr>
            <a:noAutofit/>
          </a:bodyPr>
          <a:lstStyle/>
          <a:p>
            <a:pPr>
              <a:buNone/>
              <a:defRPr sz="1050" b="1">
                <a:solidFill>
                  <a:srgbClr val="4656A8"/>
                </a:solidFill>
                <a:latin typeface="Arial"/>
                <a:ea typeface="Arial"/>
                <a:cs typeface="Arial"/>
              </a:defRPr>
            </a:pPr>
            <a:r>
              <a:rPr sz="1050" b="1">
                <a:solidFill>
                  <a:srgbClr val="4656A8"/>
                </a:solidFill>
                <a:latin typeface="Arial"/>
                <a:ea typeface="Arial"/>
                <a:cs typeface="Arial"/>
              </a:rPr>
              <a:t>API and route engine</a:t>
            </a:r>
          </a:p>
        </p:txBody>
      </p:sp>
      <p:sp>
        <p:nvSpPr>
          <p:cNvPr id="55" name="Rectangle 54">
            <a:extLst>
              <a:ext uri="{FF2B5EF4-FFF2-40B4-BE49-F238E27FC236}">
                <a16:creationId xmlns:a16="http://schemas.microsoft.com/office/drawing/2014/main" id="{E7D25EB6-12DD-4B6F-8AFC-FAAA32B78D89}"/>
              </a:ext>
            </a:extLst>
          </p:cNvPr>
          <p:cNvSpPr>
            <a:spLocks noGrp="1"/>
          </p:cNvSpPr>
          <p:nvPr/>
        </p:nvSpPr>
        <p:spPr>
          <a:xfrm>
            <a:off x="6400800" y="2876550"/>
            <a:ext cx="4095750" cy="257175"/>
          </a:xfrm>
          <a:prstGeom prst="rect">
            <a:avLst/>
          </a:prstGeom>
          <a:noFill/>
          <a:ln w="0">
            <a:noFill/>
          </a:ln>
        </p:spPr>
        <p:txBody>
          <a:bodyPr>
            <a:noAutofit/>
          </a:bodyPr>
          <a:lstStyle/>
          <a:p>
            <a:pPr>
              <a:buNone/>
              <a:defRPr sz="1650" b="1">
                <a:solidFill>
                  <a:srgbClr val="202A44"/>
                </a:solidFill>
                <a:latin typeface="Arial"/>
                <a:ea typeface="Arial"/>
                <a:cs typeface="Arial"/>
              </a:defRPr>
            </a:pPr>
            <a:r>
              <a:rPr sz="1650" b="1">
                <a:solidFill>
                  <a:srgbClr val="202A44"/>
                </a:solidFill>
                <a:latin typeface="Arial"/>
                <a:ea typeface="Arial"/>
                <a:cs typeface="Arial"/>
              </a:rPr>
              <a:t>Java deterministic engine</a:t>
            </a:r>
          </a:p>
        </p:txBody>
      </p:sp>
      <p:sp>
        <p:nvSpPr>
          <p:cNvPr id="56" name="Rectangle 55">
            <a:extLst>
              <a:ext uri="{FF2B5EF4-FFF2-40B4-BE49-F238E27FC236}">
                <a16:creationId xmlns:a16="http://schemas.microsoft.com/office/drawing/2014/main" id="{C691E553-AD0E-4424-81DD-087BF8EA829D}"/>
              </a:ext>
            </a:extLst>
          </p:cNvPr>
          <p:cNvSpPr>
            <a:spLocks noGrp="1"/>
          </p:cNvSpPr>
          <p:nvPr/>
        </p:nvSpPr>
        <p:spPr>
          <a:xfrm>
            <a:off x="6400800" y="3238500"/>
            <a:ext cx="4095750" cy="247650"/>
          </a:xfrm>
          <a:prstGeom prst="rect">
            <a:avLst/>
          </a:prstGeom>
          <a:noFill/>
          <a:ln w="0">
            <a:noFill/>
          </a:ln>
        </p:spPr>
        <p:txBody>
          <a:bodyPr>
            <a:noAutofit/>
          </a:bodyPr>
          <a:lstStyle/>
          <a:p>
            <a:pPr>
              <a:buNone/>
              <a:defRPr sz="1125">
                <a:solidFill>
                  <a:srgbClr val="56647A"/>
                </a:solidFill>
                <a:latin typeface="Arial"/>
                <a:ea typeface="Arial"/>
                <a:cs typeface="Arial"/>
              </a:defRPr>
            </a:pPr>
            <a:r>
              <a:rPr sz="1125">
                <a:solidFill>
                  <a:srgbClr val="56647A"/>
                </a:solidFill>
                <a:latin typeface="Arial"/>
                <a:ea typeface="Arial"/>
                <a:cs typeface="Arial"/>
              </a:rPr>
              <a:t>Java 21, Spring Boot 3, REST API</a:t>
            </a:r>
          </a:p>
        </p:txBody>
      </p:sp>
      <p:sp>
        <p:nvSpPr>
          <p:cNvPr id="57" name="Rectangle: Rounded Corners 56">
            <a:extLst>
              <a:ext uri="{FF2B5EF4-FFF2-40B4-BE49-F238E27FC236}">
                <a16:creationId xmlns:a16="http://schemas.microsoft.com/office/drawing/2014/main" id="{A268E9E4-732E-4E3F-AC4C-D03AC53DA291}"/>
              </a:ext>
            </a:extLst>
          </p:cNvPr>
          <p:cNvSpPr>
            <a:spLocks noGrp="1"/>
          </p:cNvSpPr>
          <p:nvPr/>
        </p:nvSpPr>
        <p:spPr>
          <a:xfrm>
            <a:off x="723900" y="4114800"/>
            <a:ext cx="4762500" cy="1257300"/>
          </a:xfrm>
          <a:prstGeom prst="roundRect">
            <a:avLst>
              <a:gd name="adj" fmla="val 6061"/>
            </a:avLst>
          </a:prstGeom>
          <a:solidFill>
            <a:srgbClr val="F9EDDB"/>
          </a:solidFill>
          <a:ln w="9525">
            <a:solidFill>
              <a:srgbClr val="D7D0C7"/>
            </a:solidFill>
          </a:ln>
        </p:spPr>
      </p:sp>
      <p:sp>
        <p:nvSpPr>
          <p:cNvPr id="58" name="Rectangle: Rounded Corners 57">
            <a:extLst>
              <a:ext uri="{FF2B5EF4-FFF2-40B4-BE49-F238E27FC236}">
                <a16:creationId xmlns:a16="http://schemas.microsoft.com/office/drawing/2014/main" id="{86214F27-AE83-422E-9DE7-910CB4991DEC}"/>
              </a:ext>
            </a:extLst>
          </p:cNvPr>
          <p:cNvSpPr>
            <a:spLocks noGrp="1"/>
          </p:cNvSpPr>
          <p:nvPr/>
        </p:nvSpPr>
        <p:spPr>
          <a:xfrm>
            <a:off x="723900" y="4114800"/>
            <a:ext cx="114300" cy="1257300"/>
          </a:xfrm>
          <a:prstGeom prst="roundRect">
            <a:avLst>
              <a:gd name="adj" fmla="val 50000"/>
            </a:avLst>
          </a:prstGeom>
          <a:solidFill>
            <a:srgbClr val="E7A048"/>
          </a:solidFill>
          <a:ln w="0">
            <a:noFill/>
          </a:ln>
        </p:spPr>
      </p:sp>
      <p:sp>
        <p:nvSpPr>
          <p:cNvPr id="59" name="Rectangle 58">
            <a:extLst>
              <a:ext uri="{FF2B5EF4-FFF2-40B4-BE49-F238E27FC236}">
                <a16:creationId xmlns:a16="http://schemas.microsoft.com/office/drawing/2014/main" id="{09A74310-F391-483C-91BE-5CB0DC75AB68}"/>
              </a:ext>
            </a:extLst>
          </p:cNvPr>
          <p:cNvSpPr>
            <a:spLocks noGrp="1"/>
          </p:cNvSpPr>
          <p:nvPr/>
        </p:nvSpPr>
        <p:spPr>
          <a:xfrm>
            <a:off x="1047750" y="4305300"/>
            <a:ext cx="4000500" cy="171450"/>
          </a:xfrm>
          <a:prstGeom prst="rect">
            <a:avLst/>
          </a:prstGeom>
          <a:noFill/>
          <a:ln w="0">
            <a:noFill/>
          </a:ln>
        </p:spPr>
        <p:txBody>
          <a:bodyPr>
            <a:noAutofit/>
          </a:bodyPr>
          <a:lstStyle/>
          <a:p>
            <a:pPr>
              <a:buNone/>
              <a:defRPr sz="1050" b="1">
                <a:solidFill>
                  <a:srgbClr val="4656A8"/>
                </a:solidFill>
                <a:latin typeface="Arial"/>
                <a:ea typeface="Arial"/>
                <a:cs typeface="Arial"/>
              </a:defRPr>
            </a:pPr>
            <a:r>
              <a:rPr sz="1050" b="1">
                <a:solidFill>
                  <a:srgbClr val="4656A8"/>
                </a:solidFill>
                <a:latin typeface="Arial"/>
                <a:ea typeface="Arial"/>
                <a:cs typeface="Arial"/>
              </a:rPr>
              <a:t>Clinical data and RAG</a:t>
            </a:r>
          </a:p>
        </p:txBody>
      </p:sp>
      <p:sp>
        <p:nvSpPr>
          <p:cNvPr id="60" name="Rectangle 59">
            <a:extLst>
              <a:ext uri="{FF2B5EF4-FFF2-40B4-BE49-F238E27FC236}">
                <a16:creationId xmlns:a16="http://schemas.microsoft.com/office/drawing/2014/main" id="{6A61B25E-1467-457C-8352-C5962BBE4305}"/>
              </a:ext>
            </a:extLst>
          </p:cNvPr>
          <p:cNvSpPr>
            <a:spLocks noGrp="1"/>
          </p:cNvSpPr>
          <p:nvPr/>
        </p:nvSpPr>
        <p:spPr>
          <a:xfrm>
            <a:off x="1047750" y="4591050"/>
            <a:ext cx="4095750" cy="257175"/>
          </a:xfrm>
          <a:prstGeom prst="rect">
            <a:avLst/>
          </a:prstGeom>
          <a:noFill/>
          <a:ln w="0">
            <a:noFill/>
          </a:ln>
        </p:spPr>
        <p:txBody>
          <a:bodyPr>
            <a:noAutofit/>
          </a:bodyPr>
          <a:lstStyle/>
          <a:p>
            <a:pPr>
              <a:buNone/>
              <a:defRPr sz="1650" b="1">
                <a:solidFill>
                  <a:srgbClr val="202A44"/>
                </a:solidFill>
                <a:latin typeface="Arial"/>
                <a:ea typeface="Arial"/>
                <a:cs typeface="Arial"/>
              </a:defRPr>
            </a:pPr>
            <a:r>
              <a:rPr sz="1650" b="1">
                <a:solidFill>
                  <a:srgbClr val="202A44"/>
                </a:solidFill>
                <a:latin typeface="Arial"/>
                <a:ea typeface="Arial"/>
                <a:cs typeface="Arial"/>
              </a:rPr>
              <a:t>PostgreSQL</a:t>
            </a:r>
          </a:p>
        </p:txBody>
      </p:sp>
      <p:sp>
        <p:nvSpPr>
          <p:cNvPr id="61" name="Rectangle 60">
            <a:extLst>
              <a:ext uri="{FF2B5EF4-FFF2-40B4-BE49-F238E27FC236}">
                <a16:creationId xmlns:a16="http://schemas.microsoft.com/office/drawing/2014/main" id="{9B6B7303-88ED-4544-AFE8-AFAB3C481F99}"/>
              </a:ext>
            </a:extLst>
          </p:cNvPr>
          <p:cNvSpPr>
            <a:spLocks noGrp="1"/>
          </p:cNvSpPr>
          <p:nvPr/>
        </p:nvSpPr>
        <p:spPr>
          <a:xfrm>
            <a:off x="1047750" y="4953000"/>
            <a:ext cx="4095750" cy="247650"/>
          </a:xfrm>
          <a:prstGeom prst="rect">
            <a:avLst/>
          </a:prstGeom>
          <a:noFill/>
          <a:ln w="0">
            <a:noFill/>
          </a:ln>
        </p:spPr>
        <p:txBody>
          <a:bodyPr>
            <a:noAutofit/>
          </a:bodyPr>
          <a:lstStyle/>
          <a:p>
            <a:pPr>
              <a:buNone/>
              <a:defRPr sz="1125">
                <a:solidFill>
                  <a:srgbClr val="56647A"/>
                </a:solidFill>
                <a:latin typeface="Arial"/>
                <a:ea typeface="Arial"/>
                <a:cs typeface="Arial"/>
              </a:defRPr>
            </a:pPr>
            <a:r>
              <a:rPr sz="1125">
                <a:solidFill>
                  <a:srgbClr val="56647A"/>
                </a:solidFill>
                <a:latin typeface="Arial"/>
                <a:ea typeface="Arial"/>
                <a:cs typeface="Arial"/>
              </a:rPr>
              <a:t>Approved criteria, guidance, pathways, and source links</a:t>
            </a:r>
          </a:p>
        </p:txBody>
      </p:sp>
      <p:sp>
        <p:nvSpPr>
          <p:cNvPr id="62" name="Rectangle: Rounded Corners 61">
            <a:extLst>
              <a:ext uri="{FF2B5EF4-FFF2-40B4-BE49-F238E27FC236}">
                <a16:creationId xmlns:a16="http://schemas.microsoft.com/office/drawing/2014/main" id="{85F68E95-A7C7-4845-A214-F73D5D081C8D}"/>
              </a:ext>
            </a:extLst>
          </p:cNvPr>
          <p:cNvSpPr>
            <a:spLocks noGrp="1"/>
          </p:cNvSpPr>
          <p:nvPr/>
        </p:nvSpPr>
        <p:spPr>
          <a:xfrm>
            <a:off x="6076950" y="4114800"/>
            <a:ext cx="4762500" cy="1257300"/>
          </a:xfrm>
          <a:prstGeom prst="roundRect">
            <a:avLst>
              <a:gd name="adj" fmla="val 6061"/>
            </a:avLst>
          </a:prstGeom>
          <a:solidFill>
            <a:srgbClr val="FFFFFF"/>
          </a:solidFill>
          <a:ln w="9525">
            <a:solidFill>
              <a:srgbClr val="D7D0C7"/>
            </a:solidFill>
          </a:ln>
        </p:spPr>
      </p:sp>
      <p:sp>
        <p:nvSpPr>
          <p:cNvPr id="63" name="Rectangle: Rounded Corners 62">
            <a:extLst>
              <a:ext uri="{FF2B5EF4-FFF2-40B4-BE49-F238E27FC236}">
                <a16:creationId xmlns:a16="http://schemas.microsoft.com/office/drawing/2014/main" id="{0F549AE6-5C5A-4A9E-8EF7-7CD4C1184CE1}"/>
              </a:ext>
            </a:extLst>
          </p:cNvPr>
          <p:cNvSpPr>
            <a:spLocks noGrp="1"/>
          </p:cNvSpPr>
          <p:nvPr/>
        </p:nvSpPr>
        <p:spPr>
          <a:xfrm>
            <a:off x="6076950" y="4114800"/>
            <a:ext cx="114300" cy="1257300"/>
          </a:xfrm>
          <a:prstGeom prst="roundRect">
            <a:avLst>
              <a:gd name="adj" fmla="val 50000"/>
            </a:avLst>
          </a:prstGeom>
          <a:solidFill>
            <a:srgbClr val="237A7A"/>
          </a:solidFill>
          <a:ln w="0">
            <a:noFill/>
          </a:ln>
        </p:spPr>
      </p:sp>
      <p:sp>
        <p:nvSpPr>
          <p:cNvPr id="64" name="Rectangle 63">
            <a:extLst>
              <a:ext uri="{FF2B5EF4-FFF2-40B4-BE49-F238E27FC236}">
                <a16:creationId xmlns:a16="http://schemas.microsoft.com/office/drawing/2014/main" id="{09FE5DD7-69A5-49D6-8524-25A8C236705B}"/>
              </a:ext>
            </a:extLst>
          </p:cNvPr>
          <p:cNvSpPr>
            <a:spLocks noGrp="1"/>
          </p:cNvSpPr>
          <p:nvPr/>
        </p:nvSpPr>
        <p:spPr>
          <a:xfrm>
            <a:off x="6400800" y="4305300"/>
            <a:ext cx="4000500" cy="171450"/>
          </a:xfrm>
          <a:prstGeom prst="rect">
            <a:avLst/>
          </a:prstGeom>
          <a:noFill/>
          <a:ln w="0">
            <a:noFill/>
          </a:ln>
        </p:spPr>
        <p:txBody>
          <a:bodyPr>
            <a:noAutofit/>
          </a:bodyPr>
          <a:lstStyle/>
          <a:p>
            <a:pPr>
              <a:buNone/>
              <a:defRPr sz="1050" b="1">
                <a:solidFill>
                  <a:srgbClr val="4656A8"/>
                </a:solidFill>
                <a:latin typeface="Arial"/>
                <a:ea typeface="Arial"/>
                <a:cs typeface="Arial"/>
              </a:defRPr>
            </a:pPr>
            <a:r>
              <a:rPr sz="1050" b="1">
                <a:solidFill>
                  <a:srgbClr val="4656A8"/>
                </a:solidFill>
                <a:latin typeface="Arial"/>
                <a:ea typeface="Arial"/>
                <a:cs typeface="Arial"/>
              </a:rPr>
              <a:t>Language explanation</a:t>
            </a:r>
          </a:p>
        </p:txBody>
      </p:sp>
      <p:sp>
        <p:nvSpPr>
          <p:cNvPr id="65" name="Rectangle 64">
            <a:extLst>
              <a:ext uri="{FF2B5EF4-FFF2-40B4-BE49-F238E27FC236}">
                <a16:creationId xmlns:a16="http://schemas.microsoft.com/office/drawing/2014/main" id="{9EA86D13-3986-4C2D-AF48-042741004AB6}"/>
              </a:ext>
            </a:extLst>
          </p:cNvPr>
          <p:cNvSpPr>
            <a:spLocks noGrp="1"/>
          </p:cNvSpPr>
          <p:nvPr/>
        </p:nvSpPr>
        <p:spPr>
          <a:xfrm>
            <a:off x="6400800" y="4591050"/>
            <a:ext cx="4095750" cy="257175"/>
          </a:xfrm>
          <a:prstGeom prst="rect">
            <a:avLst/>
          </a:prstGeom>
          <a:noFill/>
          <a:ln w="0">
            <a:noFill/>
          </a:ln>
        </p:spPr>
        <p:txBody>
          <a:bodyPr>
            <a:noAutofit/>
          </a:bodyPr>
          <a:lstStyle/>
          <a:p>
            <a:pPr>
              <a:buNone/>
              <a:defRPr sz="1650" b="1">
                <a:solidFill>
                  <a:srgbClr val="202A44"/>
                </a:solidFill>
                <a:latin typeface="Arial"/>
                <a:ea typeface="Arial"/>
                <a:cs typeface="Arial"/>
              </a:defRPr>
            </a:pPr>
            <a:r>
              <a:rPr sz="1650" b="1">
                <a:solidFill>
                  <a:srgbClr val="202A44"/>
                </a:solidFill>
                <a:latin typeface="Arial"/>
                <a:ea typeface="Arial"/>
                <a:cs typeface="Arial"/>
              </a:rPr>
              <a:t>Local Ollama</a:t>
            </a:r>
          </a:p>
        </p:txBody>
      </p:sp>
      <p:sp>
        <p:nvSpPr>
          <p:cNvPr id="66" name="Rectangle 65">
            <a:extLst>
              <a:ext uri="{FF2B5EF4-FFF2-40B4-BE49-F238E27FC236}">
                <a16:creationId xmlns:a16="http://schemas.microsoft.com/office/drawing/2014/main" id="{ED7F14AA-6509-42A2-B35F-9B4B87A16036}"/>
              </a:ext>
            </a:extLst>
          </p:cNvPr>
          <p:cNvSpPr>
            <a:spLocks noGrp="1"/>
          </p:cNvSpPr>
          <p:nvPr/>
        </p:nvSpPr>
        <p:spPr>
          <a:xfrm>
            <a:off x="6400800" y="4953000"/>
            <a:ext cx="4095750" cy="247650"/>
          </a:xfrm>
          <a:prstGeom prst="rect">
            <a:avLst/>
          </a:prstGeom>
          <a:noFill/>
          <a:ln w="0">
            <a:noFill/>
          </a:ln>
        </p:spPr>
        <p:txBody>
          <a:bodyPr>
            <a:noAutofit/>
          </a:bodyPr>
          <a:lstStyle/>
          <a:p>
            <a:pPr>
              <a:buNone/>
              <a:defRPr sz="1125">
                <a:solidFill>
                  <a:srgbClr val="56647A"/>
                </a:solidFill>
                <a:latin typeface="Arial"/>
                <a:ea typeface="Arial"/>
                <a:cs typeface="Arial"/>
              </a:defRPr>
            </a:pPr>
            <a:r>
              <a:rPr sz="1125">
                <a:solidFill>
                  <a:srgbClr val="56647A"/>
                </a:solidFill>
                <a:latin typeface="Arial"/>
                <a:ea typeface="Arial"/>
                <a:cs typeface="Arial"/>
              </a:rPr>
              <a:t>Default model: llama3.2:3b</a:t>
            </a:r>
          </a:p>
          <a:p>
            <a:pPr>
              <a:buNone/>
              <a:defRPr sz="1125">
                <a:solidFill>
                  <a:srgbClr val="56647A"/>
                </a:solidFill>
                <a:latin typeface="Arial"/>
                <a:ea typeface="Arial"/>
                <a:cs typeface="Arial"/>
              </a:defRPr>
            </a:pPr>
            <a:r>
              <a:rPr sz="1125">
                <a:solidFill>
                  <a:srgbClr val="56647A"/>
                </a:solidFill>
                <a:latin typeface="Arial"/>
                <a:ea typeface="Arial"/>
                <a:cs typeface="Arial"/>
              </a:rPr>
              <a:t>Bengali explanation or approved fallback</a:t>
            </a:r>
          </a:p>
        </p:txBody>
      </p:sp>
      <p:sp>
        <p:nvSpPr>
          <p:cNvPr id="67" name="Rectangle: Rounded Corners 66">
            <a:extLst>
              <a:ext uri="{FF2B5EF4-FFF2-40B4-BE49-F238E27FC236}">
                <a16:creationId xmlns:a16="http://schemas.microsoft.com/office/drawing/2014/main" id="{1751E3FE-CDB7-4328-90CB-6E77BEA2F923}"/>
              </a:ext>
            </a:extLst>
          </p:cNvPr>
          <p:cNvSpPr>
            <a:spLocks noGrp="1"/>
          </p:cNvSpPr>
          <p:nvPr/>
        </p:nvSpPr>
        <p:spPr>
          <a:xfrm>
            <a:off x="723900" y="5886450"/>
            <a:ext cx="10115550" cy="419100"/>
          </a:xfrm>
          <a:prstGeom prst="roundRect">
            <a:avLst>
              <a:gd name="adj" fmla="val 18182"/>
            </a:avLst>
          </a:prstGeom>
          <a:solidFill>
            <a:srgbClr val="E9E7F5"/>
          </a:solidFill>
          <a:ln w="0">
            <a:noFill/>
          </a:ln>
        </p:spPr>
      </p:sp>
      <p:sp>
        <p:nvSpPr>
          <p:cNvPr id="68" name="Rectangle 67">
            <a:extLst>
              <a:ext uri="{FF2B5EF4-FFF2-40B4-BE49-F238E27FC236}">
                <a16:creationId xmlns:a16="http://schemas.microsoft.com/office/drawing/2014/main" id="{1FC6B526-2502-4F53-BE0F-27EFE10E18FA}"/>
              </a:ext>
            </a:extLst>
          </p:cNvPr>
          <p:cNvSpPr>
            <a:spLocks noGrp="1"/>
          </p:cNvSpPr>
          <p:nvPr/>
        </p:nvSpPr>
        <p:spPr>
          <a:xfrm>
            <a:off x="990600" y="6010275"/>
            <a:ext cx="9582150" cy="171450"/>
          </a:xfrm>
          <a:prstGeom prst="rect">
            <a:avLst/>
          </a:prstGeom>
          <a:noFill/>
          <a:ln w="0">
            <a:noFill/>
          </a:ln>
        </p:spPr>
        <p:txBody>
          <a:bodyPr>
            <a:noAutofit/>
          </a:bodyPr>
          <a:lstStyle/>
          <a:p>
            <a:pPr algn="ctr">
              <a:buNone/>
              <a:defRPr sz="1125" b="1">
                <a:solidFill>
                  <a:srgbClr val="202A44"/>
                </a:solidFill>
                <a:latin typeface="Arial"/>
                <a:ea typeface="Arial"/>
                <a:cs typeface="Arial"/>
              </a:defRPr>
            </a:pPr>
            <a:r>
              <a:rPr sz="1125" b="1">
                <a:solidFill>
                  <a:srgbClr val="202A44"/>
                </a:solidFill>
                <a:latin typeface="Arial"/>
                <a:ea typeface="Arial"/>
                <a:cs typeface="Arial"/>
              </a:rPr>
              <a:t>Docker Desktop runs the PostgreSQL and Ollama services for the local demonstration environment.</a:t>
            </a:r>
          </a:p>
        </p:txBody>
      </p:sp>
      <p:sp>
        <p:nvSpPr>
          <p:cNvPr id="69" name="Rectangle 68">
            <a:extLst>
              <a:ext uri="{FF2B5EF4-FFF2-40B4-BE49-F238E27FC236}">
                <a16:creationId xmlns:a16="http://schemas.microsoft.com/office/drawing/2014/main" id="{63DC29E8-871A-4BC3-A7A2-235E4F75D061}"/>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56647A"/>
                </a:solidFill>
                <a:latin typeface="Arial"/>
                <a:ea typeface="Arial"/>
                <a:cs typeface="Arial"/>
              </a:defRPr>
            </a:pPr>
            <a:r>
              <a:rPr sz="900">
                <a:solidFill>
                  <a:srgbClr val="56647A"/>
                </a:solidFill>
                <a:latin typeface="Arial"/>
                <a:ea typeface="Arial"/>
                <a:cs typeface="Arial"/>
              </a:rPr>
              <a:t>5</a:t>
            </a:r>
          </a:p>
        </p:txBody>
      </p:sp>
    </p:spTree>
    <p:extLst>
      <p:ext uri="{BB962C8B-B14F-4D97-AF65-F5344CB8AC3E}">
        <p14:creationId xmlns:p14="http://schemas.microsoft.com/office/powerpoint/2010/main" val="41667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87E01CA7-372A-4C16-BE2B-7A065588DC04}"/>
              </a:ext>
            </a:extLst>
          </p:cNvPr>
          <p:cNvSpPr>
            <a:spLocks noGrp="1"/>
          </p:cNvSpPr>
          <p:nvPr/>
        </p:nvSpPr>
        <p:spPr>
          <a:xfrm>
            <a:off x="704850" y="495300"/>
            <a:ext cx="419100" cy="209550"/>
          </a:xfrm>
          <a:prstGeom prst="rect">
            <a:avLst/>
          </a:prstGeom>
          <a:noFill/>
          <a:ln w="0">
            <a:noFill/>
          </a:ln>
        </p:spPr>
        <p:txBody>
          <a:bodyPr>
            <a:normAutofit fontScale="86111"/>
          </a:bodyPr>
          <a:lstStyle/>
          <a:p>
            <a:pPr>
              <a:buNone/>
              <a:defRPr sz="900" b="1">
                <a:solidFill>
                  <a:srgbClr val="00A28F"/>
                </a:solidFill>
                <a:latin typeface="Arial"/>
                <a:ea typeface="Arial"/>
                <a:cs typeface="Arial"/>
              </a:defRPr>
            </a:pPr>
            <a:r>
              <a:rPr sz="900" b="1">
                <a:solidFill>
                  <a:srgbClr val="00A28F"/>
                </a:solidFill>
                <a:latin typeface="Arial"/>
                <a:ea typeface="Arial"/>
                <a:cs typeface="Arial"/>
              </a:rPr>
              <a:t>06</a:t>
            </a:r>
          </a:p>
        </p:txBody>
      </p:sp>
      <p:sp>
        <p:nvSpPr>
          <p:cNvPr id="2" name="Rectangle 1">
            <a:extLst>
              <a:ext uri="{FF2B5EF4-FFF2-40B4-BE49-F238E27FC236}">
                <a16:creationId xmlns:a16="http://schemas.microsoft.com/office/drawing/2014/main" id="{F4DE0B34-3251-46AC-B93F-DC40EBA0135B}"/>
              </a:ext>
            </a:extLst>
          </p:cNvPr>
          <p:cNvSpPr>
            <a:spLocks noGrp="1"/>
          </p:cNvSpPr>
          <p:nvPr/>
        </p:nvSpPr>
        <p:spPr>
          <a:xfrm>
            <a:off x="704850" y="790575"/>
            <a:ext cx="9525000" cy="447675"/>
          </a:xfrm>
          <a:prstGeom prst="rect">
            <a:avLst/>
          </a:prstGeom>
          <a:noFill/>
          <a:ln w="0">
            <a:noFill/>
          </a:ln>
        </p:spPr>
        <p:txBody>
          <a:bodyPr>
            <a:normAutofit fontScale="91667"/>
          </a:bodyPr>
          <a:lstStyle/>
          <a:p>
            <a:pPr>
              <a:buNone/>
              <a:defRPr sz="2550" b="1">
                <a:solidFill>
                  <a:srgbClr val="092F3E"/>
                </a:solidFill>
                <a:latin typeface="Arial"/>
                <a:ea typeface="Arial"/>
                <a:cs typeface="Arial"/>
              </a:defRPr>
            </a:pPr>
            <a:r>
              <a:rPr sz="2550" b="1">
                <a:solidFill>
                  <a:srgbClr val="092F3E"/>
                </a:solidFill>
                <a:latin typeface="Arial"/>
                <a:ea typeface="Arial"/>
                <a:cs typeface="Arial"/>
              </a:rPr>
              <a:t>Capstone outcome</a:t>
            </a:r>
          </a:p>
        </p:txBody>
      </p:sp>
      <p:sp>
        <p:nvSpPr>
          <p:cNvPr id="3" name="Rectangle 2">
            <a:extLst>
              <a:ext uri="{FF2B5EF4-FFF2-40B4-BE49-F238E27FC236}">
                <a16:creationId xmlns:a16="http://schemas.microsoft.com/office/drawing/2014/main" id="{1AA9EB8E-2DE5-4918-AC6A-9A8BC0D36132}"/>
              </a:ext>
            </a:extLst>
          </p:cNvPr>
          <p:cNvSpPr>
            <a:spLocks noGrp="1"/>
          </p:cNvSpPr>
          <p:nvPr/>
        </p:nvSpPr>
        <p:spPr>
          <a:xfrm>
            <a:off x="723900" y="1323975"/>
            <a:ext cx="9144000" cy="266700"/>
          </a:xfrm>
          <a:prstGeom prst="rect">
            <a:avLst/>
          </a:prstGeom>
          <a:noFill/>
          <a:ln w="0">
            <a:noFill/>
          </a:ln>
        </p:spPr>
        <p:txBody>
          <a:bodyPr>
            <a:normAutofit fontScale="95833"/>
          </a:bodyPr>
          <a:lstStyle/>
          <a:p>
            <a:pPr>
              <a:buNone/>
              <a:defRPr sz="1200" b="0">
                <a:solidFill>
                  <a:srgbClr val="5B7180"/>
                </a:solidFill>
                <a:latin typeface="Arial"/>
                <a:ea typeface="Arial"/>
                <a:cs typeface="Arial"/>
              </a:defRPr>
            </a:pPr>
            <a:r>
              <a:rPr sz="1200" b="0">
                <a:solidFill>
                  <a:srgbClr val="5B7180"/>
                </a:solidFill>
                <a:latin typeface="Arial"/>
                <a:ea typeface="Arial"/>
                <a:cs typeface="Arial"/>
              </a:rPr>
              <a:t>A working safety-guidance MVP, with the right boundaries for a future pilot</a:t>
            </a:r>
          </a:p>
        </p:txBody>
      </p:sp>
      <p:sp>
        <p:nvSpPr>
          <p:cNvPr id="4" name="Rectangle 3">
            <a:extLst>
              <a:ext uri="{FF2B5EF4-FFF2-40B4-BE49-F238E27FC236}">
                <a16:creationId xmlns:a16="http://schemas.microsoft.com/office/drawing/2014/main" id="{B964FC1D-31EF-40B7-B4E1-5CCBBA52F9C7}"/>
              </a:ext>
            </a:extLst>
          </p:cNvPr>
          <p:cNvSpPr>
            <a:spLocks noGrp="1"/>
          </p:cNvSpPr>
          <p:nvPr/>
        </p:nvSpPr>
        <p:spPr>
          <a:xfrm>
            <a:off x="704850" y="1762125"/>
            <a:ext cx="1066800" cy="47625"/>
          </a:xfrm>
          <a:prstGeom prst="rect">
            <a:avLst/>
          </a:prstGeom>
          <a:solidFill>
            <a:srgbClr val="00A28F"/>
          </a:solidFill>
          <a:ln w="9525">
            <a:solidFill>
              <a:srgbClr val="00A28F"/>
            </a:solidFill>
          </a:ln>
        </p:spPr>
      </p:sp>
      <p:sp>
        <p:nvSpPr>
          <p:cNvPr id="5" name="Rectangle 4">
            <a:extLst>
              <a:ext uri="{FF2B5EF4-FFF2-40B4-BE49-F238E27FC236}">
                <a16:creationId xmlns:a16="http://schemas.microsoft.com/office/drawing/2014/main" id="{A4DCCDDF-E136-4FE5-98F6-64D2E17366F9}"/>
              </a:ext>
            </a:extLst>
          </p:cNvPr>
          <p:cNvSpPr>
            <a:spLocks noGrp="1"/>
          </p:cNvSpPr>
          <p:nvPr/>
        </p:nvSpPr>
        <p:spPr>
          <a:xfrm>
            <a:off x="704850" y="6457950"/>
            <a:ext cx="10782300" cy="9525"/>
          </a:xfrm>
          <a:prstGeom prst="rect">
            <a:avLst/>
          </a:prstGeom>
          <a:solidFill>
            <a:srgbClr val="C9DFDE"/>
          </a:solidFill>
          <a:ln w="9525">
            <a:solidFill>
              <a:srgbClr val="C9DFDE"/>
            </a:solidFill>
          </a:ln>
        </p:spPr>
      </p:sp>
      <p:sp>
        <p:nvSpPr>
          <p:cNvPr id="6" name="Rectangle 5">
            <a:extLst>
              <a:ext uri="{FF2B5EF4-FFF2-40B4-BE49-F238E27FC236}">
                <a16:creationId xmlns:a16="http://schemas.microsoft.com/office/drawing/2014/main" id="{C642CE62-7AA4-40A4-87B1-8D7351AC6C93}"/>
              </a:ext>
            </a:extLst>
          </p:cNvPr>
          <p:cNvSpPr>
            <a:spLocks noGrp="1"/>
          </p:cNvSpPr>
          <p:nvPr/>
        </p:nvSpPr>
        <p:spPr>
          <a:xfrm>
            <a:off x="704850" y="6581775"/>
            <a:ext cx="2952750" cy="142875"/>
          </a:xfrm>
          <a:prstGeom prst="rect">
            <a:avLst/>
          </a:prstGeom>
          <a:noFill/>
          <a:ln w="0">
            <a:noFill/>
          </a:ln>
        </p:spPr>
        <p:txBody>
          <a:bodyPr>
            <a:normAutofit fontScale="50000"/>
          </a:bodyPr>
          <a:lstStyle/>
          <a:p>
            <a:pPr>
              <a:buNone/>
              <a:defRPr sz="675" b="0">
                <a:solidFill>
                  <a:srgbClr val="5B7180"/>
                </a:solidFill>
                <a:latin typeface="Arial"/>
                <a:ea typeface="Arial"/>
                <a:cs typeface="Arial"/>
              </a:defRPr>
            </a:pPr>
            <a:r>
              <a:rPr sz="675" b="0">
                <a:solidFill>
                  <a:srgbClr val="5B7180"/>
                </a:solidFill>
                <a:latin typeface="Arial"/>
                <a:ea typeface="Arial"/>
                <a:cs typeface="Arial"/>
              </a:rPr>
              <a:t>NETRAJYOTI AI  /  CAPSTONE MVP</a:t>
            </a:r>
          </a:p>
        </p:txBody>
      </p:sp>
      <p:sp>
        <p:nvSpPr>
          <p:cNvPr id="7" name="Rectangle 6">
            <a:extLst>
              <a:ext uri="{FF2B5EF4-FFF2-40B4-BE49-F238E27FC236}">
                <a16:creationId xmlns:a16="http://schemas.microsoft.com/office/drawing/2014/main" id="{1B1F5A78-2FC2-4DB8-864E-B0C8EAE82A76}"/>
              </a:ext>
            </a:extLst>
          </p:cNvPr>
          <p:cNvSpPr>
            <a:spLocks noGrp="1"/>
          </p:cNvSpPr>
          <p:nvPr/>
        </p:nvSpPr>
        <p:spPr>
          <a:xfrm>
            <a:off x="10991850" y="6581775"/>
            <a:ext cx="495300" cy="142875"/>
          </a:xfrm>
          <a:prstGeom prst="rect">
            <a:avLst/>
          </a:prstGeom>
          <a:noFill/>
          <a:ln w="0">
            <a:noFill/>
          </a:ln>
        </p:spPr>
        <p:txBody>
          <a:bodyPr>
            <a:normAutofit fontScale="50000"/>
          </a:bodyPr>
          <a:lstStyle/>
          <a:p>
            <a:pPr>
              <a:buNone/>
              <a:defRPr sz="675" b="0">
                <a:solidFill>
                  <a:srgbClr val="5B7180"/>
                </a:solidFill>
                <a:latin typeface="Arial"/>
                <a:ea typeface="Arial"/>
                <a:cs typeface="Arial"/>
              </a:defRPr>
            </a:pPr>
            <a:r>
              <a:rPr sz="675" b="0">
                <a:solidFill>
                  <a:srgbClr val="5B7180"/>
                </a:solidFill>
                <a:latin typeface="Arial"/>
                <a:ea typeface="Arial"/>
                <a:cs typeface="Arial"/>
              </a:rPr>
              <a:t>06</a:t>
            </a:r>
          </a:p>
        </p:txBody>
      </p:sp>
      <p:sp>
        <p:nvSpPr>
          <p:cNvPr id="8" name="Rectangle 7">
            <a:extLst>
              <a:ext uri="{FF2B5EF4-FFF2-40B4-BE49-F238E27FC236}">
                <a16:creationId xmlns:a16="http://schemas.microsoft.com/office/drawing/2014/main" id="{58A2DA3F-CF21-48CF-992C-FFD060B03A90}"/>
              </a:ext>
            </a:extLst>
          </p:cNvPr>
          <p:cNvSpPr>
            <a:spLocks noGrp="1"/>
          </p:cNvSpPr>
          <p:nvPr/>
        </p:nvSpPr>
        <p:spPr>
          <a:xfrm>
            <a:off x="723900" y="2276475"/>
            <a:ext cx="4286250" cy="266700"/>
          </a:xfrm>
          <a:prstGeom prst="rect">
            <a:avLst/>
          </a:prstGeom>
          <a:noFill/>
          <a:ln w="0">
            <a:noFill/>
          </a:ln>
        </p:spPr>
        <p:txBody>
          <a:bodyPr>
            <a:normAutofit fontScale="69697"/>
          </a:bodyPr>
          <a:lstStyle/>
          <a:p>
            <a:pPr>
              <a:buNone/>
              <a:defRPr sz="1650" b="1">
                <a:solidFill>
                  <a:srgbClr val="092F3E"/>
                </a:solidFill>
                <a:latin typeface="Arial"/>
                <a:ea typeface="Arial"/>
                <a:cs typeface="Arial"/>
              </a:defRPr>
            </a:pPr>
            <a:r>
              <a:rPr sz="1650" b="1">
                <a:solidFill>
                  <a:srgbClr val="092F3E"/>
                </a:solidFill>
                <a:latin typeface="Arial"/>
                <a:ea typeface="Arial"/>
                <a:cs typeface="Arial"/>
              </a:rPr>
              <a:t>What the MVP proves</a:t>
            </a:r>
          </a:p>
        </p:txBody>
      </p:sp>
      <p:sp>
        <p:nvSpPr>
          <p:cNvPr id="9" name="Rectangle 8">
            <a:extLst>
              <a:ext uri="{FF2B5EF4-FFF2-40B4-BE49-F238E27FC236}">
                <a16:creationId xmlns:a16="http://schemas.microsoft.com/office/drawing/2014/main" id="{3D8ED7CD-9870-47FC-A768-5AD092000B48}"/>
              </a:ext>
            </a:extLst>
          </p:cNvPr>
          <p:cNvSpPr>
            <a:spLocks noGrp="1"/>
          </p:cNvSpPr>
          <p:nvPr/>
        </p:nvSpPr>
        <p:spPr>
          <a:xfrm>
            <a:off x="723900" y="2705100"/>
            <a:ext cx="4991100" cy="962025"/>
          </a:xfrm>
          <a:prstGeom prst="rect">
            <a:avLst/>
          </a:prstGeom>
          <a:noFill/>
          <a:ln w="0">
            <a:noFill/>
          </a:ln>
        </p:spPr>
        <p:txBody>
          <a:bodyPr>
            <a:normAutofit fontScale="85398"/>
          </a:bodyPr>
          <a:lstStyle/>
          <a:p>
            <a:pPr>
              <a:buNone/>
              <a:defRPr sz="2175" b="1">
                <a:solidFill>
                  <a:srgbClr val="0B3A4A"/>
                </a:solidFill>
                <a:latin typeface="Arial"/>
                <a:ea typeface="Arial"/>
                <a:cs typeface="Arial"/>
              </a:defRPr>
            </a:pPr>
            <a:r>
              <a:rPr sz="2175" b="1">
                <a:solidFill>
                  <a:srgbClr val="0B3A4A"/>
                </a:solidFill>
                <a:latin typeface="Arial"/>
                <a:ea typeface="Arial"/>
                <a:cs typeface="Arial"/>
              </a:rPr>
              <a:t>A Bengali-first journey can give users a safe next step while keeping route selection under deterministic Java control.</a:t>
            </a:r>
          </a:p>
        </p:txBody>
      </p:sp>
      <p:sp>
        <p:nvSpPr>
          <p:cNvPr id="10" name="Rectangle 9">
            <a:extLst>
              <a:ext uri="{FF2B5EF4-FFF2-40B4-BE49-F238E27FC236}">
                <a16:creationId xmlns:a16="http://schemas.microsoft.com/office/drawing/2014/main" id="{FDA7B092-CD4B-412A-B485-B60AE90C123F}"/>
              </a:ext>
            </a:extLst>
          </p:cNvPr>
          <p:cNvSpPr>
            <a:spLocks noGrp="1"/>
          </p:cNvSpPr>
          <p:nvPr/>
        </p:nvSpPr>
        <p:spPr>
          <a:xfrm>
            <a:off x="723900" y="4029075"/>
            <a:ext cx="4191000" cy="28575"/>
          </a:xfrm>
          <a:prstGeom prst="rect">
            <a:avLst/>
          </a:prstGeom>
          <a:solidFill>
            <a:srgbClr val="00A28F"/>
          </a:solidFill>
          <a:ln w="9525">
            <a:solidFill>
              <a:srgbClr val="00A28F"/>
            </a:solidFill>
          </a:ln>
        </p:spPr>
      </p:sp>
      <p:sp>
        <p:nvSpPr>
          <p:cNvPr id="11" name="Rectangle 10">
            <a:extLst>
              <a:ext uri="{FF2B5EF4-FFF2-40B4-BE49-F238E27FC236}">
                <a16:creationId xmlns:a16="http://schemas.microsoft.com/office/drawing/2014/main" id="{747CF7CF-A51F-4743-BFA9-F603BFD36BB1}"/>
              </a:ext>
            </a:extLst>
          </p:cNvPr>
          <p:cNvSpPr>
            <a:spLocks noGrp="1"/>
          </p:cNvSpPr>
          <p:nvPr/>
        </p:nvSpPr>
        <p:spPr>
          <a:xfrm>
            <a:off x="723900" y="4219575"/>
            <a:ext cx="4286250" cy="266700"/>
          </a:xfrm>
          <a:prstGeom prst="rect">
            <a:avLst/>
          </a:prstGeom>
          <a:noFill/>
          <a:ln w="0">
            <a:noFill/>
          </a:ln>
        </p:spPr>
        <p:txBody>
          <a:bodyPr>
            <a:normAutofit fontScale="85185"/>
          </a:bodyPr>
          <a:lstStyle/>
          <a:p>
            <a:pPr>
              <a:buNone/>
              <a:defRPr sz="1350" b="1">
                <a:solidFill>
                  <a:srgbClr val="00A28F"/>
                </a:solidFill>
                <a:latin typeface="Arial"/>
                <a:ea typeface="Arial"/>
                <a:cs typeface="Arial"/>
              </a:defRPr>
            </a:pPr>
            <a:r>
              <a:rPr sz="1350" b="1">
                <a:solidFill>
                  <a:srgbClr val="00A28F"/>
                </a:solidFill>
                <a:latin typeface="Arial"/>
                <a:ea typeface="Arial"/>
                <a:cs typeface="Arial"/>
              </a:rPr>
              <a:t>The model can explain the route. It cannot decide it.</a:t>
            </a:r>
          </a:p>
        </p:txBody>
      </p:sp>
      <p:sp>
        <p:nvSpPr>
          <p:cNvPr id="12" name="Rectangle: Rounded Corners 11">
            <a:extLst>
              <a:ext uri="{FF2B5EF4-FFF2-40B4-BE49-F238E27FC236}">
                <a16:creationId xmlns:a16="http://schemas.microsoft.com/office/drawing/2014/main" id="{666154FD-AEE1-450C-871B-7B36BA87BC57}"/>
              </a:ext>
            </a:extLst>
          </p:cNvPr>
          <p:cNvSpPr>
            <a:spLocks noGrp="1"/>
          </p:cNvSpPr>
          <p:nvPr/>
        </p:nvSpPr>
        <p:spPr>
          <a:xfrm>
            <a:off x="6762750" y="2238375"/>
            <a:ext cx="4076700" cy="3124200"/>
          </a:xfrm>
          <a:prstGeom prst="roundRect">
            <a:avLst>
              <a:gd name="adj" fmla="val 2439"/>
            </a:avLst>
          </a:prstGeom>
          <a:solidFill>
            <a:srgbClr val="F7FAF9"/>
          </a:solidFill>
          <a:ln w="9525">
            <a:solidFill>
              <a:srgbClr val="F7FAF9"/>
            </a:solidFill>
          </a:ln>
        </p:spPr>
      </p:sp>
      <p:sp>
        <p:nvSpPr>
          <p:cNvPr id="13" name="Rectangle 12">
            <a:extLst>
              <a:ext uri="{FF2B5EF4-FFF2-40B4-BE49-F238E27FC236}">
                <a16:creationId xmlns:a16="http://schemas.microsoft.com/office/drawing/2014/main" id="{352CEA5A-5F46-48B3-BDF0-5EA5B4B55EF6}"/>
              </a:ext>
            </a:extLst>
          </p:cNvPr>
          <p:cNvSpPr>
            <a:spLocks noGrp="1"/>
          </p:cNvSpPr>
          <p:nvPr/>
        </p:nvSpPr>
        <p:spPr>
          <a:xfrm>
            <a:off x="7143750" y="2590800"/>
            <a:ext cx="2476500" cy="266700"/>
          </a:xfrm>
          <a:prstGeom prst="rect">
            <a:avLst/>
          </a:prstGeom>
          <a:noFill/>
          <a:ln w="0">
            <a:noFill/>
          </a:ln>
        </p:spPr>
        <p:txBody>
          <a:bodyPr>
            <a:normAutofit fontScale="69697"/>
          </a:bodyPr>
          <a:lstStyle/>
          <a:p>
            <a:pPr>
              <a:buNone/>
              <a:defRPr sz="1650" b="1">
                <a:solidFill>
                  <a:srgbClr val="092F3E"/>
                </a:solidFill>
                <a:latin typeface="Arial"/>
                <a:ea typeface="Arial"/>
                <a:cs typeface="Arial"/>
              </a:defRPr>
            </a:pPr>
            <a:r>
              <a:rPr sz="1650" b="1">
                <a:solidFill>
                  <a:srgbClr val="092F3E"/>
                </a:solidFill>
                <a:latin typeface="Arial"/>
                <a:ea typeface="Arial"/>
                <a:cs typeface="Arial"/>
              </a:rPr>
              <a:t>Before a pilot</a:t>
            </a:r>
          </a:p>
        </p:txBody>
      </p:sp>
      <p:sp>
        <p:nvSpPr>
          <p:cNvPr id="14" name="Rectangle: Rounded Corners 13">
            <a:extLst>
              <a:ext uri="{FF2B5EF4-FFF2-40B4-BE49-F238E27FC236}">
                <a16:creationId xmlns:a16="http://schemas.microsoft.com/office/drawing/2014/main" id="{07BA01D7-9881-474E-B9C5-B70AEBF504ED}"/>
              </a:ext>
            </a:extLst>
          </p:cNvPr>
          <p:cNvSpPr>
            <a:spLocks noGrp="1"/>
          </p:cNvSpPr>
          <p:nvPr/>
        </p:nvSpPr>
        <p:spPr>
          <a:xfrm>
            <a:off x="7162800" y="3181350"/>
            <a:ext cx="123825" cy="123825"/>
          </a:xfrm>
          <a:prstGeom prst="roundRect">
            <a:avLst>
              <a:gd name="adj" fmla="val 50000"/>
            </a:avLst>
          </a:prstGeom>
          <a:solidFill>
            <a:srgbClr val="E2524B"/>
          </a:solidFill>
          <a:ln w="9525">
            <a:solidFill>
              <a:srgbClr val="E2524B"/>
            </a:solidFill>
          </a:ln>
        </p:spPr>
      </p:sp>
      <p:sp>
        <p:nvSpPr>
          <p:cNvPr id="15" name="Rectangle 14">
            <a:extLst>
              <a:ext uri="{FF2B5EF4-FFF2-40B4-BE49-F238E27FC236}">
                <a16:creationId xmlns:a16="http://schemas.microsoft.com/office/drawing/2014/main" id="{B655AC4D-712A-45D0-B38E-D16B3A24ED1A}"/>
              </a:ext>
            </a:extLst>
          </p:cNvPr>
          <p:cNvSpPr>
            <a:spLocks noGrp="1"/>
          </p:cNvSpPr>
          <p:nvPr/>
        </p:nvSpPr>
        <p:spPr>
          <a:xfrm>
            <a:off x="7429500" y="3143250"/>
            <a:ext cx="2514600" cy="190500"/>
          </a:xfrm>
          <a:prstGeom prst="rect">
            <a:avLst/>
          </a:prstGeom>
          <a:noFill/>
          <a:ln w="0">
            <a:noFill/>
          </a:ln>
        </p:spPr>
        <p:txBody>
          <a:bodyPr>
            <a:normAutofit fontScale="54167"/>
          </a:bodyPr>
          <a:lstStyle/>
          <a:p>
            <a:pPr>
              <a:buNone/>
              <a:defRPr sz="1200" b="1">
                <a:solidFill>
                  <a:srgbClr val="092F3E"/>
                </a:solidFill>
                <a:latin typeface="Arial"/>
                <a:ea typeface="Arial"/>
                <a:cs typeface="Arial"/>
              </a:defRPr>
            </a:pPr>
            <a:r>
              <a:rPr sz="1200" b="1">
                <a:solidFill>
                  <a:srgbClr val="092F3E"/>
                </a:solidFill>
                <a:latin typeface="Arial"/>
                <a:ea typeface="Arial"/>
                <a:cs typeface="Arial"/>
              </a:rPr>
              <a:t>Clinical approval</a:t>
            </a:r>
          </a:p>
        </p:txBody>
      </p:sp>
      <p:sp>
        <p:nvSpPr>
          <p:cNvPr id="16" name="Rectangle 15">
            <a:extLst>
              <a:ext uri="{FF2B5EF4-FFF2-40B4-BE49-F238E27FC236}">
                <a16:creationId xmlns:a16="http://schemas.microsoft.com/office/drawing/2014/main" id="{1F5C1630-AFF3-4122-BF54-0700AC9C0F8A}"/>
              </a:ext>
            </a:extLst>
          </p:cNvPr>
          <p:cNvSpPr>
            <a:spLocks noGrp="1"/>
          </p:cNvSpPr>
          <p:nvPr/>
        </p:nvSpPr>
        <p:spPr>
          <a:xfrm>
            <a:off x="7429500" y="3381375"/>
            <a:ext cx="2743200" cy="238125"/>
          </a:xfrm>
          <a:prstGeom prst="rect">
            <a:avLst/>
          </a:prstGeom>
          <a:noFill/>
          <a:ln w="0">
            <a:noFill/>
          </a:ln>
        </p:spPr>
        <p:txBody>
          <a:bodyPr>
            <a:normAutofit fontScale="77725"/>
          </a:bodyPr>
          <a:lstStyle/>
          <a:p>
            <a:pPr>
              <a:buNone/>
              <a:defRPr sz="1050" b="0">
                <a:solidFill>
                  <a:srgbClr val="5B7180"/>
                </a:solidFill>
                <a:latin typeface="Arial"/>
                <a:ea typeface="Arial"/>
                <a:cs typeface="Arial"/>
              </a:defRPr>
            </a:pPr>
            <a:r>
              <a:rPr sz="1050" b="0">
                <a:solidFill>
                  <a:srgbClr val="5B7180"/>
                </a:solidFill>
                <a:latin typeface="Arial"/>
                <a:ea typeface="Arial"/>
                <a:cs typeface="Arial"/>
              </a:rPr>
              <a:t>Qualified review of routing criteria and Bengali guidance</a:t>
            </a:r>
          </a:p>
        </p:txBody>
      </p:sp>
      <p:sp>
        <p:nvSpPr>
          <p:cNvPr id="17" name="Rectangle: Rounded Corners 16">
            <a:extLst>
              <a:ext uri="{FF2B5EF4-FFF2-40B4-BE49-F238E27FC236}">
                <a16:creationId xmlns:a16="http://schemas.microsoft.com/office/drawing/2014/main" id="{FE10004D-467A-4F1F-9965-B9ECA13EF14D}"/>
              </a:ext>
            </a:extLst>
          </p:cNvPr>
          <p:cNvSpPr>
            <a:spLocks noGrp="1"/>
          </p:cNvSpPr>
          <p:nvPr/>
        </p:nvSpPr>
        <p:spPr>
          <a:xfrm>
            <a:off x="7162800" y="3848100"/>
            <a:ext cx="123825" cy="123825"/>
          </a:xfrm>
          <a:prstGeom prst="roundRect">
            <a:avLst>
              <a:gd name="adj" fmla="val 50000"/>
            </a:avLst>
          </a:prstGeom>
          <a:solidFill>
            <a:srgbClr val="00A28F"/>
          </a:solidFill>
          <a:ln w="9525">
            <a:solidFill>
              <a:srgbClr val="00A28F"/>
            </a:solidFill>
          </a:ln>
        </p:spPr>
      </p:sp>
      <p:sp>
        <p:nvSpPr>
          <p:cNvPr id="18" name="Rectangle 17">
            <a:extLst>
              <a:ext uri="{FF2B5EF4-FFF2-40B4-BE49-F238E27FC236}">
                <a16:creationId xmlns:a16="http://schemas.microsoft.com/office/drawing/2014/main" id="{D92B4EA6-89DD-4325-988F-3B8271CE3416}"/>
              </a:ext>
            </a:extLst>
          </p:cNvPr>
          <p:cNvSpPr>
            <a:spLocks noGrp="1"/>
          </p:cNvSpPr>
          <p:nvPr/>
        </p:nvSpPr>
        <p:spPr>
          <a:xfrm>
            <a:off x="7429500" y="3810000"/>
            <a:ext cx="2514600" cy="190500"/>
          </a:xfrm>
          <a:prstGeom prst="rect">
            <a:avLst/>
          </a:prstGeom>
          <a:noFill/>
          <a:ln w="0">
            <a:noFill/>
          </a:ln>
        </p:spPr>
        <p:txBody>
          <a:bodyPr>
            <a:normAutofit fontScale="54167"/>
          </a:bodyPr>
          <a:lstStyle/>
          <a:p>
            <a:pPr>
              <a:buNone/>
              <a:defRPr sz="1200" b="1">
                <a:solidFill>
                  <a:srgbClr val="092F3E"/>
                </a:solidFill>
                <a:latin typeface="Arial"/>
                <a:ea typeface="Arial"/>
                <a:cs typeface="Arial"/>
              </a:defRPr>
            </a:pPr>
            <a:r>
              <a:rPr sz="1200" b="1">
                <a:solidFill>
                  <a:srgbClr val="092F3E"/>
                </a:solidFill>
                <a:latin typeface="Arial"/>
                <a:ea typeface="Arial"/>
                <a:cs typeface="Arial"/>
              </a:rPr>
              <a:t>Operational readiness</a:t>
            </a:r>
          </a:p>
        </p:txBody>
      </p:sp>
      <p:sp>
        <p:nvSpPr>
          <p:cNvPr id="19" name="Rectangle 18">
            <a:extLst>
              <a:ext uri="{FF2B5EF4-FFF2-40B4-BE49-F238E27FC236}">
                <a16:creationId xmlns:a16="http://schemas.microsoft.com/office/drawing/2014/main" id="{39788C7F-C5C5-4CD9-8416-4E4DE041A8F8}"/>
              </a:ext>
            </a:extLst>
          </p:cNvPr>
          <p:cNvSpPr>
            <a:spLocks noGrp="1"/>
          </p:cNvSpPr>
          <p:nvPr/>
        </p:nvSpPr>
        <p:spPr>
          <a:xfrm>
            <a:off x="7429500" y="4048125"/>
            <a:ext cx="2743200" cy="238125"/>
          </a:xfrm>
          <a:prstGeom prst="rect">
            <a:avLst/>
          </a:prstGeom>
          <a:noFill/>
          <a:ln w="0">
            <a:noFill/>
          </a:ln>
        </p:spPr>
        <p:txBody>
          <a:bodyPr>
            <a:normAutofit fontScale="77696"/>
          </a:bodyPr>
          <a:lstStyle/>
          <a:p>
            <a:pPr>
              <a:buNone/>
              <a:defRPr sz="1050" b="0">
                <a:solidFill>
                  <a:srgbClr val="5B7180"/>
                </a:solidFill>
                <a:latin typeface="Arial"/>
                <a:ea typeface="Arial"/>
                <a:cs typeface="Arial"/>
              </a:defRPr>
            </a:pPr>
            <a:r>
              <a:rPr sz="1050" b="0">
                <a:solidFill>
                  <a:srgbClr val="5B7180"/>
                </a:solidFill>
                <a:latin typeface="Arial"/>
                <a:ea typeface="Arial"/>
                <a:cs typeface="Arial"/>
              </a:rPr>
              <a:t>Verified service data, ownership, and freshness controls</a:t>
            </a:r>
          </a:p>
        </p:txBody>
      </p:sp>
      <p:sp>
        <p:nvSpPr>
          <p:cNvPr id="20" name="Rectangle: Rounded Corners 19">
            <a:extLst>
              <a:ext uri="{FF2B5EF4-FFF2-40B4-BE49-F238E27FC236}">
                <a16:creationId xmlns:a16="http://schemas.microsoft.com/office/drawing/2014/main" id="{A0B92355-BFF4-4243-AEC6-0946D238802E}"/>
              </a:ext>
            </a:extLst>
          </p:cNvPr>
          <p:cNvSpPr>
            <a:spLocks noGrp="1"/>
          </p:cNvSpPr>
          <p:nvPr/>
        </p:nvSpPr>
        <p:spPr>
          <a:xfrm>
            <a:off x="7162800" y="4514850"/>
            <a:ext cx="123825" cy="123825"/>
          </a:xfrm>
          <a:prstGeom prst="roundRect">
            <a:avLst>
              <a:gd name="adj" fmla="val 50000"/>
            </a:avLst>
          </a:prstGeom>
          <a:solidFill>
            <a:srgbClr val="F0AD26"/>
          </a:solidFill>
          <a:ln w="9525">
            <a:solidFill>
              <a:srgbClr val="F0AD26"/>
            </a:solidFill>
          </a:ln>
        </p:spPr>
      </p:sp>
      <p:sp>
        <p:nvSpPr>
          <p:cNvPr id="21" name="Rectangle 20">
            <a:extLst>
              <a:ext uri="{FF2B5EF4-FFF2-40B4-BE49-F238E27FC236}">
                <a16:creationId xmlns:a16="http://schemas.microsoft.com/office/drawing/2014/main" id="{E2132D38-E532-4E1E-837A-8A2483B488AC}"/>
              </a:ext>
            </a:extLst>
          </p:cNvPr>
          <p:cNvSpPr>
            <a:spLocks noGrp="1"/>
          </p:cNvSpPr>
          <p:nvPr/>
        </p:nvSpPr>
        <p:spPr>
          <a:xfrm>
            <a:off x="7429500" y="4476750"/>
            <a:ext cx="2514600" cy="190500"/>
          </a:xfrm>
          <a:prstGeom prst="rect">
            <a:avLst/>
          </a:prstGeom>
          <a:noFill/>
          <a:ln w="0">
            <a:noFill/>
          </a:ln>
        </p:spPr>
        <p:txBody>
          <a:bodyPr>
            <a:normAutofit fontScale="54167"/>
          </a:bodyPr>
          <a:lstStyle/>
          <a:p>
            <a:pPr>
              <a:buNone/>
              <a:defRPr sz="1200" b="1">
                <a:solidFill>
                  <a:srgbClr val="092F3E"/>
                </a:solidFill>
                <a:latin typeface="Arial"/>
                <a:ea typeface="Arial"/>
                <a:cs typeface="Arial"/>
              </a:defRPr>
            </a:pPr>
            <a:r>
              <a:rPr sz="1200" b="1">
                <a:solidFill>
                  <a:srgbClr val="092F3E"/>
                </a:solidFill>
                <a:latin typeface="Arial"/>
                <a:ea typeface="Arial"/>
                <a:cs typeface="Arial"/>
              </a:rPr>
              <a:t>Broader validation</a:t>
            </a:r>
          </a:p>
        </p:txBody>
      </p:sp>
      <p:sp>
        <p:nvSpPr>
          <p:cNvPr id="22" name="Rectangle 21">
            <a:extLst>
              <a:ext uri="{FF2B5EF4-FFF2-40B4-BE49-F238E27FC236}">
                <a16:creationId xmlns:a16="http://schemas.microsoft.com/office/drawing/2014/main" id="{4B6F9123-0870-4230-BEAF-DA9BEFA692F9}"/>
              </a:ext>
            </a:extLst>
          </p:cNvPr>
          <p:cNvSpPr>
            <a:spLocks noGrp="1"/>
          </p:cNvSpPr>
          <p:nvPr/>
        </p:nvSpPr>
        <p:spPr>
          <a:xfrm>
            <a:off x="7429500" y="4714875"/>
            <a:ext cx="2743200" cy="238125"/>
          </a:xfrm>
          <a:prstGeom prst="rect">
            <a:avLst/>
          </a:prstGeom>
          <a:noFill/>
          <a:ln w="0">
            <a:noFill/>
          </a:ln>
        </p:spPr>
        <p:txBody>
          <a:bodyPr>
            <a:normAutofit fontScale="71696"/>
          </a:bodyPr>
          <a:lstStyle/>
          <a:p>
            <a:pPr>
              <a:buNone/>
              <a:defRPr sz="1050" b="0">
                <a:solidFill>
                  <a:srgbClr val="5B7180"/>
                </a:solidFill>
                <a:latin typeface="Arial"/>
                <a:ea typeface="Arial"/>
                <a:cs typeface="Arial"/>
              </a:defRPr>
            </a:pPr>
            <a:r>
              <a:rPr sz="1050" b="0">
                <a:solidFill>
                  <a:srgbClr val="5B7180"/>
                </a:solidFill>
                <a:latin typeface="Arial"/>
                <a:ea typeface="Arial"/>
                <a:cs typeface="Arial"/>
              </a:rPr>
              <a:t>API, end-to-end, accessibility, privacy, and usability evidence</a:t>
            </a:r>
          </a:p>
        </p:txBody>
      </p:sp>
      <p:sp>
        <p:nvSpPr>
          <p:cNvPr id="23" name="Rectangle 22">
            <a:extLst>
              <a:ext uri="{FF2B5EF4-FFF2-40B4-BE49-F238E27FC236}">
                <a16:creationId xmlns:a16="http://schemas.microsoft.com/office/drawing/2014/main" id="{17A6053C-0CAB-4CB6-ACC7-256545B70554}"/>
              </a:ext>
            </a:extLst>
          </p:cNvPr>
          <p:cNvSpPr>
            <a:spLocks noGrp="1"/>
          </p:cNvSpPr>
          <p:nvPr/>
        </p:nvSpPr>
        <p:spPr>
          <a:xfrm>
            <a:off x="723900" y="5743575"/>
            <a:ext cx="2476500" cy="371475"/>
          </a:xfrm>
          <a:prstGeom prst="rect">
            <a:avLst/>
          </a:prstGeom>
          <a:noFill/>
          <a:ln w="0">
            <a:noFill/>
          </a:ln>
        </p:spPr>
        <p:txBody>
          <a:bodyPr>
            <a:normAutofit fontScale="76562"/>
          </a:bodyPr>
          <a:lstStyle/>
          <a:p>
            <a:pPr>
              <a:buNone/>
              <a:defRPr sz="2400" b="1">
                <a:solidFill>
                  <a:srgbClr val="00A28F"/>
                </a:solidFill>
                <a:latin typeface="Arial"/>
                <a:ea typeface="Arial"/>
                <a:cs typeface="Arial"/>
              </a:defRPr>
            </a:pPr>
            <a:r>
              <a:rPr sz="2400" b="1">
                <a:solidFill>
                  <a:srgbClr val="00A28F"/>
                </a:solidFill>
                <a:latin typeface="Arial"/>
                <a:ea typeface="Arial"/>
                <a:cs typeface="Arial"/>
              </a:rPr>
              <a:t>Thank you</a:t>
            </a:r>
          </a:p>
        </p:txBody>
      </p:sp>
      <p:sp>
        <p:nvSpPr>
          <p:cNvPr id="24" name="Rectangle 23">
            <a:extLst>
              <a:ext uri="{FF2B5EF4-FFF2-40B4-BE49-F238E27FC236}">
                <a16:creationId xmlns:a16="http://schemas.microsoft.com/office/drawing/2014/main" id="{41353DBE-CCCB-47E1-BB8E-EBBCD6DED19E}"/>
              </a:ext>
            </a:extLst>
          </p:cNvPr>
          <p:cNvSpPr>
            <a:spLocks noGrp="1"/>
          </p:cNvSpPr>
          <p:nvPr/>
        </p:nvSpPr>
        <p:spPr>
          <a:xfrm>
            <a:off x="742950" y="6153150"/>
            <a:ext cx="1524000" cy="171450"/>
          </a:xfrm>
          <a:prstGeom prst="rect">
            <a:avLst/>
          </a:prstGeom>
          <a:noFill/>
          <a:ln w="0">
            <a:noFill/>
          </a:ln>
        </p:spPr>
        <p:txBody>
          <a:bodyPr>
            <a:normAutofit fontScale="50000"/>
          </a:bodyPr>
          <a:lstStyle/>
          <a:p>
            <a:pPr>
              <a:buNone/>
              <a:defRPr sz="1050" b="0">
                <a:solidFill>
                  <a:srgbClr val="5B7180"/>
                </a:solidFill>
                <a:latin typeface="Arial"/>
                <a:ea typeface="Arial"/>
                <a:cs typeface="Arial"/>
              </a:defRPr>
            </a:pPr>
            <a:r>
              <a:rPr sz="1050" b="0">
                <a:solidFill>
                  <a:srgbClr val="5B7180"/>
                </a:solidFill>
                <a:latin typeface="Arial"/>
                <a:ea typeface="Arial"/>
                <a:cs typeface="Arial"/>
              </a:rPr>
              <a:t>Questions</a:t>
            </a:r>
          </a:p>
        </p:txBody>
      </p:sp>
      <p:sp>
        <p:nvSpPr>
          <p:cNvPr id="26" name="Rectangle 25">
            <a:extLst>
              <a:ext uri="{FF2B5EF4-FFF2-40B4-BE49-F238E27FC236}">
                <a16:creationId xmlns:a16="http://schemas.microsoft.com/office/drawing/2014/main" id="{D056A63D-DE41-4894-B5EF-441D483DC3BE}"/>
              </a:ext>
            </a:extLst>
          </p:cNvPr>
          <p:cNvSpPr>
            <a:spLocks noGrp="1"/>
          </p:cNvSpPr>
          <p:nvPr/>
        </p:nvSpPr>
        <p:spPr>
          <a:xfrm>
            <a:off x="0" y="0"/>
            <a:ext cx="12192000" cy="6858000"/>
          </a:xfrm>
          <a:prstGeom prst="rect">
            <a:avLst/>
          </a:prstGeom>
          <a:solidFill>
            <a:srgbClr val="202A44"/>
          </a:solidFill>
          <a:ln w="0">
            <a:noFill/>
          </a:ln>
        </p:spPr>
      </p:sp>
      <p:sp>
        <p:nvSpPr>
          <p:cNvPr id="27" name="Rectangle 26">
            <a:extLst>
              <a:ext uri="{FF2B5EF4-FFF2-40B4-BE49-F238E27FC236}">
                <a16:creationId xmlns:a16="http://schemas.microsoft.com/office/drawing/2014/main" id="{46308225-5FB3-45A3-9FCE-3735C84D67E5}"/>
              </a:ext>
            </a:extLst>
          </p:cNvPr>
          <p:cNvSpPr>
            <a:spLocks noGrp="1"/>
          </p:cNvSpPr>
          <p:nvPr/>
        </p:nvSpPr>
        <p:spPr>
          <a:xfrm>
            <a:off x="685800" y="419100"/>
            <a:ext cx="666750" cy="209550"/>
          </a:xfrm>
          <a:prstGeom prst="rect">
            <a:avLst/>
          </a:prstGeom>
          <a:noFill/>
          <a:ln w="0">
            <a:noFill/>
          </a:ln>
        </p:spPr>
        <p:txBody>
          <a:bodyPr>
            <a:noAutofit/>
          </a:bodyPr>
          <a:lstStyle/>
          <a:p>
            <a:pPr>
              <a:buNone/>
              <a:defRPr sz="1200" b="1">
                <a:solidFill>
                  <a:srgbClr val="E7A048"/>
                </a:solidFill>
                <a:latin typeface="Arial"/>
                <a:ea typeface="Arial"/>
                <a:cs typeface="Arial"/>
              </a:defRPr>
            </a:pPr>
            <a:r>
              <a:rPr sz="1200" b="1">
                <a:solidFill>
                  <a:srgbClr val="E7A048"/>
                </a:solidFill>
                <a:latin typeface="Arial"/>
                <a:ea typeface="Arial"/>
                <a:cs typeface="Arial"/>
              </a:rPr>
              <a:t>06</a:t>
            </a:r>
          </a:p>
        </p:txBody>
      </p:sp>
      <p:sp>
        <p:nvSpPr>
          <p:cNvPr id="28" name="Rectangle 27">
            <a:extLst>
              <a:ext uri="{FF2B5EF4-FFF2-40B4-BE49-F238E27FC236}">
                <a16:creationId xmlns:a16="http://schemas.microsoft.com/office/drawing/2014/main" id="{E246A073-FBF4-4227-8625-F16359BF6BDC}"/>
              </a:ext>
            </a:extLst>
          </p:cNvPr>
          <p:cNvSpPr>
            <a:spLocks noGrp="1"/>
          </p:cNvSpPr>
          <p:nvPr/>
        </p:nvSpPr>
        <p:spPr>
          <a:xfrm>
            <a:off x="9810750" y="428625"/>
            <a:ext cx="1695450" cy="190500"/>
          </a:xfrm>
          <a:prstGeom prst="rect">
            <a:avLst/>
          </a:prstGeom>
          <a:noFill/>
          <a:ln w="0">
            <a:noFill/>
          </a:ln>
        </p:spPr>
        <p:txBody>
          <a:bodyPr>
            <a:noAutofit/>
          </a:bodyPr>
          <a:lstStyle/>
          <a:p>
            <a:pPr algn="r">
              <a:buNone/>
              <a:defRPr sz="975" b="1">
                <a:solidFill>
                  <a:srgbClr val="E7A048"/>
                </a:solidFill>
                <a:latin typeface="Arial"/>
                <a:ea typeface="Arial"/>
                <a:cs typeface="Arial"/>
              </a:defRPr>
            </a:pPr>
            <a:r>
              <a:rPr sz="975" b="1">
                <a:solidFill>
                  <a:srgbClr val="E7A048"/>
                </a:solidFill>
                <a:latin typeface="Arial"/>
                <a:ea typeface="Arial"/>
                <a:cs typeface="Arial"/>
              </a:rPr>
              <a:t>NETRAJYOTI AI</a:t>
            </a:r>
          </a:p>
        </p:txBody>
      </p:sp>
      <p:sp>
        <p:nvSpPr>
          <p:cNvPr id="29" name="Rectangle 28">
            <a:extLst>
              <a:ext uri="{FF2B5EF4-FFF2-40B4-BE49-F238E27FC236}">
                <a16:creationId xmlns:a16="http://schemas.microsoft.com/office/drawing/2014/main" id="{C05B2570-CC77-4617-8CB2-0C12E51C4A74}"/>
              </a:ext>
            </a:extLst>
          </p:cNvPr>
          <p:cNvSpPr>
            <a:spLocks noGrp="1"/>
          </p:cNvSpPr>
          <p:nvPr/>
        </p:nvSpPr>
        <p:spPr>
          <a:xfrm>
            <a:off x="685800" y="762000"/>
            <a:ext cx="10287000" cy="457200"/>
          </a:xfrm>
          <a:prstGeom prst="rect">
            <a:avLst/>
          </a:prstGeom>
          <a:noFill/>
          <a:ln w="0">
            <a:noFill/>
          </a:ln>
        </p:spPr>
        <p:txBody>
          <a:bodyPr>
            <a:noAutofit/>
          </a:bodyPr>
          <a:lstStyle/>
          <a:p>
            <a:pPr>
              <a:buNone/>
              <a:defRPr sz="2550" b="1">
                <a:solidFill>
                  <a:srgbClr val="FFFFFF"/>
                </a:solidFill>
                <a:latin typeface="Arial"/>
                <a:ea typeface="Arial"/>
                <a:cs typeface="Arial"/>
              </a:defRPr>
            </a:pPr>
            <a:r>
              <a:rPr sz="2550" b="1">
                <a:solidFill>
                  <a:srgbClr val="FFFFFF"/>
                </a:solidFill>
                <a:latin typeface="Arial"/>
                <a:ea typeface="Arial"/>
                <a:cs typeface="Arial"/>
              </a:rPr>
              <a:t>Current safety boundary</a:t>
            </a:r>
          </a:p>
        </p:txBody>
      </p:sp>
      <p:sp>
        <p:nvSpPr>
          <p:cNvPr id="30" name="Rectangle 29">
            <a:extLst>
              <a:ext uri="{FF2B5EF4-FFF2-40B4-BE49-F238E27FC236}">
                <a16:creationId xmlns:a16="http://schemas.microsoft.com/office/drawing/2014/main" id="{9241028F-EBF1-4291-AC53-59C297660795}"/>
              </a:ext>
            </a:extLst>
          </p:cNvPr>
          <p:cNvSpPr>
            <a:spLocks noGrp="1"/>
          </p:cNvSpPr>
          <p:nvPr/>
        </p:nvSpPr>
        <p:spPr>
          <a:xfrm>
            <a:off x="704850" y="1343025"/>
            <a:ext cx="10287000" cy="266700"/>
          </a:xfrm>
          <a:prstGeom prst="rect">
            <a:avLst/>
          </a:prstGeom>
          <a:noFill/>
          <a:ln w="0">
            <a:noFill/>
          </a:ln>
        </p:spPr>
        <p:txBody>
          <a:bodyPr>
            <a:noAutofit/>
          </a:bodyPr>
          <a:lstStyle/>
          <a:p>
            <a:pPr>
              <a:buNone/>
              <a:defRPr sz="1275">
                <a:solidFill>
                  <a:srgbClr val="C8D4EE"/>
                </a:solidFill>
                <a:latin typeface="Arial"/>
                <a:ea typeface="Arial"/>
                <a:cs typeface="Arial"/>
              </a:defRPr>
            </a:pPr>
            <a:r>
              <a:rPr sz="1275">
                <a:solidFill>
                  <a:srgbClr val="C8D4EE"/>
                </a:solidFill>
                <a:latin typeface="Arial"/>
                <a:ea typeface="Arial"/>
                <a:cs typeface="Arial"/>
              </a:rPr>
              <a:t>The live MVP separates route selection from optional generated explanation.</a:t>
            </a:r>
          </a:p>
        </p:txBody>
      </p:sp>
      <p:sp>
        <p:nvSpPr>
          <p:cNvPr id="31" name="Rectangle 30">
            <a:extLst>
              <a:ext uri="{FF2B5EF4-FFF2-40B4-BE49-F238E27FC236}">
                <a16:creationId xmlns:a16="http://schemas.microsoft.com/office/drawing/2014/main" id="{F3964160-B616-4F38-A87C-042F92D7152B}"/>
              </a:ext>
            </a:extLst>
          </p:cNvPr>
          <p:cNvSpPr>
            <a:spLocks noGrp="1"/>
          </p:cNvSpPr>
          <p:nvPr/>
        </p:nvSpPr>
        <p:spPr>
          <a:xfrm>
            <a:off x="685800" y="1752600"/>
            <a:ext cx="10820400" cy="19050"/>
          </a:xfrm>
          <a:prstGeom prst="rect">
            <a:avLst/>
          </a:prstGeom>
          <a:solidFill>
            <a:srgbClr val="5C6DAA"/>
          </a:solidFill>
          <a:ln w="0">
            <a:noFill/>
          </a:ln>
        </p:spPr>
      </p:sp>
      <p:sp>
        <p:nvSpPr>
          <p:cNvPr id="32" name="Rectangle: Rounded Corners 31">
            <a:extLst>
              <a:ext uri="{FF2B5EF4-FFF2-40B4-BE49-F238E27FC236}">
                <a16:creationId xmlns:a16="http://schemas.microsoft.com/office/drawing/2014/main" id="{4A4234A7-EA0E-4889-91C3-A18843228956}"/>
              </a:ext>
            </a:extLst>
          </p:cNvPr>
          <p:cNvSpPr>
            <a:spLocks noGrp="1"/>
          </p:cNvSpPr>
          <p:nvPr/>
        </p:nvSpPr>
        <p:spPr>
          <a:xfrm>
            <a:off x="723900" y="2324100"/>
            <a:ext cx="4667250" cy="2819400"/>
          </a:xfrm>
          <a:prstGeom prst="roundRect">
            <a:avLst>
              <a:gd name="adj" fmla="val 2703"/>
            </a:avLst>
          </a:prstGeom>
          <a:solidFill>
            <a:srgbClr val="2A3658"/>
          </a:solidFill>
          <a:ln w="9525">
            <a:solidFill>
              <a:srgbClr val="52628A"/>
            </a:solidFill>
          </a:ln>
        </p:spPr>
      </p:sp>
      <p:sp>
        <p:nvSpPr>
          <p:cNvPr id="33" name="Rectangle: Rounded Corners 32">
            <a:extLst>
              <a:ext uri="{FF2B5EF4-FFF2-40B4-BE49-F238E27FC236}">
                <a16:creationId xmlns:a16="http://schemas.microsoft.com/office/drawing/2014/main" id="{1A9B9104-FDB4-465A-957D-1D0FC158754E}"/>
              </a:ext>
            </a:extLst>
          </p:cNvPr>
          <p:cNvSpPr>
            <a:spLocks noGrp="1"/>
          </p:cNvSpPr>
          <p:nvPr/>
        </p:nvSpPr>
        <p:spPr>
          <a:xfrm>
            <a:off x="6419850" y="2324100"/>
            <a:ext cx="4667250" cy="2819400"/>
          </a:xfrm>
          <a:prstGeom prst="roundRect">
            <a:avLst>
              <a:gd name="adj" fmla="val 2703"/>
            </a:avLst>
          </a:prstGeom>
          <a:solidFill>
            <a:srgbClr val="2A3658"/>
          </a:solidFill>
          <a:ln w="9525">
            <a:solidFill>
              <a:srgbClr val="52628A"/>
            </a:solidFill>
          </a:ln>
        </p:spPr>
      </p:sp>
      <p:sp>
        <p:nvSpPr>
          <p:cNvPr id="34" name="Rectangle 33">
            <a:extLst>
              <a:ext uri="{FF2B5EF4-FFF2-40B4-BE49-F238E27FC236}">
                <a16:creationId xmlns:a16="http://schemas.microsoft.com/office/drawing/2014/main" id="{7F67F471-736A-44BD-AC09-9C66922A291D}"/>
              </a:ext>
            </a:extLst>
          </p:cNvPr>
          <p:cNvSpPr>
            <a:spLocks noGrp="1"/>
          </p:cNvSpPr>
          <p:nvPr/>
        </p:nvSpPr>
        <p:spPr>
          <a:xfrm>
            <a:off x="1028700" y="2628900"/>
            <a:ext cx="3143250" cy="190500"/>
          </a:xfrm>
          <a:prstGeom prst="rect">
            <a:avLst/>
          </a:prstGeom>
          <a:noFill/>
          <a:ln w="0">
            <a:noFill/>
          </a:ln>
        </p:spPr>
        <p:txBody>
          <a:bodyPr>
            <a:noAutofit/>
          </a:bodyPr>
          <a:lstStyle/>
          <a:p>
            <a:pPr>
              <a:buNone/>
              <a:defRPr sz="1125" b="1">
                <a:solidFill>
                  <a:srgbClr val="E7A048"/>
                </a:solidFill>
                <a:latin typeface="Arial"/>
                <a:ea typeface="Arial"/>
                <a:cs typeface="Arial"/>
              </a:defRPr>
            </a:pPr>
            <a:r>
              <a:rPr sz="1125" b="1">
                <a:solidFill>
                  <a:srgbClr val="E7A048"/>
                </a:solidFill>
                <a:latin typeface="Arial"/>
                <a:ea typeface="Arial"/>
                <a:cs typeface="Arial"/>
              </a:rPr>
              <a:t>DETERMINISTIC ROUTE</a:t>
            </a:r>
          </a:p>
        </p:txBody>
      </p:sp>
      <p:sp>
        <p:nvSpPr>
          <p:cNvPr id="35" name="Rectangle 34">
            <a:extLst>
              <a:ext uri="{FF2B5EF4-FFF2-40B4-BE49-F238E27FC236}">
                <a16:creationId xmlns:a16="http://schemas.microsoft.com/office/drawing/2014/main" id="{A38CF3B4-2B1C-4396-99EF-5CFE8E1D98D1}"/>
              </a:ext>
            </a:extLst>
          </p:cNvPr>
          <p:cNvSpPr>
            <a:spLocks noGrp="1"/>
          </p:cNvSpPr>
          <p:nvPr/>
        </p:nvSpPr>
        <p:spPr>
          <a:xfrm>
            <a:off x="1028700" y="2933700"/>
            <a:ext cx="3829050" cy="571500"/>
          </a:xfrm>
          <a:prstGeom prst="rect">
            <a:avLst/>
          </a:prstGeom>
          <a:noFill/>
          <a:ln w="0">
            <a:noFill/>
          </a:ln>
        </p:spPr>
        <p:txBody>
          <a:bodyPr>
            <a:noAutofit/>
          </a:bodyPr>
          <a:lstStyle/>
          <a:p>
            <a:pPr>
              <a:buNone/>
              <a:defRPr sz="1725" b="1">
                <a:solidFill>
                  <a:srgbClr val="FFFFFF"/>
                </a:solidFill>
                <a:latin typeface="Arial"/>
                <a:ea typeface="Arial"/>
                <a:cs typeface="Arial"/>
              </a:defRPr>
            </a:pPr>
            <a:r>
              <a:rPr sz="1725" b="1">
                <a:solidFill>
                  <a:srgbClr val="FFFFFF"/>
                </a:solidFill>
                <a:latin typeface="Arial"/>
                <a:ea typeface="Arial"/>
                <a:cs typeface="Arial"/>
              </a:rPr>
              <a:t>Java deterministic engine</a:t>
            </a:r>
          </a:p>
          <a:p>
            <a:pPr>
              <a:buNone/>
              <a:defRPr sz="1725" b="1">
                <a:solidFill>
                  <a:srgbClr val="FFFFFF"/>
                </a:solidFill>
                <a:latin typeface="Arial"/>
                <a:ea typeface="Arial"/>
                <a:cs typeface="Arial"/>
              </a:defRPr>
            </a:pPr>
            <a:r>
              <a:rPr sz="1725" b="1">
                <a:solidFill>
                  <a:srgbClr val="FFFFFF"/>
                </a:solidFill>
                <a:latin typeface="Arial"/>
                <a:ea typeface="Arial"/>
                <a:cs typeface="Arial"/>
              </a:rPr>
              <a:t>selects the care route</a:t>
            </a:r>
          </a:p>
        </p:txBody>
      </p:sp>
      <p:sp>
        <p:nvSpPr>
          <p:cNvPr id="36" name="Rectangle 35">
            <a:extLst>
              <a:ext uri="{FF2B5EF4-FFF2-40B4-BE49-F238E27FC236}">
                <a16:creationId xmlns:a16="http://schemas.microsoft.com/office/drawing/2014/main" id="{FA06A4DE-AA43-4F2B-B52A-91B749267FF7}"/>
              </a:ext>
            </a:extLst>
          </p:cNvPr>
          <p:cNvSpPr>
            <a:spLocks noGrp="1"/>
          </p:cNvSpPr>
          <p:nvPr/>
        </p:nvSpPr>
        <p:spPr>
          <a:xfrm>
            <a:off x="1028700" y="3714750"/>
            <a:ext cx="3810000" cy="590550"/>
          </a:xfrm>
          <a:prstGeom prst="rect">
            <a:avLst/>
          </a:prstGeom>
          <a:noFill/>
          <a:ln w="0">
            <a:noFill/>
          </a:ln>
        </p:spPr>
        <p:txBody>
          <a:bodyPr>
            <a:noAutofit/>
          </a:bodyPr>
          <a:lstStyle/>
          <a:p>
            <a:pPr>
              <a:buNone/>
              <a:defRPr sz="1350">
                <a:solidFill>
                  <a:srgbClr val="DCE4F3"/>
                </a:solidFill>
                <a:latin typeface="Arial"/>
                <a:ea typeface="Arial"/>
                <a:cs typeface="Arial"/>
              </a:defRPr>
            </a:pPr>
            <a:r>
              <a:rPr sz="1350">
                <a:solidFill>
                  <a:srgbClr val="DCE4F3"/>
                </a:solidFill>
                <a:latin typeface="Arial"/>
                <a:ea typeface="Arial"/>
                <a:cs typeface="Arial"/>
              </a:rPr>
              <a:t>It uses fixed UI codes and approved PostgreSQL routing criteria to determine urgent, routine, or human support.</a:t>
            </a:r>
          </a:p>
        </p:txBody>
      </p:sp>
      <p:sp>
        <p:nvSpPr>
          <p:cNvPr id="37" name="Rectangle: Rounded Corners 36">
            <a:extLst>
              <a:ext uri="{FF2B5EF4-FFF2-40B4-BE49-F238E27FC236}">
                <a16:creationId xmlns:a16="http://schemas.microsoft.com/office/drawing/2014/main" id="{7B8BD66D-78B9-46B5-9EB7-F09D530CB81E}"/>
              </a:ext>
            </a:extLst>
          </p:cNvPr>
          <p:cNvSpPr>
            <a:spLocks noGrp="1"/>
          </p:cNvSpPr>
          <p:nvPr/>
        </p:nvSpPr>
        <p:spPr>
          <a:xfrm>
            <a:off x="1028700" y="4457700"/>
            <a:ext cx="3429000" cy="361950"/>
          </a:xfrm>
          <a:prstGeom prst="roundRect">
            <a:avLst>
              <a:gd name="adj" fmla="val 21053"/>
            </a:avLst>
          </a:prstGeom>
          <a:solidFill>
            <a:srgbClr val="F9E4DE"/>
          </a:solidFill>
          <a:ln w="0">
            <a:noFill/>
          </a:ln>
        </p:spPr>
      </p:sp>
      <p:sp>
        <p:nvSpPr>
          <p:cNvPr id="38" name="Rectangle 37">
            <a:extLst>
              <a:ext uri="{FF2B5EF4-FFF2-40B4-BE49-F238E27FC236}">
                <a16:creationId xmlns:a16="http://schemas.microsoft.com/office/drawing/2014/main" id="{88DF17A6-96C6-4101-90DF-6AF7A6A1790C}"/>
              </a:ext>
            </a:extLst>
          </p:cNvPr>
          <p:cNvSpPr>
            <a:spLocks noGrp="1"/>
          </p:cNvSpPr>
          <p:nvPr/>
        </p:nvSpPr>
        <p:spPr>
          <a:xfrm>
            <a:off x="1200150" y="4562475"/>
            <a:ext cx="3095625" cy="171450"/>
          </a:xfrm>
          <a:prstGeom prst="rect">
            <a:avLst/>
          </a:prstGeom>
          <a:noFill/>
          <a:ln w="0">
            <a:noFill/>
          </a:ln>
        </p:spPr>
        <p:txBody>
          <a:bodyPr>
            <a:noAutofit/>
          </a:bodyPr>
          <a:lstStyle/>
          <a:p>
            <a:pPr algn="ctr">
              <a:buNone/>
              <a:defRPr sz="1050" b="1">
                <a:solidFill>
                  <a:srgbClr val="DE664C"/>
                </a:solidFill>
                <a:latin typeface="Arial"/>
                <a:ea typeface="Arial"/>
                <a:cs typeface="Arial"/>
              </a:defRPr>
            </a:pPr>
            <a:r>
              <a:rPr sz="1050" b="1">
                <a:solidFill>
                  <a:srgbClr val="DE664C"/>
                </a:solidFill>
                <a:latin typeface="Arial"/>
                <a:ea typeface="Arial"/>
                <a:cs typeface="Arial"/>
              </a:rPr>
              <a:t>Route lock: no later stage can override it</a:t>
            </a:r>
          </a:p>
        </p:txBody>
      </p:sp>
      <p:sp>
        <p:nvSpPr>
          <p:cNvPr id="39" name="Rectangle 38">
            <a:extLst>
              <a:ext uri="{FF2B5EF4-FFF2-40B4-BE49-F238E27FC236}">
                <a16:creationId xmlns:a16="http://schemas.microsoft.com/office/drawing/2014/main" id="{09731691-A115-4F6B-B670-CF7591BDD142}"/>
              </a:ext>
            </a:extLst>
          </p:cNvPr>
          <p:cNvSpPr>
            <a:spLocks noGrp="1"/>
          </p:cNvSpPr>
          <p:nvPr/>
        </p:nvSpPr>
        <p:spPr>
          <a:xfrm>
            <a:off x="6724650" y="2628900"/>
            <a:ext cx="3143250" cy="190500"/>
          </a:xfrm>
          <a:prstGeom prst="rect">
            <a:avLst/>
          </a:prstGeom>
          <a:noFill/>
          <a:ln w="0">
            <a:noFill/>
          </a:ln>
        </p:spPr>
        <p:txBody>
          <a:bodyPr>
            <a:noAutofit/>
          </a:bodyPr>
          <a:lstStyle/>
          <a:p>
            <a:pPr>
              <a:buNone/>
              <a:defRPr sz="1125" b="1">
                <a:solidFill>
                  <a:srgbClr val="E7A048"/>
                </a:solidFill>
                <a:latin typeface="Arial"/>
                <a:ea typeface="Arial"/>
                <a:cs typeface="Arial"/>
              </a:defRPr>
            </a:pPr>
            <a:r>
              <a:rPr sz="1125" b="1">
                <a:solidFill>
                  <a:srgbClr val="E7A048"/>
                </a:solidFill>
                <a:latin typeface="Arial"/>
                <a:ea typeface="Arial"/>
                <a:cs typeface="Arial"/>
              </a:rPr>
              <a:t>CONDITIONAL EXPLANATION</a:t>
            </a:r>
          </a:p>
        </p:txBody>
      </p:sp>
      <p:sp>
        <p:nvSpPr>
          <p:cNvPr id="40" name="Rectangle 39">
            <a:extLst>
              <a:ext uri="{FF2B5EF4-FFF2-40B4-BE49-F238E27FC236}">
                <a16:creationId xmlns:a16="http://schemas.microsoft.com/office/drawing/2014/main" id="{81A4F90F-8F26-4E3A-8C9C-CA10D5B905E7}"/>
              </a:ext>
            </a:extLst>
          </p:cNvPr>
          <p:cNvSpPr>
            <a:spLocks noGrp="1"/>
          </p:cNvSpPr>
          <p:nvPr/>
        </p:nvSpPr>
        <p:spPr>
          <a:xfrm>
            <a:off x="6724650" y="2933700"/>
            <a:ext cx="3829050" cy="533400"/>
          </a:xfrm>
          <a:prstGeom prst="rect">
            <a:avLst/>
          </a:prstGeom>
          <a:noFill/>
          <a:ln w="0">
            <a:noFill/>
          </a:ln>
        </p:spPr>
        <p:txBody>
          <a:bodyPr>
            <a:noAutofit/>
          </a:bodyPr>
          <a:lstStyle/>
          <a:p>
            <a:pPr>
              <a:buNone/>
              <a:defRPr sz="1725" b="1">
                <a:solidFill>
                  <a:srgbClr val="FFFFFF"/>
                </a:solidFill>
                <a:latin typeface="Arial"/>
                <a:ea typeface="Arial"/>
                <a:cs typeface="Arial"/>
              </a:defRPr>
            </a:pPr>
            <a:r>
              <a:rPr sz="1725" b="1">
                <a:solidFill>
                  <a:srgbClr val="FFFFFF"/>
                </a:solidFill>
                <a:latin typeface="Arial"/>
                <a:ea typeface="Arial"/>
                <a:cs typeface="Arial"/>
              </a:rPr>
              <a:t>Ollama explains the locked</a:t>
            </a:r>
          </a:p>
          <a:p>
            <a:pPr>
              <a:buNone/>
              <a:defRPr sz="1725" b="1">
                <a:solidFill>
                  <a:srgbClr val="FFFFFF"/>
                </a:solidFill>
                <a:latin typeface="Arial"/>
                <a:ea typeface="Arial"/>
                <a:cs typeface="Arial"/>
              </a:defRPr>
            </a:pPr>
            <a:r>
              <a:rPr sz="1725" b="1">
                <a:solidFill>
                  <a:srgbClr val="FFFFFF"/>
                </a:solidFill>
                <a:latin typeface="Arial"/>
                <a:ea typeface="Arial"/>
                <a:cs typeface="Arial"/>
              </a:rPr>
              <a:t>route</a:t>
            </a:r>
          </a:p>
        </p:txBody>
      </p:sp>
      <p:sp>
        <p:nvSpPr>
          <p:cNvPr id="41" name="Rectangle 40">
            <a:extLst>
              <a:ext uri="{FF2B5EF4-FFF2-40B4-BE49-F238E27FC236}">
                <a16:creationId xmlns:a16="http://schemas.microsoft.com/office/drawing/2014/main" id="{77B499C7-5CA1-4D33-A2AB-80FF4E3520BF}"/>
              </a:ext>
            </a:extLst>
          </p:cNvPr>
          <p:cNvSpPr>
            <a:spLocks noGrp="1"/>
          </p:cNvSpPr>
          <p:nvPr/>
        </p:nvSpPr>
        <p:spPr>
          <a:xfrm>
            <a:off x="6724650" y="3714750"/>
            <a:ext cx="3810000" cy="666750"/>
          </a:xfrm>
          <a:prstGeom prst="rect">
            <a:avLst/>
          </a:prstGeom>
          <a:noFill/>
          <a:ln w="0">
            <a:noFill/>
          </a:ln>
        </p:spPr>
        <p:txBody>
          <a:bodyPr>
            <a:noAutofit/>
          </a:bodyPr>
          <a:lstStyle/>
          <a:p>
            <a:pPr>
              <a:buNone/>
              <a:defRPr sz="1050">
                <a:solidFill>
                  <a:srgbClr val="DCE4F3"/>
                </a:solidFill>
                <a:latin typeface="Arial"/>
                <a:ea typeface="Arial"/>
                <a:cs typeface="Arial"/>
              </a:defRPr>
            </a:pPr>
            <a:r>
              <a:rPr sz="1050">
                <a:solidFill>
                  <a:srgbClr val="DCE4F3"/>
                </a:solidFill>
                <a:latin typeface="Arial"/>
                <a:ea typeface="Arial"/>
                <a:cs typeface="Arial"/>
              </a:rPr>
              <a:t>When the AI-summary switch is on, Local Ollama is reachable, and approved guidance plus a safe response are available, it creates Bengali explanation. Otherwise the Java deterministic engine displays an approved fallback.</a:t>
            </a:r>
          </a:p>
        </p:txBody>
      </p:sp>
      <p:sp>
        <p:nvSpPr>
          <p:cNvPr id="42" name="Rectangle: Rounded Corners 41">
            <a:extLst>
              <a:ext uri="{FF2B5EF4-FFF2-40B4-BE49-F238E27FC236}">
                <a16:creationId xmlns:a16="http://schemas.microsoft.com/office/drawing/2014/main" id="{92E9AD5A-BADB-4710-BFB9-B11D6FDE2B87}"/>
              </a:ext>
            </a:extLst>
          </p:cNvPr>
          <p:cNvSpPr>
            <a:spLocks noGrp="1"/>
          </p:cNvSpPr>
          <p:nvPr/>
        </p:nvSpPr>
        <p:spPr>
          <a:xfrm>
            <a:off x="6724650" y="4457700"/>
            <a:ext cx="3429000" cy="361950"/>
          </a:xfrm>
          <a:prstGeom prst="roundRect">
            <a:avLst>
              <a:gd name="adj" fmla="val 21053"/>
            </a:avLst>
          </a:prstGeom>
          <a:solidFill>
            <a:srgbClr val="DDF0EC"/>
          </a:solidFill>
          <a:ln w="0">
            <a:noFill/>
          </a:ln>
        </p:spPr>
      </p:sp>
      <p:sp>
        <p:nvSpPr>
          <p:cNvPr id="43" name="Rectangle 42">
            <a:extLst>
              <a:ext uri="{FF2B5EF4-FFF2-40B4-BE49-F238E27FC236}">
                <a16:creationId xmlns:a16="http://schemas.microsoft.com/office/drawing/2014/main" id="{8DD28469-5B68-4124-9FA9-AA59677B9234}"/>
              </a:ext>
            </a:extLst>
          </p:cNvPr>
          <p:cNvSpPr>
            <a:spLocks noGrp="1"/>
          </p:cNvSpPr>
          <p:nvPr/>
        </p:nvSpPr>
        <p:spPr>
          <a:xfrm>
            <a:off x="6896100" y="4562475"/>
            <a:ext cx="3095625" cy="171450"/>
          </a:xfrm>
          <a:prstGeom prst="rect">
            <a:avLst/>
          </a:prstGeom>
          <a:noFill/>
          <a:ln w="0">
            <a:noFill/>
          </a:ln>
        </p:spPr>
        <p:txBody>
          <a:bodyPr>
            <a:noAutofit/>
          </a:bodyPr>
          <a:lstStyle/>
          <a:p>
            <a:pPr algn="ctr">
              <a:buNone/>
              <a:defRPr sz="1050" b="1">
                <a:solidFill>
                  <a:srgbClr val="237A7A"/>
                </a:solidFill>
                <a:latin typeface="Arial"/>
                <a:ea typeface="Arial"/>
                <a:cs typeface="Arial"/>
              </a:defRPr>
            </a:pPr>
            <a:r>
              <a:rPr sz="1050" b="1">
                <a:solidFill>
                  <a:srgbClr val="237A7A"/>
                </a:solidFill>
                <a:latin typeface="Arial"/>
                <a:ea typeface="Arial"/>
                <a:cs typeface="Arial"/>
              </a:rPr>
              <a:t>Explanation quality cannot affect the route</a:t>
            </a:r>
          </a:p>
        </p:txBody>
      </p:sp>
      <p:sp>
        <p:nvSpPr>
          <p:cNvPr id="44" name="Rectangle: Rounded Corners 43">
            <a:extLst>
              <a:ext uri="{FF2B5EF4-FFF2-40B4-BE49-F238E27FC236}">
                <a16:creationId xmlns:a16="http://schemas.microsoft.com/office/drawing/2014/main" id="{E93FFD2A-96B1-4F52-BEEF-4530937A8A99}"/>
              </a:ext>
            </a:extLst>
          </p:cNvPr>
          <p:cNvSpPr>
            <a:spLocks noGrp="1"/>
          </p:cNvSpPr>
          <p:nvPr/>
        </p:nvSpPr>
        <p:spPr>
          <a:xfrm>
            <a:off x="1924050" y="5619750"/>
            <a:ext cx="7962900" cy="495300"/>
          </a:xfrm>
          <a:prstGeom prst="roundRect">
            <a:avLst>
              <a:gd name="adj" fmla="val 15385"/>
            </a:avLst>
          </a:prstGeom>
          <a:solidFill>
            <a:srgbClr val="FFFFFF"/>
          </a:solidFill>
          <a:ln w="0">
            <a:noFill/>
          </a:ln>
        </p:spPr>
      </p:sp>
      <p:sp>
        <p:nvSpPr>
          <p:cNvPr id="45" name="Rectangle 44">
            <a:extLst>
              <a:ext uri="{FF2B5EF4-FFF2-40B4-BE49-F238E27FC236}">
                <a16:creationId xmlns:a16="http://schemas.microsoft.com/office/drawing/2014/main" id="{12EF6C6F-0974-4857-B8FC-A5B5D6814990}"/>
              </a:ext>
            </a:extLst>
          </p:cNvPr>
          <p:cNvSpPr>
            <a:spLocks noGrp="1"/>
          </p:cNvSpPr>
          <p:nvPr/>
        </p:nvSpPr>
        <p:spPr>
          <a:xfrm>
            <a:off x="2209800" y="5772150"/>
            <a:ext cx="7391400" cy="190500"/>
          </a:xfrm>
          <a:prstGeom prst="rect">
            <a:avLst/>
          </a:prstGeom>
          <a:noFill/>
          <a:ln w="0">
            <a:noFill/>
          </a:ln>
        </p:spPr>
        <p:txBody>
          <a:bodyPr>
            <a:noAutofit/>
          </a:bodyPr>
          <a:lstStyle/>
          <a:p>
            <a:pPr algn="ctr">
              <a:buNone/>
              <a:defRPr sz="1200" b="1">
                <a:solidFill>
                  <a:srgbClr val="202A44"/>
                </a:solidFill>
                <a:latin typeface="Arial"/>
                <a:ea typeface="Arial"/>
                <a:cs typeface="Arial"/>
              </a:defRPr>
            </a:pPr>
            <a:r>
              <a:rPr sz="1200" b="1">
                <a:solidFill>
                  <a:srgbClr val="202A44"/>
                </a:solidFill>
                <a:latin typeface="Arial"/>
                <a:ea typeface="Arial"/>
                <a:cs typeface="Arial"/>
              </a:rPr>
              <a:t>Current MVP: no model-led diagnosis, treatment recommendations, or route selection.</a:t>
            </a:r>
          </a:p>
        </p:txBody>
      </p:sp>
      <p:sp>
        <p:nvSpPr>
          <p:cNvPr id="46" name="Rectangle 45">
            <a:extLst>
              <a:ext uri="{FF2B5EF4-FFF2-40B4-BE49-F238E27FC236}">
                <a16:creationId xmlns:a16="http://schemas.microsoft.com/office/drawing/2014/main" id="{C7A6CD35-DF35-4036-B0CA-F5CE5754E840}"/>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C8D4EE"/>
                </a:solidFill>
                <a:latin typeface="Arial"/>
                <a:ea typeface="Arial"/>
                <a:cs typeface="Arial"/>
              </a:defRPr>
            </a:pPr>
            <a:r>
              <a:rPr sz="900">
                <a:solidFill>
                  <a:srgbClr val="C8D4EE"/>
                </a:solidFill>
                <a:latin typeface="Arial"/>
                <a:ea typeface="Arial"/>
                <a:cs typeface="Arial"/>
              </a:rPr>
              <a:t>6</a:t>
            </a:r>
          </a:p>
        </p:txBody>
      </p:sp>
    </p:spTree>
    <p:extLst>
      <p:ext uri="{BB962C8B-B14F-4D97-AF65-F5344CB8AC3E}">
        <p14:creationId xmlns:p14="http://schemas.microsoft.com/office/powerpoint/2010/main" val="789964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6F5F5F5-91F5-49ED-9C3F-8E92FC7309E7}"/>
              </a:ext>
            </a:extLst>
          </p:cNvPr>
          <p:cNvSpPr>
            <a:spLocks noGrp="1"/>
          </p:cNvSpPr>
          <p:nvPr/>
        </p:nvSpPr>
        <p:spPr>
          <a:xfrm>
            <a:off x="0" y="0"/>
            <a:ext cx="12192000" cy="6858000"/>
          </a:xfrm>
          <a:prstGeom prst="rect">
            <a:avLst/>
          </a:prstGeom>
          <a:solidFill>
            <a:srgbClr val="FCF8F2"/>
          </a:solidFill>
          <a:ln w="0">
            <a:noFill/>
          </a:ln>
        </p:spPr>
      </p:sp>
      <p:sp>
        <p:nvSpPr>
          <p:cNvPr id="2" name="Rectangle 1">
            <a:extLst>
              <a:ext uri="{FF2B5EF4-FFF2-40B4-BE49-F238E27FC236}">
                <a16:creationId xmlns:a16="http://schemas.microsoft.com/office/drawing/2014/main" id="{9B5EF703-7191-4673-877A-BDC926240FB9}"/>
              </a:ext>
            </a:extLst>
          </p:cNvPr>
          <p:cNvSpPr>
            <a:spLocks noGrp="1"/>
          </p:cNvSpPr>
          <p:nvPr/>
        </p:nvSpPr>
        <p:spPr>
          <a:xfrm>
            <a:off x="685800" y="419100"/>
            <a:ext cx="666750" cy="209550"/>
          </a:xfrm>
          <a:prstGeom prst="rect">
            <a:avLst/>
          </a:prstGeom>
          <a:noFill/>
          <a:ln w="0">
            <a:noFill/>
          </a:ln>
        </p:spPr>
        <p:txBody>
          <a:bodyPr>
            <a:noAutofit/>
          </a:bodyPr>
          <a:lstStyle/>
          <a:p>
            <a:pPr>
              <a:buNone/>
              <a:defRPr sz="1200" b="1">
                <a:solidFill>
                  <a:srgbClr val="E7A048"/>
                </a:solidFill>
                <a:latin typeface="Arial"/>
                <a:ea typeface="Arial"/>
                <a:cs typeface="Arial"/>
              </a:defRPr>
            </a:pPr>
            <a:r>
              <a:rPr sz="1200" b="1">
                <a:solidFill>
                  <a:srgbClr val="E7A048"/>
                </a:solidFill>
                <a:latin typeface="Arial"/>
                <a:ea typeface="Arial"/>
                <a:cs typeface="Arial"/>
              </a:rPr>
              <a:t>07</a:t>
            </a:r>
          </a:p>
        </p:txBody>
      </p:sp>
      <p:sp>
        <p:nvSpPr>
          <p:cNvPr id="3" name="Rectangle 2">
            <a:extLst>
              <a:ext uri="{FF2B5EF4-FFF2-40B4-BE49-F238E27FC236}">
                <a16:creationId xmlns:a16="http://schemas.microsoft.com/office/drawing/2014/main" id="{529B4C06-3D07-46C9-8103-232D7D0004F5}"/>
              </a:ext>
            </a:extLst>
          </p:cNvPr>
          <p:cNvSpPr>
            <a:spLocks noGrp="1"/>
          </p:cNvSpPr>
          <p:nvPr/>
        </p:nvSpPr>
        <p:spPr>
          <a:xfrm>
            <a:off x="9810750" y="428625"/>
            <a:ext cx="1695450" cy="190500"/>
          </a:xfrm>
          <a:prstGeom prst="rect">
            <a:avLst/>
          </a:prstGeom>
          <a:noFill/>
          <a:ln w="0">
            <a:noFill/>
          </a:ln>
        </p:spPr>
        <p:txBody>
          <a:bodyPr>
            <a:noAutofit/>
          </a:bodyPr>
          <a:lstStyle/>
          <a:p>
            <a:pPr algn="r">
              <a:buNone/>
              <a:defRPr sz="975" b="1">
                <a:solidFill>
                  <a:srgbClr val="4656A8"/>
                </a:solidFill>
                <a:latin typeface="Arial"/>
                <a:ea typeface="Arial"/>
                <a:cs typeface="Arial"/>
              </a:defRPr>
            </a:pPr>
            <a:r>
              <a:rPr sz="975" b="1">
                <a:solidFill>
                  <a:srgbClr val="4656A8"/>
                </a:solidFill>
                <a:latin typeface="Arial"/>
                <a:ea typeface="Arial"/>
                <a:cs typeface="Arial"/>
              </a:rPr>
              <a:t>NETRAJYOTI AI</a:t>
            </a:r>
          </a:p>
        </p:txBody>
      </p:sp>
      <p:sp>
        <p:nvSpPr>
          <p:cNvPr id="4" name="Rectangle 3">
            <a:extLst>
              <a:ext uri="{FF2B5EF4-FFF2-40B4-BE49-F238E27FC236}">
                <a16:creationId xmlns:a16="http://schemas.microsoft.com/office/drawing/2014/main" id="{1E1826AB-96B1-4388-9987-BE4FB4B749E2}"/>
              </a:ext>
            </a:extLst>
          </p:cNvPr>
          <p:cNvSpPr>
            <a:spLocks noGrp="1"/>
          </p:cNvSpPr>
          <p:nvPr/>
        </p:nvSpPr>
        <p:spPr>
          <a:xfrm>
            <a:off x="685800" y="762000"/>
            <a:ext cx="10287000" cy="457200"/>
          </a:xfrm>
          <a:prstGeom prst="rect">
            <a:avLst/>
          </a:prstGeom>
          <a:noFill/>
          <a:ln w="0">
            <a:noFill/>
          </a:ln>
        </p:spPr>
        <p:txBody>
          <a:bodyPr>
            <a:noAutofit/>
          </a:bodyPr>
          <a:lstStyle/>
          <a:p>
            <a:pPr>
              <a:buNone/>
              <a:defRPr sz="2550" b="1">
                <a:solidFill>
                  <a:srgbClr val="202A44"/>
                </a:solidFill>
                <a:latin typeface="Arial"/>
                <a:ea typeface="Arial"/>
                <a:cs typeface="Arial"/>
              </a:defRPr>
            </a:pPr>
            <a:r>
              <a:rPr sz="2550" b="1">
                <a:solidFill>
                  <a:srgbClr val="202A44"/>
                </a:solidFill>
                <a:latin typeface="Arial"/>
                <a:ea typeface="Arial"/>
                <a:cs typeface="Arial"/>
              </a:rPr>
              <a:t>Future governed AI-agent scope</a:t>
            </a:r>
          </a:p>
        </p:txBody>
      </p:sp>
      <p:sp>
        <p:nvSpPr>
          <p:cNvPr id="5" name="Rectangle 4">
            <a:extLst>
              <a:ext uri="{FF2B5EF4-FFF2-40B4-BE49-F238E27FC236}">
                <a16:creationId xmlns:a16="http://schemas.microsoft.com/office/drawing/2014/main" id="{CAD13D53-1DC4-4FF4-80CA-C3A21F2F506C}"/>
              </a:ext>
            </a:extLst>
          </p:cNvPr>
          <p:cNvSpPr>
            <a:spLocks noGrp="1"/>
          </p:cNvSpPr>
          <p:nvPr/>
        </p:nvSpPr>
        <p:spPr>
          <a:xfrm>
            <a:off x="704850" y="1343025"/>
            <a:ext cx="10287000" cy="266700"/>
          </a:xfrm>
          <a:prstGeom prst="rect">
            <a:avLst/>
          </a:prstGeom>
          <a:noFill/>
          <a:ln w="0">
            <a:noFill/>
          </a:ln>
        </p:spPr>
        <p:txBody>
          <a:bodyPr>
            <a:noAutofit/>
          </a:bodyPr>
          <a:lstStyle/>
          <a:p>
            <a:pPr>
              <a:buNone/>
              <a:defRPr sz="1275">
                <a:solidFill>
                  <a:srgbClr val="56647A"/>
                </a:solidFill>
                <a:latin typeface="Arial"/>
                <a:ea typeface="Arial"/>
                <a:cs typeface="Arial"/>
              </a:defRPr>
            </a:pPr>
            <a:r>
              <a:rPr sz="1275">
                <a:solidFill>
                  <a:srgbClr val="56647A"/>
                </a:solidFill>
                <a:latin typeface="Arial"/>
                <a:ea typeface="Arial"/>
                <a:cs typeface="Arial"/>
              </a:rPr>
              <a:t>Future agents support administration under human review. They do not control safety routing.</a:t>
            </a:r>
          </a:p>
        </p:txBody>
      </p:sp>
      <p:sp>
        <p:nvSpPr>
          <p:cNvPr id="6" name="Rectangle 5">
            <a:extLst>
              <a:ext uri="{FF2B5EF4-FFF2-40B4-BE49-F238E27FC236}">
                <a16:creationId xmlns:a16="http://schemas.microsoft.com/office/drawing/2014/main" id="{ED652E22-19BF-4DDE-B7F9-E1D317EEFBA4}"/>
              </a:ext>
            </a:extLst>
          </p:cNvPr>
          <p:cNvSpPr>
            <a:spLocks noGrp="1"/>
          </p:cNvSpPr>
          <p:nvPr/>
        </p:nvSpPr>
        <p:spPr>
          <a:xfrm>
            <a:off x="685800" y="1752600"/>
            <a:ext cx="10820400" cy="19050"/>
          </a:xfrm>
          <a:prstGeom prst="rect">
            <a:avLst/>
          </a:prstGeom>
          <a:solidFill>
            <a:srgbClr val="D7D0C7"/>
          </a:solidFill>
          <a:ln w="0">
            <a:noFill/>
          </a:ln>
        </p:spPr>
      </p:sp>
      <p:sp>
        <p:nvSpPr>
          <p:cNvPr id="7" name="Rectangle: Rounded Corners 6">
            <a:extLst>
              <a:ext uri="{FF2B5EF4-FFF2-40B4-BE49-F238E27FC236}">
                <a16:creationId xmlns:a16="http://schemas.microsoft.com/office/drawing/2014/main" id="{6BA9A7E2-CC3B-4577-96F0-5CA50E9413D6}"/>
              </a:ext>
            </a:extLst>
          </p:cNvPr>
          <p:cNvSpPr>
            <a:spLocks noGrp="1"/>
          </p:cNvSpPr>
          <p:nvPr/>
        </p:nvSpPr>
        <p:spPr>
          <a:xfrm>
            <a:off x="723900" y="2343150"/>
            <a:ext cx="10115550" cy="495300"/>
          </a:xfrm>
          <a:prstGeom prst="roundRect">
            <a:avLst>
              <a:gd name="adj" fmla="val 15385"/>
            </a:avLst>
          </a:prstGeom>
          <a:solidFill>
            <a:srgbClr val="F9E4DE"/>
          </a:solidFill>
          <a:ln w="0">
            <a:noFill/>
          </a:ln>
        </p:spPr>
      </p:sp>
      <p:sp>
        <p:nvSpPr>
          <p:cNvPr id="8" name="Rectangle 7">
            <a:extLst>
              <a:ext uri="{FF2B5EF4-FFF2-40B4-BE49-F238E27FC236}">
                <a16:creationId xmlns:a16="http://schemas.microsoft.com/office/drawing/2014/main" id="{BDBA99F7-BA32-4F0D-9634-378E9AAFBAFA}"/>
              </a:ext>
            </a:extLst>
          </p:cNvPr>
          <p:cNvSpPr>
            <a:spLocks noGrp="1"/>
          </p:cNvSpPr>
          <p:nvPr/>
        </p:nvSpPr>
        <p:spPr>
          <a:xfrm>
            <a:off x="990600" y="2495550"/>
            <a:ext cx="9582150" cy="190500"/>
          </a:xfrm>
          <a:prstGeom prst="rect">
            <a:avLst/>
          </a:prstGeom>
          <a:noFill/>
          <a:ln w="0">
            <a:noFill/>
          </a:ln>
        </p:spPr>
        <p:txBody>
          <a:bodyPr>
            <a:noAutofit/>
          </a:bodyPr>
          <a:lstStyle/>
          <a:p>
            <a:pPr algn="ctr">
              <a:buNone/>
              <a:defRPr sz="1125" b="1">
                <a:solidFill>
                  <a:srgbClr val="DE664C"/>
                </a:solidFill>
                <a:latin typeface="Arial"/>
                <a:ea typeface="Arial"/>
                <a:cs typeface="Arial"/>
              </a:defRPr>
            </a:pPr>
            <a:r>
              <a:rPr sz="1125" b="1">
                <a:solidFill>
                  <a:srgbClr val="DE664C"/>
                </a:solidFill>
                <a:latin typeface="Arial"/>
                <a:ea typeface="Arial"/>
                <a:cs typeface="Arial"/>
              </a:rPr>
              <a:t>Boundary: agents will not autonomously route users, diagnose conditions, prescribe treatment, or publish unverified information.</a:t>
            </a:r>
          </a:p>
        </p:txBody>
      </p:sp>
      <p:sp>
        <p:nvSpPr>
          <p:cNvPr id="9" name="Rectangle: Rounded Corners 8">
            <a:extLst>
              <a:ext uri="{FF2B5EF4-FFF2-40B4-BE49-F238E27FC236}">
                <a16:creationId xmlns:a16="http://schemas.microsoft.com/office/drawing/2014/main" id="{53094566-1628-47A0-870C-9F7BF4C26ADF}"/>
              </a:ext>
            </a:extLst>
          </p:cNvPr>
          <p:cNvSpPr>
            <a:spLocks noGrp="1"/>
          </p:cNvSpPr>
          <p:nvPr/>
        </p:nvSpPr>
        <p:spPr>
          <a:xfrm>
            <a:off x="723900" y="3238500"/>
            <a:ext cx="3048000" cy="2095500"/>
          </a:xfrm>
          <a:prstGeom prst="roundRect">
            <a:avLst>
              <a:gd name="adj" fmla="val 3636"/>
            </a:avLst>
          </a:prstGeom>
          <a:solidFill>
            <a:srgbClr val="FFFFFF"/>
          </a:solidFill>
          <a:ln w="9525">
            <a:solidFill>
              <a:srgbClr val="D7D0C7"/>
            </a:solidFill>
          </a:ln>
        </p:spPr>
      </p:sp>
      <p:sp>
        <p:nvSpPr>
          <p:cNvPr id="10" name="Rectangle: Rounded Corners 9">
            <a:extLst>
              <a:ext uri="{FF2B5EF4-FFF2-40B4-BE49-F238E27FC236}">
                <a16:creationId xmlns:a16="http://schemas.microsoft.com/office/drawing/2014/main" id="{DFFAB73C-048A-4E9C-B2C9-AC03924200B7}"/>
              </a:ext>
            </a:extLst>
          </p:cNvPr>
          <p:cNvSpPr>
            <a:spLocks noGrp="1"/>
          </p:cNvSpPr>
          <p:nvPr/>
        </p:nvSpPr>
        <p:spPr>
          <a:xfrm>
            <a:off x="723900" y="3238500"/>
            <a:ext cx="3048000" cy="95250"/>
          </a:xfrm>
          <a:prstGeom prst="roundRect">
            <a:avLst>
              <a:gd name="adj" fmla="val 50000"/>
            </a:avLst>
          </a:prstGeom>
          <a:solidFill>
            <a:srgbClr val="237A7A"/>
          </a:solidFill>
          <a:ln w="0">
            <a:noFill/>
          </a:ln>
        </p:spPr>
      </p:sp>
      <p:sp>
        <p:nvSpPr>
          <p:cNvPr id="11" name="Rectangle 10">
            <a:extLst>
              <a:ext uri="{FF2B5EF4-FFF2-40B4-BE49-F238E27FC236}">
                <a16:creationId xmlns:a16="http://schemas.microsoft.com/office/drawing/2014/main" id="{B6BCAEC2-CB6A-4559-BDCF-DEF6E9C158F6}"/>
              </a:ext>
            </a:extLst>
          </p:cNvPr>
          <p:cNvSpPr>
            <a:spLocks noGrp="1"/>
          </p:cNvSpPr>
          <p:nvPr/>
        </p:nvSpPr>
        <p:spPr>
          <a:xfrm>
            <a:off x="952500" y="3600450"/>
            <a:ext cx="2571750" cy="247650"/>
          </a:xfrm>
          <a:prstGeom prst="rect">
            <a:avLst/>
          </a:prstGeom>
          <a:noFill/>
          <a:ln w="0">
            <a:noFill/>
          </a:ln>
        </p:spPr>
        <p:txBody>
          <a:bodyPr>
            <a:noAutofit/>
          </a:bodyPr>
          <a:lstStyle/>
          <a:p>
            <a:pPr>
              <a:buNone/>
              <a:defRPr sz="1575" b="1">
                <a:solidFill>
                  <a:srgbClr val="202A44"/>
                </a:solidFill>
                <a:latin typeface="Arial"/>
                <a:ea typeface="Arial"/>
                <a:cs typeface="Arial"/>
              </a:defRPr>
            </a:pPr>
            <a:r>
              <a:rPr sz="1575" b="1">
                <a:solidFill>
                  <a:srgbClr val="202A44"/>
                </a:solidFill>
                <a:latin typeface="Arial"/>
                <a:ea typeface="Arial"/>
                <a:cs typeface="Arial"/>
              </a:rPr>
              <a:t>Service directory</a:t>
            </a:r>
          </a:p>
        </p:txBody>
      </p:sp>
      <p:sp>
        <p:nvSpPr>
          <p:cNvPr id="12" name="Rectangle 11">
            <a:extLst>
              <a:ext uri="{FF2B5EF4-FFF2-40B4-BE49-F238E27FC236}">
                <a16:creationId xmlns:a16="http://schemas.microsoft.com/office/drawing/2014/main" id="{CBFCCB38-8978-437D-987B-8FCB5E63A30B}"/>
              </a:ext>
            </a:extLst>
          </p:cNvPr>
          <p:cNvSpPr>
            <a:spLocks noGrp="1"/>
          </p:cNvSpPr>
          <p:nvPr/>
        </p:nvSpPr>
        <p:spPr>
          <a:xfrm>
            <a:off x="952500" y="4000500"/>
            <a:ext cx="2571750" cy="361950"/>
          </a:xfrm>
          <a:prstGeom prst="rect">
            <a:avLst/>
          </a:prstGeom>
          <a:noFill/>
          <a:ln w="0">
            <a:noFill/>
          </a:ln>
        </p:spPr>
        <p:txBody>
          <a:bodyPr>
            <a:noAutofit/>
          </a:bodyPr>
          <a:lstStyle/>
          <a:p>
            <a:pPr>
              <a:buNone/>
              <a:defRPr sz="1050">
                <a:solidFill>
                  <a:srgbClr val="56647A"/>
                </a:solidFill>
                <a:latin typeface="Arial"/>
                <a:ea typeface="Arial"/>
                <a:cs typeface="Arial"/>
              </a:defRPr>
            </a:pPr>
            <a:r>
              <a:rPr sz="1050">
                <a:solidFill>
                  <a:srgbClr val="56647A"/>
                </a:solidFill>
                <a:latin typeface="Arial"/>
                <a:ea typeface="Arial"/>
                <a:cs typeface="Arial"/>
              </a:rPr>
              <a:t>Agent checks proposed updates</a:t>
            </a:r>
          </a:p>
          <a:p>
            <a:pPr>
              <a:buNone/>
              <a:defRPr sz="1050">
                <a:solidFill>
                  <a:srgbClr val="56647A"/>
                </a:solidFill>
                <a:latin typeface="Arial"/>
                <a:ea typeface="Arial"/>
                <a:cs typeface="Arial"/>
              </a:defRPr>
            </a:pPr>
            <a:r>
              <a:rPr sz="1050">
                <a:solidFill>
                  <a:srgbClr val="56647A"/>
                </a:solidFill>
                <a:latin typeface="Arial"/>
                <a:ea typeface="Arial"/>
                <a:cs typeface="Arial"/>
              </a:rPr>
              <a:t>for completeness</a:t>
            </a:r>
          </a:p>
        </p:txBody>
      </p:sp>
      <p:sp>
        <p:nvSpPr>
          <p:cNvPr id="13" name="Rectangle 12">
            <a:extLst>
              <a:ext uri="{FF2B5EF4-FFF2-40B4-BE49-F238E27FC236}">
                <a16:creationId xmlns:a16="http://schemas.microsoft.com/office/drawing/2014/main" id="{0332740A-A479-45E3-B632-E7C5A162A3E0}"/>
              </a:ext>
            </a:extLst>
          </p:cNvPr>
          <p:cNvSpPr>
            <a:spLocks noGrp="1"/>
          </p:cNvSpPr>
          <p:nvPr/>
        </p:nvSpPr>
        <p:spPr>
          <a:xfrm>
            <a:off x="952500" y="4505325"/>
            <a:ext cx="2571750" cy="342900"/>
          </a:xfrm>
          <a:prstGeom prst="rect">
            <a:avLst/>
          </a:prstGeom>
          <a:noFill/>
          <a:ln w="0">
            <a:noFill/>
          </a:ln>
        </p:spPr>
        <p:txBody>
          <a:bodyPr>
            <a:noAutofit/>
          </a:bodyPr>
          <a:lstStyle/>
          <a:p>
            <a:pPr>
              <a:buNone/>
              <a:defRPr sz="975" b="1">
                <a:solidFill>
                  <a:srgbClr val="237A7A"/>
                </a:solidFill>
                <a:latin typeface="Arial"/>
                <a:ea typeface="Arial"/>
                <a:cs typeface="Arial"/>
              </a:defRPr>
            </a:pPr>
            <a:r>
              <a:rPr sz="975" b="1">
                <a:solidFill>
                  <a:srgbClr val="237A7A"/>
                </a:solidFill>
                <a:latin typeface="Arial"/>
                <a:ea typeface="Arial"/>
                <a:cs typeface="Arial"/>
              </a:rPr>
              <a:t>Change owner: Vision centre or</a:t>
            </a:r>
          </a:p>
          <a:p>
            <a:pPr>
              <a:buNone/>
              <a:defRPr sz="975" b="1">
                <a:solidFill>
                  <a:srgbClr val="237A7A"/>
                </a:solidFill>
                <a:latin typeface="Arial"/>
                <a:ea typeface="Arial"/>
                <a:cs typeface="Arial"/>
              </a:defRPr>
            </a:pPr>
            <a:r>
              <a:rPr sz="975" b="1">
                <a:solidFill>
                  <a:srgbClr val="237A7A"/>
                </a:solidFill>
                <a:latin typeface="Arial"/>
                <a:ea typeface="Arial"/>
                <a:cs typeface="Arial"/>
              </a:rPr>
              <a:t>eye-clinic staff</a:t>
            </a:r>
          </a:p>
        </p:txBody>
      </p:sp>
      <p:sp>
        <p:nvSpPr>
          <p:cNvPr id="14" name="Rectangle 13">
            <a:extLst>
              <a:ext uri="{FF2B5EF4-FFF2-40B4-BE49-F238E27FC236}">
                <a16:creationId xmlns:a16="http://schemas.microsoft.com/office/drawing/2014/main" id="{CCB8CEEE-75D0-47FF-8C55-AF5AEA878A1D}"/>
              </a:ext>
            </a:extLst>
          </p:cNvPr>
          <p:cNvSpPr>
            <a:spLocks noGrp="1"/>
          </p:cNvSpPr>
          <p:nvPr/>
        </p:nvSpPr>
        <p:spPr>
          <a:xfrm>
            <a:off x="952500" y="4914900"/>
            <a:ext cx="2571750" cy="285750"/>
          </a:xfrm>
          <a:prstGeom prst="rect">
            <a:avLst/>
          </a:prstGeom>
          <a:noFill/>
          <a:ln w="0">
            <a:noFill/>
          </a:ln>
        </p:spPr>
        <p:txBody>
          <a:bodyPr>
            <a:noAutofit/>
          </a:bodyPr>
          <a:lstStyle/>
          <a:p>
            <a:pPr>
              <a:buNone/>
              <a:defRPr sz="900" b="1">
                <a:solidFill>
                  <a:srgbClr val="202A44"/>
                </a:solidFill>
                <a:latin typeface="Arial"/>
                <a:ea typeface="Arial"/>
                <a:cs typeface="Arial"/>
              </a:defRPr>
            </a:pPr>
            <a:r>
              <a:rPr sz="900" b="1">
                <a:solidFill>
                  <a:srgbClr val="202A44"/>
                </a:solidFill>
                <a:latin typeface="Arial"/>
                <a:ea typeface="Arial"/>
                <a:cs typeface="Arial"/>
              </a:rPr>
              <a:t>Publisher: Product and operations administrator</a:t>
            </a:r>
          </a:p>
        </p:txBody>
      </p:sp>
      <p:sp>
        <p:nvSpPr>
          <p:cNvPr id="15" name="Rectangle: Rounded Corners 14">
            <a:extLst>
              <a:ext uri="{FF2B5EF4-FFF2-40B4-BE49-F238E27FC236}">
                <a16:creationId xmlns:a16="http://schemas.microsoft.com/office/drawing/2014/main" id="{3B5DE31F-E0EC-46A2-A7FE-342AF868CC9C}"/>
              </a:ext>
            </a:extLst>
          </p:cNvPr>
          <p:cNvSpPr>
            <a:spLocks noGrp="1"/>
          </p:cNvSpPr>
          <p:nvPr/>
        </p:nvSpPr>
        <p:spPr>
          <a:xfrm>
            <a:off x="4152900" y="3238500"/>
            <a:ext cx="3048000" cy="2095500"/>
          </a:xfrm>
          <a:prstGeom prst="roundRect">
            <a:avLst>
              <a:gd name="adj" fmla="val 3636"/>
            </a:avLst>
          </a:prstGeom>
          <a:solidFill>
            <a:srgbClr val="FFFFFF"/>
          </a:solidFill>
          <a:ln w="9525">
            <a:solidFill>
              <a:srgbClr val="D7D0C7"/>
            </a:solidFill>
          </a:ln>
        </p:spPr>
      </p:sp>
      <p:sp>
        <p:nvSpPr>
          <p:cNvPr id="16" name="Rectangle: Rounded Corners 15">
            <a:extLst>
              <a:ext uri="{FF2B5EF4-FFF2-40B4-BE49-F238E27FC236}">
                <a16:creationId xmlns:a16="http://schemas.microsoft.com/office/drawing/2014/main" id="{8C923536-45E7-4A85-931F-E9208E9FEE9A}"/>
              </a:ext>
            </a:extLst>
          </p:cNvPr>
          <p:cNvSpPr>
            <a:spLocks noGrp="1"/>
          </p:cNvSpPr>
          <p:nvPr/>
        </p:nvSpPr>
        <p:spPr>
          <a:xfrm>
            <a:off x="4152900" y="3238500"/>
            <a:ext cx="3048000" cy="95250"/>
          </a:xfrm>
          <a:prstGeom prst="roundRect">
            <a:avLst>
              <a:gd name="adj" fmla="val 50000"/>
            </a:avLst>
          </a:prstGeom>
          <a:solidFill>
            <a:srgbClr val="4656A8"/>
          </a:solidFill>
          <a:ln w="0">
            <a:noFill/>
          </a:ln>
        </p:spPr>
      </p:sp>
      <p:sp>
        <p:nvSpPr>
          <p:cNvPr id="17" name="Rectangle 16">
            <a:extLst>
              <a:ext uri="{FF2B5EF4-FFF2-40B4-BE49-F238E27FC236}">
                <a16:creationId xmlns:a16="http://schemas.microsoft.com/office/drawing/2014/main" id="{C296FCAE-6E6F-47D2-9AF7-7EAA72091426}"/>
              </a:ext>
            </a:extLst>
          </p:cNvPr>
          <p:cNvSpPr>
            <a:spLocks noGrp="1"/>
          </p:cNvSpPr>
          <p:nvPr/>
        </p:nvSpPr>
        <p:spPr>
          <a:xfrm>
            <a:off x="4381500" y="3600450"/>
            <a:ext cx="2571750" cy="247650"/>
          </a:xfrm>
          <a:prstGeom prst="rect">
            <a:avLst/>
          </a:prstGeom>
          <a:noFill/>
          <a:ln w="0">
            <a:noFill/>
          </a:ln>
        </p:spPr>
        <p:txBody>
          <a:bodyPr>
            <a:noAutofit/>
          </a:bodyPr>
          <a:lstStyle/>
          <a:p>
            <a:pPr>
              <a:buNone/>
              <a:defRPr sz="1575" b="1">
                <a:solidFill>
                  <a:srgbClr val="202A44"/>
                </a:solidFill>
                <a:latin typeface="Arial"/>
                <a:ea typeface="Arial"/>
                <a:cs typeface="Arial"/>
              </a:defRPr>
            </a:pPr>
            <a:r>
              <a:rPr sz="1575" b="1">
                <a:solidFill>
                  <a:srgbClr val="202A44"/>
                </a:solidFill>
                <a:latin typeface="Arial"/>
                <a:ea typeface="Arial"/>
                <a:cs typeface="Arial"/>
              </a:rPr>
              <a:t>Bengali content</a:t>
            </a:r>
          </a:p>
        </p:txBody>
      </p:sp>
      <p:sp>
        <p:nvSpPr>
          <p:cNvPr id="18" name="Rectangle 17">
            <a:extLst>
              <a:ext uri="{FF2B5EF4-FFF2-40B4-BE49-F238E27FC236}">
                <a16:creationId xmlns:a16="http://schemas.microsoft.com/office/drawing/2014/main" id="{DBD321E5-22A5-4A10-A91B-7107C6FF957E}"/>
              </a:ext>
            </a:extLst>
          </p:cNvPr>
          <p:cNvSpPr>
            <a:spLocks noGrp="1"/>
          </p:cNvSpPr>
          <p:nvPr/>
        </p:nvSpPr>
        <p:spPr>
          <a:xfrm>
            <a:off x="4381500" y="4000500"/>
            <a:ext cx="2571750" cy="361950"/>
          </a:xfrm>
          <a:prstGeom prst="rect">
            <a:avLst/>
          </a:prstGeom>
          <a:noFill/>
          <a:ln w="0">
            <a:noFill/>
          </a:ln>
        </p:spPr>
        <p:txBody>
          <a:bodyPr>
            <a:noAutofit/>
          </a:bodyPr>
          <a:lstStyle/>
          <a:p>
            <a:pPr>
              <a:buNone/>
              <a:defRPr sz="1050">
                <a:solidFill>
                  <a:srgbClr val="56647A"/>
                </a:solidFill>
                <a:latin typeface="Arial"/>
                <a:ea typeface="Arial"/>
                <a:cs typeface="Arial"/>
              </a:defRPr>
            </a:pPr>
            <a:r>
              <a:rPr sz="1050">
                <a:solidFill>
                  <a:srgbClr val="56647A"/>
                </a:solidFill>
                <a:latin typeface="Arial"/>
                <a:ea typeface="Arial"/>
                <a:cs typeface="Arial"/>
              </a:rPr>
              <a:t>Agent prepares drafts from</a:t>
            </a:r>
          </a:p>
          <a:p>
            <a:pPr>
              <a:buNone/>
              <a:defRPr sz="1050">
                <a:solidFill>
                  <a:srgbClr val="56647A"/>
                </a:solidFill>
                <a:latin typeface="Arial"/>
                <a:ea typeface="Arial"/>
                <a:cs typeface="Arial"/>
              </a:defRPr>
            </a:pPr>
            <a:r>
              <a:rPr sz="1050">
                <a:solidFill>
                  <a:srgbClr val="56647A"/>
                </a:solidFill>
                <a:latin typeface="Arial"/>
                <a:ea typeface="Arial"/>
                <a:cs typeface="Arial"/>
              </a:rPr>
              <a:t>approved sources</a:t>
            </a:r>
          </a:p>
        </p:txBody>
      </p:sp>
      <p:sp>
        <p:nvSpPr>
          <p:cNvPr id="19" name="Rectangle 18">
            <a:extLst>
              <a:ext uri="{FF2B5EF4-FFF2-40B4-BE49-F238E27FC236}">
                <a16:creationId xmlns:a16="http://schemas.microsoft.com/office/drawing/2014/main" id="{61138675-F1B5-4CC1-B85A-DC2D5BA452C2}"/>
              </a:ext>
            </a:extLst>
          </p:cNvPr>
          <p:cNvSpPr>
            <a:spLocks noGrp="1"/>
          </p:cNvSpPr>
          <p:nvPr/>
        </p:nvSpPr>
        <p:spPr>
          <a:xfrm>
            <a:off x="4381500" y="4505325"/>
            <a:ext cx="2571750" cy="342900"/>
          </a:xfrm>
          <a:prstGeom prst="rect">
            <a:avLst/>
          </a:prstGeom>
          <a:noFill/>
          <a:ln w="0">
            <a:noFill/>
          </a:ln>
        </p:spPr>
        <p:txBody>
          <a:bodyPr>
            <a:noAutofit/>
          </a:bodyPr>
          <a:lstStyle/>
          <a:p>
            <a:pPr>
              <a:buNone/>
              <a:defRPr sz="975" b="1">
                <a:solidFill>
                  <a:srgbClr val="4656A8"/>
                </a:solidFill>
                <a:latin typeface="Arial"/>
                <a:ea typeface="Arial"/>
                <a:cs typeface="Arial"/>
              </a:defRPr>
            </a:pPr>
            <a:r>
              <a:rPr sz="975" b="1">
                <a:solidFill>
                  <a:srgbClr val="4656A8"/>
                </a:solidFill>
                <a:latin typeface="Arial"/>
                <a:ea typeface="Arial"/>
                <a:cs typeface="Arial"/>
              </a:rPr>
              <a:t>Approver: Clinical reviewer or</a:t>
            </a:r>
          </a:p>
          <a:p>
            <a:pPr>
              <a:buNone/>
              <a:defRPr sz="975" b="1">
                <a:solidFill>
                  <a:srgbClr val="4656A8"/>
                </a:solidFill>
                <a:latin typeface="Arial"/>
                <a:ea typeface="Arial"/>
                <a:cs typeface="Arial"/>
              </a:defRPr>
            </a:pPr>
            <a:r>
              <a:rPr sz="975" b="1">
                <a:solidFill>
                  <a:srgbClr val="4656A8"/>
                </a:solidFill>
                <a:latin typeface="Arial"/>
                <a:ea typeface="Arial"/>
                <a:cs typeface="Arial"/>
              </a:rPr>
              <a:t>content administrator</a:t>
            </a:r>
          </a:p>
        </p:txBody>
      </p:sp>
      <p:sp>
        <p:nvSpPr>
          <p:cNvPr id="20" name="Rectangle: Rounded Corners 19">
            <a:extLst>
              <a:ext uri="{FF2B5EF4-FFF2-40B4-BE49-F238E27FC236}">
                <a16:creationId xmlns:a16="http://schemas.microsoft.com/office/drawing/2014/main" id="{2F7A86F4-6BEB-4F94-8705-300EF15C9372}"/>
              </a:ext>
            </a:extLst>
          </p:cNvPr>
          <p:cNvSpPr>
            <a:spLocks noGrp="1"/>
          </p:cNvSpPr>
          <p:nvPr/>
        </p:nvSpPr>
        <p:spPr>
          <a:xfrm>
            <a:off x="7581900" y="3238500"/>
            <a:ext cx="3048000" cy="2095500"/>
          </a:xfrm>
          <a:prstGeom prst="roundRect">
            <a:avLst>
              <a:gd name="adj" fmla="val 3636"/>
            </a:avLst>
          </a:prstGeom>
          <a:solidFill>
            <a:srgbClr val="FFFFFF"/>
          </a:solidFill>
          <a:ln w="9525">
            <a:solidFill>
              <a:srgbClr val="D7D0C7"/>
            </a:solidFill>
          </a:ln>
        </p:spPr>
      </p:sp>
      <p:sp>
        <p:nvSpPr>
          <p:cNvPr id="21" name="Rectangle: Rounded Corners 20">
            <a:extLst>
              <a:ext uri="{FF2B5EF4-FFF2-40B4-BE49-F238E27FC236}">
                <a16:creationId xmlns:a16="http://schemas.microsoft.com/office/drawing/2014/main" id="{AAA5631D-7D1F-4CB2-80E3-744968357E64}"/>
              </a:ext>
            </a:extLst>
          </p:cNvPr>
          <p:cNvSpPr>
            <a:spLocks noGrp="1"/>
          </p:cNvSpPr>
          <p:nvPr/>
        </p:nvSpPr>
        <p:spPr>
          <a:xfrm>
            <a:off x="7581900" y="3238500"/>
            <a:ext cx="3048000" cy="95250"/>
          </a:xfrm>
          <a:prstGeom prst="roundRect">
            <a:avLst>
              <a:gd name="adj" fmla="val 50000"/>
            </a:avLst>
          </a:prstGeom>
          <a:solidFill>
            <a:srgbClr val="E7A048"/>
          </a:solidFill>
          <a:ln w="0">
            <a:noFill/>
          </a:ln>
        </p:spPr>
      </p:sp>
      <p:sp>
        <p:nvSpPr>
          <p:cNvPr id="22" name="Rectangle 21">
            <a:extLst>
              <a:ext uri="{FF2B5EF4-FFF2-40B4-BE49-F238E27FC236}">
                <a16:creationId xmlns:a16="http://schemas.microsoft.com/office/drawing/2014/main" id="{CAC00915-67BE-495A-BDB8-56825E7CDA49}"/>
              </a:ext>
            </a:extLst>
          </p:cNvPr>
          <p:cNvSpPr>
            <a:spLocks noGrp="1"/>
          </p:cNvSpPr>
          <p:nvPr/>
        </p:nvSpPr>
        <p:spPr>
          <a:xfrm>
            <a:off x="7810500" y="3600450"/>
            <a:ext cx="2571750" cy="247650"/>
          </a:xfrm>
          <a:prstGeom prst="rect">
            <a:avLst/>
          </a:prstGeom>
          <a:noFill/>
          <a:ln w="0">
            <a:noFill/>
          </a:ln>
        </p:spPr>
        <p:txBody>
          <a:bodyPr>
            <a:noAutofit/>
          </a:bodyPr>
          <a:lstStyle/>
          <a:p>
            <a:pPr>
              <a:buNone/>
              <a:defRPr sz="1575" b="1">
                <a:solidFill>
                  <a:srgbClr val="202A44"/>
                </a:solidFill>
                <a:latin typeface="Arial"/>
                <a:ea typeface="Arial"/>
                <a:cs typeface="Arial"/>
              </a:defRPr>
            </a:pPr>
            <a:r>
              <a:rPr sz="1575" b="1">
                <a:solidFill>
                  <a:srgbClr val="202A44"/>
                </a:solidFill>
                <a:latin typeface="Arial"/>
                <a:ea typeface="Arial"/>
                <a:cs typeface="Arial"/>
              </a:rPr>
              <a:t>Content records</a:t>
            </a:r>
          </a:p>
        </p:txBody>
      </p:sp>
      <p:sp>
        <p:nvSpPr>
          <p:cNvPr id="23" name="Rectangle 22">
            <a:extLst>
              <a:ext uri="{FF2B5EF4-FFF2-40B4-BE49-F238E27FC236}">
                <a16:creationId xmlns:a16="http://schemas.microsoft.com/office/drawing/2014/main" id="{0CE109A0-BDE6-427C-9C58-F00438D22D67}"/>
              </a:ext>
            </a:extLst>
          </p:cNvPr>
          <p:cNvSpPr>
            <a:spLocks noGrp="1"/>
          </p:cNvSpPr>
          <p:nvPr/>
        </p:nvSpPr>
        <p:spPr>
          <a:xfrm>
            <a:off x="7810500" y="4000500"/>
            <a:ext cx="2571750" cy="361950"/>
          </a:xfrm>
          <a:prstGeom prst="rect">
            <a:avLst/>
          </a:prstGeom>
          <a:noFill/>
          <a:ln w="0">
            <a:noFill/>
          </a:ln>
        </p:spPr>
        <p:txBody>
          <a:bodyPr>
            <a:noAutofit/>
          </a:bodyPr>
          <a:lstStyle/>
          <a:p>
            <a:pPr>
              <a:buNone/>
              <a:defRPr sz="1050">
                <a:solidFill>
                  <a:srgbClr val="56647A"/>
                </a:solidFill>
                <a:latin typeface="Arial"/>
                <a:ea typeface="Arial"/>
                <a:cs typeface="Arial"/>
              </a:defRPr>
            </a:pPr>
            <a:r>
              <a:rPr sz="1050">
                <a:solidFill>
                  <a:srgbClr val="56647A"/>
                </a:solidFill>
                <a:latin typeface="Arial"/>
                <a:ea typeface="Arial"/>
                <a:cs typeface="Arial"/>
              </a:rPr>
              <a:t>Agent assists with ownership</a:t>
            </a:r>
          </a:p>
          <a:p>
            <a:pPr>
              <a:buNone/>
              <a:defRPr sz="1050">
                <a:solidFill>
                  <a:srgbClr val="56647A"/>
                </a:solidFill>
                <a:latin typeface="Arial"/>
                <a:ea typeface="Arial"/>
                <a:cs typeface="Arial"/>
              </a:defRPr>
            </a:pPr>
            <a:r>
              <a:rPr sz="1050">
                <a:solidFill>
                  <a:srgbClr val="56647A"/>
                </a:solidFill>
                <a:latin typeface="Arial"/>
                <a:ea typeface="Arial"/>
                <a:cs typeface="Arial"/>
              </a:rPr>
              <a:t>and version records</a:t>
            </a:r>
          </a:p>
        </p:txBody>
      </p:sp>
      <p:sp>
        <p:nvSpPr>
          <p:cNvPr id="24" name="Rectangle 23">
            <a:extLst>
              <a:ext uri="{FF2B5EF4-FFF2-40B4-BE49-F238E27FC236}">
                <a16:creationId xmlns:a16="http://schemas.microsoft.com/office/drawing/2014/main" id="{E4A8EF82-771A-4738-9434-049C304312F8}"/>
              </a:ext>
            </a:extLst>
          </p:cNvPr>
          <p:cNvSpPr>
            <a:spLocks noGrp="1"/>
          </p:cNvSpPr>
          <p:nvPr/>
        </p:nvSpPr>
        <p:spPr>
          <a:xfrm>
            <a:off x="7810500" y="4505325"/>
            <a:ext cx="2571750" cy="342900"/>
          </a:xfrm>
          <a:prstGeom prst="rect">
            <a:avLst/>
          </a:prstGeom>
          <a:noFill/>
          <a:ln w="0">
            <a:noFill/>
          </a:ln>
        </p:spPr>
        <p:txBody>
          <a:bodyPr>
            <a:noAutofit/>
          </a:bodyPr>
          <a:lstStyle/>
          <a:p>
            <a:pPr>
              <a:buNone/>
              <a:defRPr sz="975" b="1">
                <a:solidFill>
                  <a:srgbClr val="E7A048"/>
                </a:solidFill>
                <a:latin typeface="Arial"/>
                <a:ea typeface="Arial"/>
                <a:cs typeface="Arial"/>
              </a:defRPr>
            </a:pPr>
            <a:r>
              <a:rPr sz="975" b="1">
                <a:solidFill>
                  <a:srgbClr val="E7A048"/>
                </a:solidFill>
                <a:latin typeface="Arial"/>
                <a:ea typeface="Arial"/>
                <a:cs typeface="Arial"/>
              </a:rPr>
              <a:t>Owner: Product and operations</a:t>
            </a:r>
          </a:p>
          <a:p>
            <a:pPr>
              <a:buNone/>
              <a:defRPr sz="975" b="1">
                <a:solidFill>
                  <a:srgbClr val="E7A048"/>
                </a:solidFill>
                <a:latin typeface="Arial"/>
                <a:ea typeface="Arial"/>
                <a:cs typeface="Arial"/>
              </a:defRPr>
            </a:pPr>
            <a:r>
              <a:rPr sz="975" b="1">
                <a:solidFill>
                  <a:srgbClr val="E7A048"/>
                </a:solidFill>
                <a:latin typeface="Arial"/>
                <a:ea typeface="Arial"/>
                <a:cs typeface="Arial"/>
              </a:rPr>
              <a:t>administrator</a:t>
            </a:r>
          </a:p>
        </p:txBody>
      </p:sp>
      <p:sp>
        <p:nvSpPr>
          <p:cNvPr id="25" name="Rectangle 24">
            <a:extLst>
              <a:ext uri="{FF2B5EF4-FFF2-40B4-BE49-F238E27FC236}">
                <a16:creationId xmlns:a16="http://schemas.microsoft.com/office/drawing/2014/main" id="{558D5FDA-D887-4A0D-943C-01F8A71CB0B5}"/>
              </a:ext>
            </a:extLst>
          </p:cNvPr>
          <p:cNvSpPr>
            <a:spLocks noGrp="1"/>
          </p:cNvSpPr>
          <p:nvPr/>
        </p:nvSpPr>
        <p:spPr>
          <a:xfrm>
            <a:off x="876300" y="5362575"/>
            <a:ext cx="10058400" cy="381000"/>
          </a:xfrm>
          <a:prstGeom prst="rect">
            <a:avLst/>
          </a:prstGeom>
          <a:noFill/>
          <a:ln w="0">
            <a:noFill/>
          </a:ln>
        </p:spPr>
        <p:txBody>
          <a:bodyPr>
            <a:noAutofit/>
          </a:bodyPr>
          <a:lstStyle/>
          <a:p>
            <a:pPr algn="ctr">
              <a:buNone/>
              <a:defRPr sz="900">
                <a:solidFill>
                  <a:srgbClr val="56647A"/>
                </a:solidFill>
                <a:latin typeface="Arial"/>
                <a:ea typeface="Arial"/>
                <a:cs typeface="Arial"/>
              </a:defRPr>
            </a:pPr>
            <a:r>
              <a:rPr sz="900">
                <a:solidFill>
                  <a:srgbClr val="56647A"/>
                </a:solidFill>
                <a:latin typeface="Arial"/>
                <a:ea typeface="Arial"/>
                <a:cs typeface="Arial"/>
              </a:rPr>
              <a:t>Terms: service directory = local facility details, not patient records. Bengali content = reviewer-approved guidance. Content records = governance metadata: owner, source, version, approval, and change history.</a:t>
            </a:r>
          </a:p>
        </p:txBody>
      </p:sp>
      <p:sp>
        <p:nvSpPr>
          <p:cNvPr id="26" name="Rectangle: Rounded Corners 25">
            <a:extLst>
              <a:ext uri="{FF2B5EF4-FFF2-40B4-BE49-F238E27FC236}">
                <a16:creationId xmlns:a16="http://schemas.microsoft.com/office/drawing/2014/main" id="{66F4589D-5BF0-47CE-8A62-DCB430091E90}"/>
              </a:ext>
            </a:extLst>
          </p:cNvPr>
          <p:cNvSpPr>
            <a:spLocks noGrp="1"/>
          </p:cNvSpPr>
          <p:nvPr/>
        </p:nvSpPr>
        <p:spPr>
          <a:xfrm>
            <a:off x="1581150" y="5753100"/>
            <a:ext cx="8648700" cy="571500"/>
          </a:xfrm>
          <a:prstGeom prst="roundRect">
            <a:avLst>
              <a:gd name="adj" fmla="val 13333"/>
            </a:avLst>
          </a:prstGeom>
          <a:solidFill>
            <a:srgbClr val="E9E7F5"/>
          </a:solidFill>
          <a:ln w="0">
            <a:noFill/>
          </a:ln>
        </p:spPr>
      </p:sp>
      <p:sp>
        <p:nvSpPr>
          <p:cNvPr id="27" name="Rectangle 26">
            <a:extLst>
              <a:ext uri="{FF2B5EF4-FFF2-40B4-BE49-F238E27FC236}">
                <a16:creationId xmlns:a16="http://schemas.microsoft.com/office/drawing/2014/main" id="{7B1C3060-8B73-466E-AEFB-0F36226028F5}"/>
              </a:ext>
            </a:extLst>
          </p:cNvPr>
          <p:cNvSpPr>
            <a:spLocks noGrp="1"/>
          </p:cNvSpPr>
          <p:nvPr/>
        </p:nvSpPr>
        <p:spPr>
          <a:xfrm>
            <a:off x="1866900" y="5867400"/>
            <a:ext cx="8077200" cy="361950"/>
          </a:xfrm>
          <a:prstGeom prst="rect">
            <a:avLst/>
          </a:prstGeom>
          <a:noFill/>
          <a:ln w="0">
            <a:noFill/>
          </a:ln>
        </p:spPr>
        <p:txBody>
          <a:bodyPr>
            <a:noAutofit/>
          </a:bodyPr>
          <a:lstStyle/>
          <a:p>
            <a:pPr algn="ctr">
              <a:buNone/>
              <a:defRPr sz="975" b="1">
                <a:solidFill>
                  <a:srgbClr val="202A44"/>
                </a:solidFill>
                <a:latin typeface="Arial"/>
                <a:ea typeface="Arial"/>
                <a:cs typeface="Arial"/>
              </a:defRPr>
            </a:pPr>
            <a:r>
              <a:rPr sz="975" b="1">
                <a:solidFill>
                  <a:srgbClr val="202A44"/>
                </a:solidFill>
                <a:latin typeface="Arial"/>
                <a:ea typeface="Arial"/>
                <a:cs typeface="Arial"/>
              </a:rPr>
              <a:t>Future IVR: confirmed menu selections map to fixed codes.</a:t>
            </a:r>
          </a:p>
          <a:p>
            <a:pPr algn="ctr">
              <a:buNone/>
              <a:defRPr sz="975" b="1">
                <a:solidFill>
                  <a:srgbClr val="202A44"/>
                </a:solidFill>
                <a:latin typeface="Arial"/>
                <a:ea typeface="Arial"/>
                <a:cs typeface="Arial"/>
              </a:defRPr>
            </a:pPr>
            <a:r>
              <a:rPr sz="975" b="1">
                <a:solidFill>
                  <a:srgbClr val="202A44"/>
                </a:solidFill>
                <a:latin typeface="Arial"/>
                <a:ea typeface="Arial"/>
                <a:cs typeface="Arial"/>
              </a:rPr>
              <a:t>Future free text and medical documents: post-route context only. They cannot change the route.</a:t>
            </a:r>
          </a:p>
        </p:txBody>
      </p:sp>
      <p:sp>
        <p:nvSpPr>
          <p:cNvPr id="28" name="Rectangle 27">
            <a:extLst>
              <a:ext uri="{FF2B5EF4-FFF2-40B4-BE49-F238E27FC236}">
                <a16:creationId xmlns:a16="http://schemas.microsoft.com/office/drawing/2014/main" id="{C0689F68-5175-4217-BAB0-19B887F43B7E}"/>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56647A"/>
                </a:solidFill>
                <a:latin typeface="Arial"/>
                <a:ea typeface="Arial"/>
                <a:cs typeface="Arial"/>
              </a:defRPr>
            </a:pPr>
            <a:r>
              <a:rPr sz="900">
                <a:solidFill>
                  <a:srgbClr val="56647A"/>
                </a:solidFill>
                <a:latin typeface="Arial"/>
                <a:ea typeface="Arial"/>
                <a:cs typeface="Arial"/>
              </a:rPr>
              <a:t>7</a:t>
            </a:r>
          </a:p>
        </p:txBody>
      </p:sp>
    </p:spTree>
    <p:extLst>
      <p:ext uri="{BB962C8B-B14F-4D97-AF65-F5344CB8AC3E}">
        <p14:creationId xmlns:p14="http://schemas.microsoft.com/office/powerpoint/2010/main" val="112790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F2EBA14C-4775-42AD-ADF2-7DD7363957BF}"/>
              </a:ext>
            </a:extLst>
          </p:cNvPr>
          <p:cNvSpPr>
            <a:spLocks noGrp="1"/>
          </p:cNvSpPr>
          <p:nvPr/>
        </p:nvSpPr>
        <p:spPr>
          <a:xfrm>
            <a:off x="0" y="0"/>
            <a:ext cx="12192000" cy="6858000"/>
          </a:xfrm>
          <a:prstGeom prst="rect">
            <a:avLst/>
          </a:prstGeom>
          <a:solidFill>
            <a:srgbClr val="DDE8F6"/>
          </a:solidFill>
          <a:ln w="0">
            <a:noFill/>
          </a:ln>
        </p:spPr>
      </p:sp>
      <p:sp>
        <p:nvSpPr>
          <p:cNvPr id="2" name="Rectangle 1">
            <a:extLst>
              <a:ext uri="{FF2B5EF4-FFF2-40B4-BE49-F238E27FC236}">
                <a16:creationId xmlns:a16="http://schemas.microsoft.com/office/drawing/2014/main" id="{9E57D1BE-2CCE-4ACC-B294-F0285CE2BC2F}"/>
              </a:ext>
            </a:extLst>
          </p:cNvPr>
          <p:cNvSpPr>
            <a:spLocks noGrp="1"/>
          </p:cNvSpPr>
          <p:nvPr/>
        </p:nvSpPr>
        <p:spPr>
          <a:xfrm>
            <a:off x="685800" y="419100"/>
            <a:ext cx="666750" cy="209550"/>
          </a:xfrm>
          <a:prstGeom prst="rect">
            <a:avLst/>
          </a:prstGeom>
          <a:noFill/>
          <a:ln w="0">
            <a:noFill/>
          </a:ln>
        </p:spPr>
        <p:txBody>
          <a:bodyPr>
            <a:noAutofit/>
          </a:bodyPr>
          <a:lstStyle/>
          <a:p>
            <a:pPr>
              <a:buNone/>
              <a:defRPr sz="1200" b="1">
                <a:solidFill>
                  <a:srgbClr val="E7A048"/>
                </a:solidFill>
                <a:latin typeface="Arial"/>
                <a:ea typeface="Arial"/>
                <a:cs typeface="Arial"/>
              </a:defRPr>
            </a:pPr>
            <a:r>
              <a:rPr sz="1200" b="1">
                <a:solidFill>
                  <a:srgbClr val="E7A048"/>
                </a:solidFill>
                <a:latin typeface="Arial"/>
                <a:ea typeface="Arial"/>
                <a:cs typeface="Arial"/>
              </a:rPr>
              <a:t>08</a:t>
            </a:r>
          </a:p>
        </p:txBody>
      </p:sp>
      <p:sp>
        <p:nvSpPr>
          <p:cNvPr id="3" name="Rectangle 2">
            <a:extLst>
              <a:ext uri="{FF2B5EF4-FFF2-40B4-BE49-F238E27FC236}">
                <a16:creationId xmlns:a16="http://schemas.microsoft.com/office/drawing/2014/main" id="{12F4BACA-AA7E-4165-B53F-B6B8B0CAC740}"/>
              </a:ext>
            </a:extLst>
          </p:cNvPr>
          <p:cNvSpPr>
            <a:spLocks noGrp="1"/>
          </p:cNvSpPr>
          <p:nvPr/>
        </p:nvSpPr>
        <p:spPr>
          <a:xfrm>
            <a:off x="9810750" y="428625"/>
            <a:ext cx="1695450" cy="190500"/>
          </a:xfrm>
          <a:prstGeom prst="rect">
            <a:avLst/>
          </a:prstGeom>
          <a:noFill/>
          <a:ln w="0">
            <a:noFill/>
          </a:ln>
        </p:spPr>
        <p:txBody>
          <a:bodyPr>
            <a:noAutofit/>
          </a:bodyPr>
          <a:lstStyle/>
          <a:p>
            <a:pPr algn="r">
              <a:buNone/>
              <a:defRPr sz="975" b="1">
                <a:solidFill>
                  <a:srgbClr val="4656A8"/>
                </a:solidFill>
                <a:latin typeface="Arial"/>
                <a:ea typeface="Arial"/>
                <a:cs typeface="Arial"/>
              </a:defRPr>
            </a:pPr>
            <a:r>
              <a:rPr sz="975" b="1">
                <a:solidFill>
                  <a:srgbClr val="4656A8"/>
                </a:solidFill>
                <a:latin typeface="Arial"/>
                <a:ea typeface="Arial"/>
                <a:cs typeface="Arial"/>
              </a:rPr>
              <a:t>NETRAJYOTI AI</a:t>
            </a:r>
          </a:p>
        </p:txBody>
      </p:sp>
      <p:sp>
        <p:nvSpPr>
          <p:cNvPr id="4" name="Rectangle 3">
            <a:extLst>
              <a:ext uri="{FF2B5EF4-FFF2-40B4-BE49-F238E27FC236}">
                <a16:creationId xmlns:a16="http://schemas.microsoft.com/office/drawing/2014/main" id="{A96CEB0E-CA53-499C-A19E-A98772EDFB8B}"/>
              </a:ext>
            </a:extLst>
          </p:cNvPr>
          <p:cNvSpPr>
            <a:spLocks noGrp="1"/>
          </p:cNvSpPr>
          <p:nvPr/>
        </p:nvSpPr>
        <p:spPr>
          <a:xfrm>
            <a:off x="685800" y="762000"/>
            <a:ext cx="10287000" cy="457200"/>
          </a:xfrm>
          <a:prstGeom prst="rect">
            <a:avLst/>
          </a:prstGeom>
          <a:noFill/>
          <a:ln w="0">
            <a:noFill/>
          </a:ln>
        </p:spPr>
        <p:txBody>
          <a:bodyPr>
            <a:noAutofit/>
          </a:bodyPr>
          <a:lstStyle/>
          <a:p>
            <a:pPr>
              <a:buNone/>
              <a:defRPr sz="2550" b="1">
                <a:solidFill>
                  <a:srgbClr val="202A44"/>
                </a:solidFill>
                <a:latin typeface="Arial"/>
                <a:ea typeface="Arial"/>
                <a:cs typeface="Arial"/>
              </a:defRPr>
            </a:pPr>
            <a:r>
              <a:rPr sz="2550" b="1">
                <a:solidFill>
                  <a:srgbClr val="202A44"/>
                </a:solidFill>
                <a:latin typeface="Arial"/>
                <a:ea typeface="Arial"/>
                <a:cs typeface="Arial"/>
              </a:rPr>
              <a:t>Personas and pilot usage measures</a:t>
            </a:r>
          </a:p>
        </p:txBody>
      </p:sp>
      <p:sp>
        <p:nvSpPr>
          <p:cNvPr id="5" name="Rectangle 4">
            <a:extLst>
              <a:ext uri="{FF2B5EF4-FFF2-40B4-BE49-F238E27FC236}">
                <a16:creationId xmlns:a16="http://schemas.microsoft.com/office/drawing/2014/main" id="{3A2AD247-2848-45C7-97F7-A99BD305B11F}"/>
              </a:ext>
            </a:extLst>
          </p:cNvPr>
          <p:cNvSpPr>
            <a:spLocks noGrp="1"/>
          </p:cNvSpPr>
          <p:nvPr/>
        </p:nvSpPr>
        <p:spPr>
          <a:xfrm>
            <a:off x="704850" y="1343025"/>
            <a:ext cx="10287000" cy="266700"/>
          </a:xfrm>
          <a:prstGeom prst="rect">
            <a:avLst/>
          </a:prstGeom>
          <a:noFill/>
          <a:ln w="0">
            <a:noFill/>
          </a:ln>
        </p:spPr>
        <p:txBody>
          <a:bodyPr>
            <a:noAutofit/>
          </a:bodyPr>
          <a:lstStyle/>
          <a:p>
            <a:pPr>
              <a:buNone/>
              <a:defRPr sz="1275">
                <a:solidFill>
                  <a:srgbClr val="56647A"/>
                </a:solidFill>
                <a:latin typeface="Arial"/>
                <a:ea typeface="Arial"/>
                <a:cs typeface="Arial"/>
              </a:defRPr>
            </a:pPr>
            <a:r>
              <a:rPr sz="1275">
                <a:solidFill>
                  <a:srgbClr val="56647A"/>
                </a:solidFill>
                <a:latin typeface="Arial"/>
                <a:ea typeface="Arial"/>
                <a:cs typeface="Arial"/>
              </a:rPr>
              <a:t>Pilot measurement should show who uses the service, where demand occurs, and how the journey performs.</a:t>
            </a:r>
          </a:p>
        </p:txBody>
      </p:sp>
      <p:sp>
        <p:nvSpPr>
          <p:cNvPr id="6" name="Rectangle 5">
            <a:extLst>
              <a:ext uri="{FF2B5EF4-FFF2-40B4-BE49-F238E27FC236}">
                <a16:creationId xmlns:a16="http://schemas.microsoft.com/office/drawing/2014/main" id="{EFEA469E-3778-428F-A424-FD49C1DB23EC}"/>
              </a:ext>
            </a:extLst>
          </p:cNvPr>
          <p:cNvSpPr>
            <a:spLocks noGrp="1"/>
          </p:cNvSpPr>
          <p:nvPr/>
        </p:nvSpPr>
        <p:spPr>
          <a:xfrm>
            <a:off x="685800" y="1752600"/>
            <a:ext cx="10820400" cy="19050"/>
          </a:xfrm>
          <a:prstGeom prst="rect">
            <a:avLst/>
          </a:prstGeom>
          <a:solidFill>
            <a:srgbClr val="D7D0C7"/>
          </a:solidFill>
          <a:ln w="0">
            <a:noFill/>
          </a:ln>
        </p:spPr>
      </p:sp>
      <p:sp>
        <p:nvSpPr>
          <p:cNvPr id="7" name="Rectangle: Rounded Corners 6">
            <a:extLst>
              <a:ext uri="{FF2B5EF4-FFF2-40B4-BE49-F238E27FC236}">
                <a16:creationId xmlns:a16="http://schemas.microsoft.com/office/drawing/2014/main" id="{59A25B28-7951-45B2-A934-392FDAF434AC}"/>
              </a:ext>
            </a:extLst>
          </p:cNvPr>
          <p:cNvSpPr>
            <a:spLocks noGrp="1"/>
          </p:cNvSpPr>
          <p:nvPr/>
        </p:nvSpPr>
        <p:spPr>
          <a:xfrm>
            <a:off x="723900" y="2381250"/>
            <a:ext cx="4762500" cy="3524250"/>
          </a:xfrm>
          <a:prstGeom prst="roundRect">
            <a:avLst>
              <a:gd name="adj" fmla="val 2162"/>
            </a:avLst>
          </a:prstGeom>
          <a:solidFill>
            <a:srgbClr val="FFFFFF"/>
          </a:solidFill>
          <a:ln w="9525">
            <a:solidFill>
              <a:srgbClr val="D7D0C7"/>
            </a:solidFill>
          </a:ln>
        </p:spPr>
      </p:sp>
      <p:sp>
        <p:nvSpPr>
          <p:cNvPr id="8" name="Rectangle 7">
            <a:extLst>
              <a:ext uri="{FF2B5EF4-FFF2-40B4-BE49-F238E27FC236}">
                <a16:creationId xmlns:a16="http://schemas.microsoft.com/office/drawing/2014/main" id="{3BA7CCB4-E84A-4A3A-83E2-573D3A66694A}"/>
              </a:ext>
            </a:extLst>
          </p:cNvPr>
          <p:cNvSpPr>
            <a:spLocks noGrp="1"/>
          </p:cNvSpPr>
          <p:nvPr/>
        </p:nvSpPr>
        <p:spPr>
          <a:xfrm>
            <a:off x="1028700" y="2647950"/>
            <a:ext cx="2857500" cy="171450"/>
          </a:xfrm>
          <a:prstGeom prst="rect">
            <a:avLst/>
          </a:prstGeom>
          <a:noFill/>
          <a:ln w="0">
            <a:noFill/>
          </a:ln>
        </p:spPr>
        <p:txBody>
          <a:bodyPr>
            <a:noAutofit/>
          </a:bodyPr>
          <a:lstStyle/>
          <a:p>
            <a:pPr>
              <a:buNone/>
              <a:defRPr sz="1050" b="1">
                <a:solidFill>
                  <a:srgbClr val="4656A8"/>
                </a:solidFill>
                <a:latin typeface="Arial"/>
                <a:ea typeface="Arial"/>
                <a:cs typeface="Arial"/>
              </a:defRPr>
            </a:pPr>
            <a:r>
              <a:rPr sz="1050" b="1">
                <a:solidFill>
                  <a:srgbClr val="4656A8"/>
                </a:solidFill>
                <a:latin typeface="Arial"/>
                <a:ea typeface="Arial"/>
                <a:cs typeface="Arial"/>
              </a:rPr>
              <a:t>APPLICATION PERSONAS</a:t>
            </a:r>
          </a:p>
        </p:txBody>
      </p:sp>
      <p:sp>
        <p:nvSpPr>
          <p:cNvPr id="9" name="Oval 8">
            <a:extLst>
              <a:ext uri="{FF2B5EF4-FFF2-40B4-BE49-F238E27FC236}">
                <a16:creationId xmlns:a16="http://schemas.microsoft.com/office/drawing/2014/main" id="{005E1315-1497-44B2-8C74-B5365C8E19C4}"/>
              </a:ext>
            </a:extLst>
          </p:cNvPr>
          <p:cNvSpPr>
            <a:spLocks noGrp="1"/>
          </p:cNvSpPr>
          <p:nvPr/>
        </p:nvSpPr>
        <p:spPr>
          <a:xfrm>
            <a:off x="1028700" y="3124200"/>
            <a:ext cx="95250" cy="95250"/>
          </a:xfrm>
          <a:prstGeom prst="ellipse">
            <a:avLst/>
          </a:prstGeom>
          <a:solidFill>
            <a:srgbClr val="237A7A"/>
          </a:solidFill>
          <a:ln w="0">
            <a:noFill/>
          </a:ln>
        </p:spPr>
      </p:sp>
      <p:sp>
        <p:nvSpPr>
          <p:cNvPr id="10" name="Rectangle 9">
            <a:extLst>
              <a:ext uri="{FF2B5EF4-FFF2-40B4-BE49-F238E27FC236}">
                <a16:creationId xmlns:a16="http://schemas.microsoft.com/office/drawing/2014/main" id="{A6ABE695-19DF-4487-A24B-26319A52F1BD}"/>
              </a:ext>
            </a:extLst>
          </p:cNvPr>
          <p:cNvSpPr>
            <a:spLocks noGrp="1"/>
          </p:cNvSpPr>
          <p:nvPr/>
        </p:nvSpPr>
        <p:spPr>
          <a:xfrm>
            <a:off x="1314450" y="3067050"/>
            <a:ext cx="2095500" cy="171450"/>
          </a:xfrm>
          <a:prstGeom prst="rect">
            <a:avLst/>
          </a:prstGeom>
          <a:noFill/>
          <a:ln w="0">
            <a:noFill/>
          </a:ln>
        </p:spPr>
        <p:txBody>
          <a:bodyPr>
            <a:noAutofit/>
          </a:bodyPr>
          <a:lstStyle/>
          <a:p>
            <a:pPr>
              <a:buNone/>
              <a:defRPr sz="1200" b="1">
                <a:solidFill>
                  <a:srgbClr val="202A44"/>
                </a:solidFill>
                <a:latin typeface="Arial"/>
                <a:ea typeface="Arial"/>
                <a:cs typeface="Arial"/>
              </a:defRPr>
            </a:pPr>
            <a:r>
              <a:rPr sz="1200" b="1">
                <a:solidFill>
                  <a:srgbClr val="202A44"/>
                </a:solidFill>
                <a:latin typeface="Arial"/>
                <a:ea typeface="Arial"/>
                <a:cs typeface="Arial"/>
              </a:rPr>
              <a:t>Community member</a:t>
            </a:r>
          </a:p>
        </p:txBody>
      </p:sp>
      <p:sp>
        <p:nvSpPr>
          <p:cNvPr id="11" name="Rectangle 10">
            <a:extLst>
              <a:ext uri="{FF2B5EF4-FFF2-40B4-BE49-F238E27FC236}">
                <a16:creationId xmlns:a16="http://schemas.microsoft.com/office/drawing/2014/main" id="{4BF03800-A35F-4B93-B599-F92449FD0700}"/>
              </a:ext>
            </a:extLst>
          </p:cNvPr>
          <p:cNvSpPr>
            <a:spLocks noGrp="1"/>
          </p:cNvSpPr>
          <p:nvPr/>
        </p:nvSpPr>
        <p:spPr>
          <a:xfrm>
            <a:off x="1314450" y="3276600"/>
            <a:ext cx="3619500" cy="1714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Bengali-language user seeking a safe next step</a:t>
            </a:r>
          </a:p>
        </p:txBody>
      </p:sp>
      <p:sp>
        <p:nvSpPr>
          <p:cNvPr id="12" name="Oval 11">
            <a:extLst>
              <a:ext uri="{FF2B5EF4-FFF2-40B4-BE49-F238E27FC236}">
                <a16:creationId xmlns:a16="http://schemas.microsoft.com/office/drawing/2014/main" id="{2DC3C296-8384-4F47-8046-52FDF72DA4C1}"/>
              </a:ext>
            </a:extLst>
          </p:cNvPr>
          <p:cNvSpPr>
            <a:spLocks noGrp="1"/>
          </p:cNvSpPr>
          <p:nvPr/>
        </p:nvSpPr>
        <p:spPr>
          <a:xfrm>
            <a:off x="1028700" y="3638550"/>
            <a:ext cx="95250" cy="95250"/>
          </a:xfrm>
          <a:prstGeom prst="ellipse">
            <a:avLst/>
          </a:prstGeom>
          <a:solidFill>
            <a:srgbClr val="237A7A"/>
          </a:solidFill>
          <a:ln w="0">
            <a:noFill/>
          </a:ln>
        </p:spPr>
      </p:sp>
      <p:sp>
        <p:nvSpPr>
          <p:cNvPr id="13" name="Rectangle 12">
            <a:extLst>
              <a:ext uri="{FF2B5EF4-FFF2-40B4-BE49-F238E27FC236}">
                <a16:creationId xmlns:a16="http://schemas.microsoft.com/office/drawing/2014/main" id="{F9D96264-7ACC-4CC9-878C-5C802C75E648}"/>
              </a:ext>
            </a:extLst>
          </p:cNvPr>
          <p:cNvSpPr>
            <a:spLocks noGrp="1"/>
          </p:cNvSpPr>
          <p:nvPr/>
        </p:nvSpPr>
        <p:spPr>
          <a:xfrm>
            <a:off x="1314450" y="3581400"/>
            <a:ext cx="2095500" cy="171450"/>
          </a:xfrm>
          <a:prstGeom prst="rect">
            <a:avLst/>
          </a:prstGeom>
          <a:noFill/>
          <a:ln w="0">
            <a:noFill/>
          </a:ln>
        </p:spPr>
        <p:txBody>
          <a:bodyPr>
            <a:noAutofit/>
          </a:bodyPr>
          <a:lstStyle/>
          <a:p>
            <a:pPr>
              <a:buNone/>
              <a:defRPr sz="1200" b="1">
                <a:solidFill>
                  <a:srgbClr val="202A44"/>
                </a:solidFill>
                <a:latin typeface="Arial"/>
                <a:ea typeface="Arial"/>
                <a:cs typeface="Arial"/>
              </a:defRPr>
            </a:pPr>
            <a:r>
              <a:rPr sz="1200" b="1">
                <a:solidFill>
                  <a:srgbClr val="202A44"/>
                </a:solidFill>
                <a:latin typeface="Arial"/>
                <a:ea typeface="Arial"/>
                <a:cs typeface="Arial"/>
              </a:rPr>
              <a:t>Support person</a:t>
            </a:r>
          </a:p>
        </p:txBody>
      </p:sp>
      <p:sp>
        <p:nvSpPr>
          <p:cNvPr id="14" name="Rectangle 13">
            <a:extLst>
              <a:ext uri="{FF2B5EF4-FFF2-40B4-BE49-F238E27FC236}">
                <a16:creationId xmlns:a16="http://schemas.microsoft.com/office/drawing/2014/main" id="{9FD5C5EC-3C1E-443C-B7E9-D8C84D3DA8B3}"/>
              </a:ext>
            </a:extLst>
          </p:cNvPr>
          <p:cNvSpPr>
            <a:spLocks noGrp="1"/>
          </p:cNvSpPr>
          <p:nvPr/>
        </p:nvSpPr>
        <p:spPr>
          <a:xfrm>
            <a:off x="1314450" y="3790950"/>
            <a:ext cx="3619500" cy="1714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ASHA worker or family helper supporting the journey</a:t>
            </a:r>
          </a:p>
        </p:txBody>
      </p:sp>
      <p:sp>
        <p:nvSpPr>
          <p:cNvPr id="15" name="Oval 14">
            <a:extLst>
              <a:ext uri="{FF2B5EF4-FFF2-40B4-BE49-F238E27FC236}">
                <a16:creationId xmlns:a16="http://schemas.microsoft.com/office/drawing/2014/main" id="{E1832C13-C93A-407C-9E1A-DA9F35A2391D}"/>
              </a:ext>
            </a:extLst>
          </p:cNvPr>
          <p:cNvSpPr>
            <a:spLocks noGrp="1"/>
          </p:cNvSpPr>
          <p:nvPr/>
        </p:nvSpPr>
        <p:spPr>
          <a:xfrm>
            <a:off x="1028700" y="4152900"/>
            <a:ext cx="95250" cy="95250"/>
          </a:xfrm>
          <a:prstGeom prst="ellipse">
            <a:avLst/>
          </a:prstGeom>
          <a:solidFill>
            <a:srgbClr val="237A7A"/>
          </a:solidFill>
          <a:ln w="0">
            <a:noFill/>
          </a:ln>
        </p:spPr>
      </p:sp>
      <p:sp>
        <p:nvSpPr>
          <p:cNvPr id="16" name="Rectangle 15">
            <a:extLst>
              <a:ext uri="{FF2B5EF4-FFF2-40B4-BE49-F238E27FC236}">
                <a16:creationId xmlns:a16="http://schemas.microsoft.com/office/drawing/2014/main" id="{0CEB41A4-3470-422B-89CF-6CC80F6A40B6}"/>
              </a:ext>
            </a:extLst>
          </p:cNvPr>
          <p:cNvSpPr>
            <a:spLocks noGrp="1"/>
          </p:cNvSpPr>
          <p:nvPr/>
        </p:nvSpPr>
        <p:spPr>
          <a:xfrm>
            <a:off x="1314450" y="4095750"/>
            <a:ext cx="2095500" cy="171450"/>
          </a:xfrm>
          <a:prstGeom prst="rect">
            <a:avLst/>
          </a:prstGeom>
          <a:noFill/>
          <a:ln w="0">
            <a:noFill/>
          </a:ln>
        </p:spPr>
        <p:txBody>
          <a:bodyPr>
            <a:noAutofit/>
          </a:bodyPr>
          <a:lstStyle/>
          <a:p>
            <a:pPr>
              <a:buNone/>
              <a:defRPr sz="1200" b="1">
                <a:solidFill>
                  <a:srgbClr val="202A44"/>
                </a:solidFill>
                <a:latin typeface="Arial"/>
                <a:ea typeface="Arial"/>
                <a:cs typeface="Arial"/>
              </a:defRPr>
            </a:pPr>
            <a:r>
              <a:rPr sz="1200" b="1">
                <a:solidFill>
                  <a:srgbClr val="202A44"/>
                </a:solidFill>
                <a:latin typeface="Arial"/>
                <a:ea typeface="Arial"/>
                <a:cs typeface="Arial"/>
              </a:rPr>
              <a:t>Service staff</a:t>
            </a:r>
          </a:p>
        </p:txBody>
      </p:sp>
      <p:sp>
        <p:nvSpPr>
          <p:cNvPr id="17" name="Rectangle 16">
            <a:extLst>
              <a:ext uri="{FF2B5EF4-FFF2-40B4-BE49-F238E27FC236}">
                <a16:creationId xmlns:a16="http://schemas.microsoft.com/office/drawing/2014/main" id="{81A03C21-4D1E-4839-802D-B6B8E5E5CA79}"/>
              </a:ext>
            </a:extLst>
          </p:cNvPr>
          <p:cNvSpPr>
            <a:spLocks noGrp="1"/>
          </p:cNvSpPr>
          <p:nvPr/>
        </p:nvSpPr>
        <p:spPr>
          <a:xfrm>
            <a:off x="1314450" y="4305300"/>
            <a:ext cx="3619500" cy="1714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Vision centre or eye-clinic staff maintaining facility details</a:t>
            </a:r>
          </a:p>
        </p:txBody>
      </p:sp>
      <p:sp>
        <p:nvSpPr>
          <p:cNvPr id="18" name="Oval 17">
            <a:extLst>
              <a:ext uri="{FF2B5EF4-FFF2-40B4-BE49-F238E27FC236}">
                <a16:creationId xmlns:a16="http://schemas.microsoft.com/office/drawing/2014/main" id="{63A1A1D7-1C04-4598-888E-578B14386974}"/>
              </a:ext>
            </a:extLst>
          </p:cNvPr>
          <p:cNvSpPr>
            <a:spLocks noGrp="1"/>
          </p:cNvSpPr>
          <p:nvPr/>
        </p:nvSpPr>
        <p:spPr>
          <a:xfrm>
            <a:off x="1028700" y="4667250"/>
            <a:ext cx="95250" cy="95250"/>
          </a:xfrm>
          <a:prstGeom prst="ellipse">
            <a:avLst/>
          </a:prstGeom>
          <a:solidFill>
            <a:srgbClr val="DE664C"/>
          </a:solidFill>
          <a:ln w="0">
            <a:noFill/>
          </a:ln>
        </p:spPr>
      </p:sp>
      <p:sp>
        <p:nvSpPr>
          <p:cNvPr id="19" name="Rectangle 18">
            <a:extLst>
              <a:ext uri="{FF2B5EF4-FFF2-40B4-BE49-F238E27FC236}">
                <a16:creationId xmlns:a16="http://schemas.microsoft.com/office/drawing/2014/main" id="{A80CF168-1B6E-4495-994F-1D9FBB17AF9E}"/>
              </a:ext>
            </a:extLst>
          </p:cNvPr>
          <p:cNvSpPr>
            <a:spLocks noGrp="1"/>
          </p:cNvSpPr>
          <p:nvPr/>
        </p:nvSpPr>
        <p:spPr>
          <a:xfrm>
            <a:off x="1314450" y="4610100"/>
            <a:ext cx="2095500" cy="171450"/>
          </a:xfrm>
          <a:prstGeom prst="rect">
            <a:avLst/>
          </a:prstGeom>
          <a:noFill/>
          <a:ln w="0">
            <a:noFill/>
          </a:ln>
        </p:spPr>
        <p:txBody>
          <a:bodyPr>
            <a:noAutofit/>
          </a:bodyPr>
          <a:lstStyle/>
          <a:p>
            <a:pPr>
              <a:buNone/>
              <a:defRPr sz="1200" b="1">
                <a:solidFill>
                  <a:srgbClr val="202A44"/>
                </a:solidFill>
                <a:latin typeface="Arial"/>
                <a:ea typeface="Arial"/>
                <a:cs typeface="Arial"/>
              </a:defRPr>
            </a:pPr>
            <a:r>
              <a:rPr sz="1200" b="1">
                <a:solidFill>
                  <a:srgbClr val="202A44"/>
                </a:solidFill>
                <a:latin typeface="Arial"/>
                <a:ea typeface="Arial"/>
                <a:cs typeface="Arial"/>
              </a:rPr>
              <a:t>Clinical reviewer</a:t>
            </a:r>
          </a:p>
        </p:txBody>
      </p:sp>
      <p:sp>
        <p:nvSpPr>
          <p:cNvPr id="20" name="Rectangle 19">
            <a:extLst>
              <a:ext uri="{FF2B5EF4-FFF2-40B4-BE49-F238E27FC236}">
                <a16:creationId xmlns:a16="http://schemas.microsoft.com/office/drawing/2014/main" id="{1D907B8E-ED8C-45E1-B3C9-DCCDC1B66DD8}"/>
              </a:ext>
            </a:extLst>
          </p:cNvPr>
          <p:cNvSpPr>
            <a:spLocks noGrp="1"/>
          </p:cNvSpPr>
          <p:nvPr/>
        </p:nvSpPr>
        <p:spPr>
          <a:xfrm>
            <a:off x="1314450" y="4819650"/>
            <a:ext cx="3619500" cy="1714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Approves criteria and Bengali guidance</a:t>
            </a:r>
          </a:p>
        </p:txBody>
      </p:sp>
      <p:sp>
        <p:nvSpPr>
          <p:cNvPr id="21" name="Oval 20">
            <a:extLst>
              <a:ext uri="{FF2B5EF4-FFF2-40B4-BE49-F238E27FC236}">
                <a16:creationId xmlns:a16="http://schemas.microsoft.com/office/drawing/2014/main" id="{68FE30A5-FE14-4F66-88A3-BC8A59D3EDE4}"/>
              </a:ext>
            </a:extLst>
          </p:cNvPr>
          <p:cNvSpPr>
            <a:spLocks noGrp="1"/>
          </p:cNvSpPr>
          <p:nvPr/>
        </p:nvSpPr>
        <p:spPr>
          <a:xfrm>
            <a:off x="1028700" y="5181600"/>
            <a:ext cx="95250" cy="95250"/>
          </a:xfrm>
          <a:prstGeom prst="ellipse">
            <a:avLst/>
          </a:prstGeom>
          <a:solidFill>
            <a:srgbClr val="237A7A"/>
          </a:solidFill>
          <a:ln w="0">
            <a:noFill/>
          </a:ln>
        </p:spPr>
      </p:sp>
      <p:sp>
        <p:nvSpPr>
          <p:cNvPr id="22" name="Rectangle 21">
            <a:extLst>
              <a:ext uri="{FF2B5EF4-FFF2-40B4-BE49-F238E27FC236}">
                <a16:creationId xmlns:a16="http://schemas.microsoft.com/office/drawing/2014/main" id="{C1155BCE-ED82-4073-8455-161B2DF74ABB}"/>
              </a:ext>
            </a:extLst>
          </p:cNvPr>
          <p:cNvSpPr>
            <a:spLocks noGrp="1"/>
          </p:cNvSpPr>
          <p:nvPr/>
        </p:nvSpPr>
        <p:spPr>
          <a:xfrm>
            <a:off x="1314450" y="5124450"/>
            <a:ext cx="2095500" cy="171450"/>
          </a:xfrm>
          <a:prstGeom prst="rect">
            <a:avLst/>
          </a:prstGeom>
          <a:noFill/>
          <a:ln w="0">
            <a:noFill/>
          </a:ln>
        </p:spPr>
        <p:txBody>
          <a:bodyPr>
            <a:noAutofit/>
          </a:bodyPr>
          <a:lstStyle/>
          <a:p>
            <a:pPr>
              <a:buNone/>
              <a:defRPr sz="1200" b="1">
                <a:solidFill>
                  <a:srgbClr val="202A44"/>
                </a:solidFill>
                <a:latin typeface="Arial"/>
                <a:ea typeface="Arial"/>
                <a:cs typeface="Arial"/>
              </a:defRPr>
            </a:pPr>
            <a:r>
              <a:rPr sz="1200" b="1">
                <a:solidFill>
                  <a:srgbClr val="202A44"/>
                </a:solidFill>
                <a:latin typeface="Arial"/>
                <a:ea typeface="Arial"/>
                <a:cs typeface="Arial"/>
              </a:rPr>
              <a:t>Operations administrator</a:t>
            </a:r>
          </a:p>
        </p:txBody>
      </p:sp>
      <p:sp>
        <p:nvSpPr>
          <p:cNvPr id="23" name="Rectangle 22">
            <a:extLst>
              <a:ext uri="{FF2B5EF4-FFF2-40B4-BE49-F238E27FC236}">
                <a16:creationId xmlns:a16="http://schemas.microsoft.com/office/drawing/2014/main" id="{2CBDBB3A-8D74-47C6-B723-A5A5E8CC31B0}"/>
              </a:ext>
            </a:extLst>
          </p:cNvPr>
          <p:cNvSpPr>
            <a:spLocks noGrp="1"/>
          </p:cNvSpPr>
          <p:nvPr/>
        </p:nvSpPr>
        <p:spPr>
          <a:xfrm>
            <a:off x="1314450" y="5334000"/>
            <a:ext cx="3619500" cy="1714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Controls versions, publication, and releases</a:t>
            </a:r>
          </a:p>
        </p:txBody>
      </p:sp>
      <p:sp>
        <p:nvSpPr>
          <p:cNvPr id="24" name="Rectangle: Rounded Corners 23">
            <a:extLst>
              <a:ext uri="{FF2B5EF4-FFF2-40B4-BE49-F238E27FC236}">
                <a16:creationId xmlns:a16="http://schemas.microsoft.com/office/drawing/2014/main" id="{A2139BE6-DC97-4CA7-A26D-E2680E40B10C}"/>
              </a:ext>
            </a:extLst>
          </p:cNvPr>
          <p:cNvSpPr>
            <a:spLocks noGrp="1"/>
          </p:cNvSpPr>
          <p:nvPr/>
        </p:nvSpPr>
        <p:spPr>
          <a:xfrm>
            <a:off x="6172200" y="2381250"/>
            <a:ext cx="4667250" cy="3524250"/>
          </a:xfrm>
          <a:prstGeom prst="roundRect">
            <a:avLst>
              <a:gd name="adj" fmla="val 2162"/>
            </a:avLst>
          </a:prstGeom>
          <a:solidFill>
            <a:srgbClr val="FFFFFF"/>
          </a:solidFill>
          <a:ln w="9525">
            <a:solidFill>
              <a:srgbClr val="D7D0C7"/>
            </a:solidFill>
          </a:ln>
        </p:spPr>
      </p:sp>
      <p:sp>
        <p:nvSpPr>
          <p:cNvPr id="25" name="Rectangle 24">
            <a:extLst>
              <a:ext uri="{FF2B5EF4-FFF2-40B4-BE49-F238E27FC236}">
                <a16:creationId xmlns:a16="http://schemas.microsoft.com/office/drawing/2014/main" id="{BF73AC3B-7BD5-478F-9989-4188F0BFE731}"/>
              </a:ext>
            </a:extLst>
          </p:cNvPr>
          <p:cNvSpPr>
            <a:spLocks noGrp="1"/>
          </p:cNvSpPr>
          <p:nvPr/>
        </p:nvSpPr>
        <p:spPr>
          <a:xfrm>
            <a:off x="6477000" y="2647950"/>
            <a:ext cx="2857500" cy="171450"/>
          </a:xfrm>
          <a:prstGeom prst="rect">
            <a:avLst/>
          </a:prstGeom>
          <a:noFill/>
          <a:ln w="0">
            <a:noFill/>
          </a:ln>
        </p:spPr>
        <p:txBody>
          <a:bodyPr>
            <a:noAutofit/>
          </a:bodyPr>
          <a:lstStyle/>
          <a:p>
            <a:pPr>
              <a:buNone/>
              <a:defRPr sz="1050" b="1">
                <a:solidFill>
                  <a:srgbClr val="4656A8"/>
                </a:solidFill>
                <a:latin typeface="Arial"/>
                <a:ea typeface="Arial"/>
                <a:cs typeface="Arial"/>
              </a:defRPr>
            </a:pPr>
            <a:r>
              <a:rPr sz="1050" b="1">
                <a:solidFill>
                  <a:srgbClr val="4656A8"/>
                </a:solidFill>
                <a:latin typeface="Arial"/>
                <a:ea typeface="Arial"/>
                <a:cs typeface="Arial"/>
              </a:rPr>
              <a:t>PILOT USAGE MEASURES</a:t>
            </a:r>
          </a:p>
        </p:txBody>
      </p:sp>
      <p:sp>
        <p:nvSpPr>
          <p:cNvPr id="26" name="Oval 25">
            <a:extLst>
              <a:ext uri="{FF2B5EF4-FFF2-40B4-BE49-F238E27FC236}">
                <a16:creationId xmlns:a16="http://schemas.microsoft.com/office/drawing/2014/main" id="{DC97FA03-ACAF-4E33-8480-D2AA535027DB}"/>
              </a:ext>
            </a:extLst>
          </p:cNvPr>
          <p:cNvSpPr>
            <a:spLocks noGrp="1"/>
          </p:cNvSpPr>
          <p:nvPr/>
        </p:nvSpPr>
        <p:spPr>
          <a:xfrm>
            <a:off x="6477000" y="3124200"/>
            <a:ext cx="95250" cy="95250"/>
          </a:xfrm>
          <a:prstGeom prst="ellipse">
            <a:avLst/>
          </a:prstGeom>
          <a:solidFill>
            <a:srgbClr val="E7A048"/>
          </a:solidFill>
          <a:ln w="0">
            <a:noFill/>
          </a:ln>
        </p:spPr>
      </p:sp>
      <p:sp>
        <p:nvSpPr>
          <p:cNvPr id="27" name="Rectangle 26">
            <a:extLst>
              <a:ext uri="{FF2B5EF4-FFF2-40B4-BE49-F238E27FC236}">
                <a16:creationId xmlns:a16="http://schemas.microsoft.com/office/drawing/2014/main" id="{15EC700E-9E46-4237-BCC2-EA880105984B}"/>
              </a:ext>
            </a:extLst>
          </p:cNvPr>
          <p:cNvSpPr>
            <a:spLocks noGrp="1"/>
          </p:cNvSpPr>
          <p:nvPr/>
        </p:nvSpPr>
        <p:spPr>
          <a:xfrm>
            <a:off x="6762750" y="3067050"/>
            <a:ext cx="1714500" cy="171450"/>
          </a:xfrm>
          <a:prstGeom prst="rect">
            <a:avLst/>
          </a:prstGeom>
          <a:noFill/>
          <a:ln w="0">
            <a:noFill/>
          </a:ln>
        </p:spPr>
        <p:txBody>
          <a:bodyPr>
            <a:noAutofit/>
          </a:bodyPr>
          <a:lstStyle/>
          <a:p>
            <a:pPr>
              <a:buNone/>
              <a:defRPr sz="1200" b="1">
                <a:solidFill>
                  <a:srgbClr val="202A44"/>
                </a:solidFill>
                <a:latin typeface="Arial"/>
                <a:ea typeface="Arial"/>
                <a:cs typeface="Arial"/>
              </a:defRPr>
            </a:pPr>
            <a:r>
              <a:rPr sz="1200" b="1">
                <a:solidFill>
                  <a:srgbClr val="202A44"/>
                </a:solidFill>
                <a:latin typeface="Arial"/>
                <a:ea typeface="Arial"/>
                <a:cs typeface="Arial"/>
              </a:rPr>
              <a:t>Location</a:t>
            </a:r>
          </a:p>
        </p:txBody>
      </p:sp>
      <p:sp>
        <p:nvSpPr>
          <p:cNvPr id="28" name="Rectangle 27">
            <a:extLst>
              <a:ext uri="{FF2B5EF4-FFF2-40B4-BE49-F238E27FC236}">
                <a16:creationId xmlns:a16="http://schemas.microsoft.com/office/drawing/2014/main" id="{40500759-8C89-488A-8EC3-C84007463F6E}"/>
              </a:ext>
            </a:extLst>
          </p:cNvPr>
          <p:cNvSpPr>
            <a:spLocks noGrp="1"/>
          </p:cNvSpPr>
          <p:nvPr/>
        </p:nvSpPr>
        <p:spPr>
          <a:xfrm>
            <a:off x="6762750" y="3276600"/>
            <a:ext cx="3429000" cy="1714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Sessions by district, block, and town</a:t>
            </a:r>
          </a:p>
        </p:txBody>
      </p:sp>
      <p:sp>
        <p:nvSpPr>
          <p:cNvPr id="29" name="Oval 28">
            <a:extLst>
              <a:ext uri="{FF2B5EF4-FFF2-40B4-BE49-F238E27FC236}">
                <a16:creationId xmlns:a16="http://schemas.microsoft.com/office/drawing/2014/main" id="{379A0F84-FA5B-4060-9876-743F3DCEA183}"/>
              </a:ext>
            </a:extLst>
          </p:cNvPr>
          <p:cNvSpPr>
            <a:spLocks noGrp="1"/>
          </p:cNvSpPr>
          <p:nvPr/>
        </p:nvSpPr>
        <p:spPr>
          <a:xfrm>
            <a:off x="6477000" y="3638550"/>
            <a:ext cx="95250" cy="95250"/>
          </a:xfrm>
          <a:prstGeom prst="ellipse">
            <a:avLst/>
          </a:prstGeom>
          <a:solidFill>
            <a:srgbClr val="E7A048"/>
          </a:solidFill>
          <a:ln w="0">
            <a:noFill/>
          </a:ln>
        </p:spPr>
      </p:sp>
      <p:sp>
        <p:nvSpPr>
          <p:cNvPr id="30" name="Rectangle 29">
            <a:extLst>
              <a:ext uri="{FF2B5EF4-FFF2-40B4-BE49-F238E27FC236}">
                <a16:creationId xmlns:a16="http://schemas.microsoft.com/office/drawing/2014/main" id="{1844EB3B-F9EA-4A95-A6E9-A259CC59992A}"/>
              </a:ext>
            </a:extLst>
          </p:cNvPr>
          <p:cNvSpPr>
            <a:spLocks noGrp="1"/>
          </p:cNvSpPr>
          <p:nvPr/>
        </p:nvSpPr>
        <p:spPr>
          <a:xfrm>
            <a:off x="6762750" y="3581400"/>
            <a:ext cx="1714500" cy="171450"/>
          </a:xfrm>
          <a:prstGeom prst="rect">
            <a:avLst/>
          </a:prstGeom>
          <a:noFill/>
          <a:ln w="0">
            <a:noFill/>
          </a:ln>
        </p:spPr>
        <p:txBody>
          <a:bodyPr>
            <a:noAutofit/>
          </a:bodyPr>
          <a:lstStyle/>
          <a:p>
            <a:pPr>
              <a:buNone/>
              <a:defRPr sz="1200" b="1">
                <a:solidFill>
                  <a:srgbClr val="202A44"/>
                </a:solidFill>
                <a:latin typeface="Arial"/>
                <a:ea typeface="Arial"/>
                <a:cs typeface="Arial"/>
              </a:defRPr>
            </a:pPr>
            <a:r>
              <a:rPr sz="1200" b="1">
                <a:solidFill>
                  <a:srgbClr val="202A44"/>
                </a:solidFill>
                <a:latin typeface="Arial"/>
                <a:ea typeface="Arial"/>
                <a:cs typeface="Arial"/>
              </a:rPr>
              <a:t>Demand</a:t>
            </a:r>
          </a:p>
        </p:txBody>
      </p:sp>
      <p:sp>
        <p:nvSpPr>
          <p:cNvPr id="31" name="Rectangle 30">
            <a:extLst>
              <a:ext uri="{FF2B5EF4-FFF2-40B4-BE49-F238E27FC236}">
                <a16:creationId xmlns:a16="http://schemas.microsoft.com/office/drawing/2014/main" id="{FFB766C6-159C-4A1E-91CD-991FEB2E10AD}"/>
              </a:ext>
            </a:extLst>
          </p:cNvPr>
          <p:cNvSpPr>
            <a:spLocks noGrp="1"/>
          </p:cNvSpPr>
          <p:nvPr/>
        </p:nvSpPr>
        <p:spPr>
          <a:xfrm>
            <a:off x="6762750" y="3790950"/>
            <a:ext cx="3429000" cy="1714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Time-of-day and day-of-week traffic</a:t>
            </a:r>
          </a:p>
        </p:txBody>
      </p:sp>
      <p:sp>
        <p:nvSpPr>
          <p:cNvPr id="32" name="Oval 31">
            <a:extLst>
              <a:ext uri="{FF2B5EF4-FFF2-40B4-BE49-F238E27FC236}">
                <a16:creationId xmlns:a16="http://schemas.microsoft.com/office/drawing/2014/main" id="{54DA3AFF-463E-4A33-92D7-5BBEAECE0D93}"/>
              </a:ext>
            </a:extLst>
          </p:cNvPr>
          <p:cNvSpPr>
            <a:spLocks noGrp="1"/>
          </p:cNvSpPr>
          <p:nvPr/>
        </p:nvSpPr>
        <p:spPr>
          <a:xfrm>
            <a:off x="6477000" y="4152900"/>
            <a:ext cx="95250" cy="95250"/>
          </a:xfrm>
          <a:prstGeom prst="ellipse">
            <a:avLst/>
          </a:prstGeom>
          <a:solidFill>
            <a:srgbClr val="DE664C"/>
          </a:solidFill>
          <a:ln w="0">
            <a:noFill/>
          </a:ln>
        </p:spPr>
      </p:sp>
      <p:sp>
        <p:nvSpPr>
          <p:cNvPr id="33" name="Rectangle 32">
            <a:extLst>
              <a:ext uri="{FF2B5EF4-FFF2-40B4-BE49-F238E27FC236}">
                <a16:creationId xmlns:a16="http://schemas.microsoft.com/office/drawing/2014/main" id="{177BE720-836B-4E3E-9A34-299471B94CB7}"/>
              </a:ext>
            </a:extLst>
          </p:cNvPr>
          <p:cNvSpPr>
            <a:spLocks noGrp="1"/>
          </p:cNvSpPr>
          <p:nvPr/>
        </p:nvSpPr>
        <p:spPr>
          <a:xfrm>
            <a:off x="6762750" y="4095750"/>
            <a:ext cx="1714500" cy="171450"/>
          </a:xfrm>
          <a:prstGeom prst="rect">
            <a:avLst/>
          </a:prstGeom>
          <a:noFill/>
          <a:ln w="0">
            <a:noFill/>
          </a:ln>
        </p:spPr>
        <p:txBody>
          <a:bodyPr>
            <a:noAutofit/>
          </a:bodyPr>
          <a:lstStyle/>
          <a:p>
            <a:pPr>
              <a:buNone/>
              <a:defRPr sz="1200" b="1">
                <a:solidFill>
                  <a:srgbClr val="202A44"/>
                </a:solidFill>
                <a:latin typeface="Arial"/>
                <a:ea typeface="Arial"/>
                <a:cs typeface="Arial"/>
              </a:defRPr>
            </a:pPr>
            <a:r>
              <a:rPr sz="1200" b="1">
                <a:solidFill>
                  <a:srgbClr val="202A44"/>
                </a:solidFill>
                <a:latin typeface="Arial"/>
                <a:ea typeface="Arial"/>
                <a:cs typeface="Arial"/>
              </a:rPr>
              <a:t>Route mix</a:t>
            </a:r>
          </a:p>
        </p:txBody>
      </p:sp>
      <p:sp>
        <p:nvSpPr>
          <p:cNvPr id="34" name="Rectangle 33">
            <a:extLst>
              <a:ext uri="{FF2B5EF4-FFF2-40B4-BE49-F238E27FC236}">
                <a16:creationId xmlns:a16="http://schemas.microsoft.com/office/drawing/2014/main" id="{35A44CB7-D384-4AAB-9838-3FC15079F548}"/>
              </a:ext>
            </a:extLst>
          </p:cNvPr>
          <p:cNvSpPr>
            <a:spLocks noGrp="1"/>
          </p:cNvSpPr>
          <p:nvPr/>
        </p:nvSpPr>
        <p:spPr>
          <a:xfrm>
            <a:off x="6762750" y="4305300"/>
            <a:ext cx="3429000" cy="1714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Urgent, routine, and human-support outcomes</a:t>
            </a:r>
          </a:p>
        </p:txBody>
      </p:sp>
      <p:sp>
        <p:nvSpPr>
          <p:cNvPr id="35" name="Oval 34">
            <a:extLst>
              <a:ext uri="{FF2B5EF4-FFF2-40B4-BE49-F238E27FC236}">
                <a16:creationId xmlns:a16="http://schemas.microsoft.com/office/drawing/2014/main" id="{9542409A-37DE-41EC-BD87-F0E59102D6BF}"/>
              </a:ext>
            </a:extLst>
          </p:cNvPr>
          <p:cNvSpPr>
            <a:spLocks noGrp="1"/>
          </p:cNvSpPr>
          <p:nvPr/>
        </p:nvSpPr>
        <p:spPr>
          <a:xfrm>
            <a:off x="6477000" y="4667250"/>
            <a:ext cx="95250" cy="95250"/>
          </a:xfrm>
          <a:prstGeom prst="ellipse">
            <a:avLst/>
          </a:prstGeom>
          <a:solidFill>
            <a:srgbClr val="E7A048"/>
          </a:solidFill>
          <a:ln w="0">
            <a:noFill/>
          </a:ln>
        </p:spPr>
      </p:sp>
      <p:sp>
        <p:nvSpPr>
          <p:cNvPr id="36" name="Rectangle 35">
            <a:extLst>
              <a:ext uri="{FF2B5EF4-FFF2-40B4-BE49-F238E27FC236}">
                <a16:creationId xmlns:a16="http://schemas.microsoft.com/office/drawing/2014/main" id="{A00C6765-8EB9-4F1A-BAB8-D4AE0E4D5A7A}"/>
              </a:ext>
            </a:extLst>
          </p:cNvPr>
          <p:cNvSpPr>
            <a:spLocks noGrp="1"/>
          </p:cNvSpPr>
          <p:nvPr/>
        </p:nvSpPr>
        <p:spPr>
          <a:xfrm>
            <a:off x="6762750" y="4610100"/>
            <a:ext cx="1714500" cy="171450"/>
          </a:xfrm>
          <a:prstGeom prst="rect">
            <a:avLst/>
          </a:prstGeom>
          <a:noFill/>
          <a:ln w="0">
            <a:noFill/>
          </a:ln>
        </p:spPr>
        <p:txBody>
          <a:bodyPr>
            <a:noAutofit/>
          </a:bodyPr>
          <a:lstStyle/>
          <a:p>
            <a:pPr>
              <a:buNone/>
              <a:defRPr sz="1200" b="1">
                <a:solidFill>
                  <a:srgbClr val="202A44"/>
                </a:solidFill>
                <a:latin typeface="Arial"/>
                <a:ea typeface="Arial"/>
                <a:cs typeface="Arial"/>
              </a:defRPr>
            </a:pPr>
            <a:r>
              <a:rPr sz="1200" b="1">
                <a:solidFill>
                  <a:srgbClr val="202A44"/>
                </a:solidFill>
                <a:latin typeface="Arial"/>
                <a:ea typeface="Arial"/>
                <a:cs typeface="Arial"/>
              </a:rPr>
              <a:t>Access mode</a:t>
            </a:r>
          </a:p>
        </p:txBody>
      </p:sp>
      <p:sp>
        <p:nvSpPr>
          <p:cNvPr id="37" name="Rectangle 36">
            <a:extLst>
              <a:ext uri="{FF2B5EF4-FFF2-40B4-BE49-F238E27FC236}">
                <a16:creationId xmlns:a16="http://schemas.microsoft.com/office/drawing/2014/main" id="{94712A17-F294-44B8-B373-4727AB191DFC}"/>
              </a:ext>
            </a:extLst>
          </p:cNvPr>
          <p:cNvSpPr>
            <a:spLocks noGrp="1"/>
          </p:cNvSpPr>
          <p:nvPr/>
        </p:nvSpPr>
        <p:spPr>
          <a:xfrm>
            <a:off x="6762750" y="4819650"/>
            <a:ext cx="3429000" cy="1714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Voice versus text completion rate</a:t>
            </a:r>
          </a:p>
        </p:txBody>
      </p:sp>
      <p:sp>
        <p:nvSpPr>
          <p:cNvPr id="38" name="Oval 37">
            <a:extLst>
              <a:ext uri="{FF2B5EF4-FFF2-40B4-BE49-F238E27FC236}">
                <a16:creationId xmlns:a16="http://schemas.microsoft.com/office/drawing/2014/main" id="{B9F1B437-CD5D-4581-BC89-749149809938}"/>
              </a:ext>
            </a:extLst>
          </p:cNvPr>
          <p:cNvSpPr>
            <a:spLocks noGrp="1"/>
          </p:cNvSpPr>
          <p:nvPr/>
        </p:nvSpPr>
        <p:spPr>
          <a:xfrm>
            <a:off x="6477000" y="5181600"/>
            <a:ext cx="95250" cy="95250"/>
          </a:xfrm>
          <a:prstGeom prst="ellipse">
            <a:avLst/>
          </a:prstGeom>
          <a:solidFill>
            <a:srgbClr val="E7A048"/>
          </a:solidFill>
          <a:ln w="0">
            <a:noFill/>
          </a:ln>
        </p:spPr>
      </p:sp>
      <p:sp>
        <p:nvSpPr>
          <p:cNvPr id="39" name="Rectangle 38">
            <a:extLst>
              <a:ext uri="{FF2B5EF4-FFF2-40B4-BE49-F238E27FC236}">
                <a16:creationId xmlns:a16="http://schemas.microsoft.com/office/drawing/2014/main" id="{A88AA5D6-E071-47B1-B00F-B95E49D006B1}"/>
              </a:ext>
            </a:extLst>
          </p:cNvPr>
          <p:cNvSpPr>
            <a:spLocks noGrp="1"/>
          </p:cNvSpPr>
          <p:nvPr/>
        </p:nvSpPr>
        <p:spPr>
          <a:xfrm>
            <a:off x="6762750" y="5124450"/>
            <a:ext cx="1714500" cy="171450"/>
          </a:xfrm>
          <a:prstGeom prst="rect">
            <a:avLst/>
          </a:prstGeom>
          <a:noFill/>
          <a:ln w="0">
            <a:noFill/>
          </a:ln>
        </p:spPr>
        <p:txBody>
          <a:bodyPr>
            <a:noAutofit/>
          </a:bodyPr>
          <a:lstStyle/>
          <a:p>
            <a:pPr>
              <a:buNone/>
              <a:defRPr sz="1200" b="1">
                <a:solidFill>
                  <a:srgbClr val="202A44"/>
                </a:solidFill>
                <a:latin typeface="Arial"/>
                <a:ea typeface="Arial"/>
                <a:cs typeface="Arial"/>
              </a:defRPr>
            </a:pPr>
            <a:r>
              <a:rPr sz="1200" b="1">
                <a:solidFill>
                  <a:srgbClr val="202A44"/>
                </a:solidFill>
                <a:latin typeface="Arial"/>
                <a:ea typeface="Arial"/>
                <a:cs typeface="Arial"/>
              </a:rPr>
              <a:t>Experience</a:t>
            </a:r>
          </a:p>
        </p:txBody>
      </p:sp>
      <p:sp>
        <p:nvSpPr>
          <p:cNvPr id="40" name="Rectangle 39">
            <a:extLst>
              <a:ext uri="{FF2B5EF4-FFF2-40B4-BE49-F238E27FC236}">
                <a16:creationId xmlns:a16="http://schemas.microsoft.com/office/drawing/2014/main" id="{D28637A5-F5EF-49E9-8DB8-6A27F2FB303D}"/>
              </a:ext>
            </a:extLst>
          </p:cNvPr>
          <p:cNvSpPr>
            <a:spLocks noGrp="1"/>
          </p:cNvSpPr>
          <p:nvPr/>
        </p:nvSpPr>
        <p:spPr>
          <a:xfrm>
            <a:off x="6762750" y="5334000"/>
            <a:ext cx="3429000" cy="1714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Result latency and approved fallback rate</a:t>
            </a:r>
          </a:p>
        </p:txBody>
      </p:sp>
      <p:sp>
        <p:nvSpPr>
          <p:cNvPr id="41" name="Rectangle: Rounded Corners 40">
            <a:extLst>
              <a:ext uri="{FF2B5EF4-FFF2-40B4-BE49-F238E27FC236}">
                <a16:creationId xmlns:a16="http://schemas.microsoft.com/office/drawing/2014/main" id="{E882141B-64A5-4B8A-9B78-BA9950F7E50D}"/>
              </a:ext>
            </a:extLst>
          </p:cNvPr>
          <p:cNvSpPr>
            <a:spLocks noGrp="1"/>
          </p:cNvSpPr>
          <p:nvPr/>
        </p:nvSpPr>
        <p:spPr>
          <a:xfrm>
            <a:off x="1924050" y="6153150"/>
            <a:ext cx="7962900" cy="323850"/>
          </a:xfrm>
          <a:prstGeom prst="roundRect">
            <a:avLst>
              <a:gd name="adj" fmla="val 23529"/>
            </a:avLst>
          </a:prstGeom>
          <a:solidFill>
            <a:srgbClr val="E9E7F5"/>
          </a:solidFill>
          <a:ln w="0">
            <a:noFill/>
          </a:ln>
        </p:spPr>
      </p:sp>
      <p:sp>
        <p:nvSpPr>
          <p:cNvPr id="42" name="Rectangle 41">
            <a:extLst>
              <a:ext uri="{FF2B5EF4-FFF2-40B4-BE49-F238E27FC236}">
                <a16:creationId xmlns:a16="http://schemas.microsoft.com/office/drawing/2014/main" id="{F22D0FC2-C6BC-47A6-9DEC-E997A4790A94}"/>
              </a:ext>
            </a:extLst>
          </p:cNvPr>
          <p:cNvSpPr>
            <a:spLocks noGrp="1"/>
          </p:cNvSpPr>
          <p:nvPr/>
        </p:nvSpPr>
        <p:spPr>
          <a:xfrm>
            <a:off x="2209800" y="6238875"/>
            <a:ext cx="7391400" cy="152400"/>
          </a:xfrm>
          <a:prstGeom prst="rect">
            <a:avLst/>
          </a:prstGeom>
          <a:noFill/>
          <a:ln w="0">
            <a:noFill/>
          </a:ln>
        </p:spPr>
        <p:txBody>
          <a:bodyPr>
            <a:noAutofit/>
          </a:bodyPr>
          <a:lstStyle/>
          <a:p>
            <a:pPr algn="ctr">
              <a:buNone/>
              <a:defRPr sz="975" b="1">
                <a:solidFill>
                  <a:srgbClr val="202A44"/>
                </a:solidFill>
                <a:latin typeface="Arial"/>
                <a:ea typeface="Arial"/>
                <a:cs typeface="Arial"/>
              </a:defRPr>
            </a:pPr>
            <a:r>
              <a:rPr sz="975" b="1">
                <a:solidFill>
                  <a:srgbClr val="202A44"/>
                </a:solidFill>
                <a:latin typeface="Arial"/>
                <a:ea typeface="Arial"/>
                <a:cs typeface="Arial"/>
              </a:rPr>
              <a:t>These are proposed pilot measures. The current MVP has no production usage baseline.</a:t>
            </a:r>
          </a:p>
        </p:txBody>
      </p:sp>
      <p:sp>
        <p:nvSpPr>
          <p:cNvPr id="43" name="Rectangle 42">
            <a:extLst>
              <a:ext uri="{FF2B5EF4-FFF2-40B4-BE49-F238E27FC236}">
                <a16:creationId xmlns:a16="http://schemas.microsoft.com/office/drawing/2014/main" id="{860D8C60-815C-4B90-A59E-EF3182899CF4}"/>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56647A"/>
                </a:solidFill>
                <a:latin typeface="Arial"/>
                <a:ea typeface="Arial"/>
                <a:cs typeface="Arial"/>
              </a:defRPr>
            </a:pPr>
            <a:r>
              <a:rPr sz="900">
                <a:solidFill>
                  <a:srgbClr val="56647A"/>
                </a:solidFill>
                <a:latin typeface="Arial"/>
                <a:ea typeface="Arial"/>
                <a:cs typeface="Arial"/>
              </a:rPr>
              <a:t>8</a:t>
            </a:r>
          </a:p>
        </p:txBody>
      </p:sp>
    </p:spTree>
    <p:extLst>
      <p:ext uri="{BB962C8B-B14F-4D97-AF65-F5344CB8AC3E}">
        <p14:creationId xmlns:p14="http://schemas.microsoft.com/office/powerpoint/2010/main" val="2089537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B8D1688F-7097-4171-90D1-323FA84B2D7A}"/>
              </a:ext>
            </a:extLst>
          </p:cNvPr>
          <p:cNvSpPr>
            <a:spLocks noGrp="1"/>
          </p:cNvSpPr>
          <p:nvPr/>
        </p:nvSpPr>
        <p:spPr>
          <a:xfrm>
            <a:off x="0" y="0"/>
            <a:ext cx="12192000" cy="6858000"/>
          </a:xfrm>
          <a:prstGeom prst="rect">
            <a:avLst/>
          </a:prstGeom>
          <a:solidFill>
            <a:srgbClr val="FCF8F2"/>
          </a:solidFill>
          <a:ln w="0">
            <a:noFill/>
          </a:ln>
        </p:spPr>
      </p:sp>
      <p:sp>
        <p:nvSpPr>
          <p:cNvPr id="2" name="Rectangle 1">
            <a:extLst>
              <a:ext uri="{FF2B5EF4-FFF2-40B4-BE49-F238E27FC236}">
                <a16:creationId xmlns:a16="http://schemas.microsoft.com/office/drawing/2014/main" id="{7251B40D-A804-45ED-BDC0-7F640D8A45A6}"/>
              </a:ext>
            </a:extLst>
          </p:cNvPr>
          <p:cNvSpPr>
            <a:spLocks noGrp="1"/>
          </p:cNvSpPr>
          <p:nvPr/>
        </p:nvSpPr>
        <p:spPr>
          <a:xfrm>
            <a:off x="685800" y="419100"/>
            <a:ext cx="666750" cy="209550"/>
          </a:xfrm>
          <a:prstGeom prst="rect">
            <a:avLst/>
          </a:prstGeom>
          <a:noFill/>
          <a:ln w="0">
            <a:noFill/>
          </a:ln>
        </p:spPr>
        <p:txBody>
          <a:bodyPr>
            <a:noAutofit/>
          </a:bodyPr>
          <a:lstStyle/>
          <a:p>
            <a:pPr>
              <a:buNone/>
              <a:defRPr sz="1200" b="1">
                <a:solidFill>
                  <a:srgbClr val="E7A048"/>
                </a:solidFill>
                <a:latin typeface="Arial"/>
                <a:ea typeface="Arial"/>
                <a:cs typeface="Arial"/>
              </a:defRPr>
            </a:pPr>
            <a:r>
              <a:rPr sz="1200" b="1">
                <a:solidFill>
                  <a:srgbClr val="E7A048"/>
                </a:solidFill>
                <a:latin typeface="Arial"/>
                <a:ea typeface="Arial"/>
                <a:cs typeface="Arial"/>
              </a:rPr>
              <a:t>09</a:t>
            </a:r>
          </a:p>
        </p:txBody>
      </p:sp>
      <p:sp>
        <p:nvSpPr>
          <p:cNvPr id="3" name="Rectangle 2">
            <a:extLst>
              <a:ext uri="{FF2B5EF4-FFF2-40B4-BE49-F238E27FC236}">
                <a16:creationId xmlns:a16="http://schemas.microsoft.com/office/drawing/2014/main" id="{4D7A62B5-2B5B-423B-A7F6-69EF0B668B4E}"/>
              </a:ext>
            </a:extLst>
          </p:cNvPr>
          <p:cNvSpPr>
            <a:spLocks noGrp="1"/>
          </p:cNvSpPr>
          <p:nvPr/>
        </p:nvSpPr>
        <p:spPr>
          <a:xfrm>
            <a:off x="9810750" y="428625"/>
            <a:ext cx="1695450" cy="190500"/>
          </a:xfrm>
          <a:prstGeom prst="rect">
            <a:avLst/>
          </a:prstGeom>
          <a:noFill/>
          <a:ln w="0">
            <a:noFill/>
          </a:ln>
        </p:spPr>
        <p:txBody>
          <a:bodyPr>
            <a:noAutofit/>
          </a:bodyPr>
          <a:lstStyle/>
          <a:p>
            <a:pPr algn="r">
              <a:buNone/>
              <a:defRPr sz="975" b="1">
                <a:solidFill>
                  <a:srgbClr val="4656A8"/>
                </a:solidFill>
                <a:latin typeface="Arial"/>
                <a:ea typeface="Arial"/>
                <a:cs typeface="Arial"/>
              </a:defRPr>
            </a:pPr>
            <a:r>
              <a:rPr sz="975" b="1">
                <a:solidFill>
                  <a:srgbClr val="4656A8"/>
                </a:solidFill>
                <a:latin typeface="Arial"/>
                <a:ea typeface="Arial"/>
                <a:cs typeface="Arial"/>
              </a:rPr>
              <a:t>NETRAJYOTI AI</a:t>
            </a:r>
          </a:p>
        </p:txBody>
      </p:sp>
      <p:sp>
        <p:nvSpPr>
          <p:cNvPr id="4" name="Rectangle 3">
            <a:extLst>
              <a:ext uri="{FF2B5EF4-FFF2-40B4-BE49-F238E27FC236}">
                <a16:creationId xmlns:a16="http://schemas.microsoft.com/office/drawing/2014/main" id="{6C338EC8-A9F1-4739-AF68-48E5B8798146}"/>
              </a:ext>
            </a:extLst>
          </p:cNvPr>
          <p:cNvSpPr>
            <a:spLocks noGrp="1"/>
          </p:cNvSpPr>
          <p:nvPr/>
        </p:nvSpPr>
        <p:spPr>
          <a:xfrm>
            <a:off x="685800" y="762000"/>
            <a:ext cx="10287000" cy="457200"/>
          </a:xfrm>
          <a:prstGeom prst="rect">
            <a:avLst/>
          </a:prstGeom>
          <a:noFill/>
          <a:ln w="0">
            <a:noFill/>
          </a:ln>
        </p:spPr>
        <p:txBody>
          <a:bodyPr>
            <a:noAutofit/>
          </a:bodyPr>
          <a:lstStyle/>
          <a:p>
            <a:pPr>
              <a:buNone/>
              <a:defRPr sz="2550" b="1">
                <a:solidFill>
                  <a:srgbClr val="202A44"/>
                </a:solidFill>
                <a:latin typeface="Arial"/>
                <a:ea typeface="Arial"/>
                <a:cs typeface="Arial"/>
              </a:defRPr>
            </a:pPr>
            <a:r>
              <a:rPr sz="2550" b="1">
                <a:solidFill>
                  <a:srgbClr val="202A44"/>
                </a:solidFill>
                <a:latin typeface="Arial"/>
                <a:ea typeface="Arial"/>
                <a:cs typeface="Arial"/>
              </a:rPr>
              <a:t>Production data lifecycle</a:t>
            </a:r>
          </a:p>
        </p:txBody>
      </p:sp>
      <p:sp>
        <p:nvSpPr>
          <p:cNvPr id="5" name="Rectangle 4">
            <a:extLst>
              <a:ext uri="{FF2B5EF4-FFF2-40B4-BE49-F238E27FC236}">
                <a16:creationId xmlns:a16="http://schemas.microsoft.com/office/drawing/2014/main" id="{CBD72ADF-B3FA-4D56-96BA-99F837FB33BA}"/>
              </a:ext>
            </a:extLst>
          </p:cNvPr>
          <p:cNvSpPr>
            <a:spLocks noGrp="1"/>
          </p:cNvSpPr>
          <p:nvPr/>
        </p:nvSpPr>
        <p:spPr>
          <a:xfrm>
            <a:off x="704850" y="1343025"/>
            <a:ext cx="10287000" cy="266700"/>
          </a:xfrm>
          <a:prstGeom prst="rect">
            <a:avLst/>
          </a:prstGeom>
          <a:noFill/>
          <a:ln w="0">
            <a:noFill/>
          </a:ln>
        </p:spPr>
        <p:txBody>
          <a:bodyPr>
            <a:noAutofit/>
          </a:bodyPr>
          <a:lstStyle/>
          <a:p>
            <a:pPr>
              <a:buNone/>
              <a:defRPr sz="1275">
                <a:solidFill>
                  <a:srgbClr val="56647A"/>
                </a:solidFill>
                <a:latin typeface="Arial"/>
                <a:ea typeface="Arial"/>
                <a:cs typeface="Arial"/>
              </a:defRPr>
            </a:pPr>
            <a:r>
              <a:rPr sz="1275">
                <a:solidFill>
                  <a:srgbClr val="56647A"/>
                </a:solidFill>
                <a:latin typeface="Arial"/>
                <a:ea typeface="Arial"/>
                <a:cs typeface="Arial"/>
              </a:rPr>
              <a:t>Approved clinical sources become versioned routing criteria and guidance before the application can use them.</a:t>
            </a:r>
          </a:p>
        </p:txBody>
      </p:sp>
      <p:sp>
        <p:nvSpPr>
          <p:cNvPr id="6" name="Rectangle 5">
            <a:extLst>
              <a:ext uri="{FF2B5EF4-FFF2-40B4-BE49-F238E27FC236}">
                <a16:creationId xmlns:a16="http://schemas.microsoft.com/office/drawing/2014/main" id="{F9EC3BA8-702E-4F46-B375-F7B783D3C3E3}"/>
              </a:ext>
            </a:extLst>
          </p:cNvPr>
          <p:cNvSpPr>
            <a:spLocks noGrp="1"/>
          </p:cNvSpPr>
          <p:nvPr/>
        </p:nvSpPr>
        <p:spPr>
          <a:xfrm>
            <a:off x="685800" y="1752600"/>
            <a:ext cx="10820400" cy="19050"/>
          </a:xfrm>
          <a:prstGeom prst="rect">
            <a:avLst/>
          </a:prstGeom>
          <a:solidFill>
            <a:srgbClr val="D7D0C7"/>
          </a:solidFill>
          <a:ln w="0">
            <a:noFill/>
          </a:ln>
        </p:spPr>
      </p:sp>
      <p:sp>
        <p:nvSpPr>
          <p:cNvPr id="7" name="Rectangle 6">
            <a:extLst>
              <a:ext uri="{FF2B5EF4-FFF2-40B4-BE49-F238E27FC236}">
                <a16:creationId xmlns:a16="http://schemas.microsoft.com/office/drawing/2014/main" id="{826F231E-5C9A-482B-854C-61EAF03A6FDE}"/>
              </a:ext>
            </a:extLst>
          </p:cNvPr>
          <p:cNvSpPr>
            <a:spLocks noGrp="1"/>
          </p:cNvSpPr>
          <p:nvPr/>
        </p:nvSpPr>
        <p:spPr>
          <a:xfrm>
            <a:off x="952500" y="2419350"/>
            <a:ext cx="2000250" cy="152400"/>
          </a:xfrm>
          <a:prstGeom prst="rect">
            <a:avLst/>
          </a:prstGeom>
          <a:noFill/>
          <a:ln w="0">
            <a:noFill/>
          </a:ln>
        </p:spPr>
        <p:txBody>
          <a:bodyPr>
            <a:noAutofit/>
          </a:bodyPr>
          <a:lstStyle/>
          <a:p>
            <a:pPr>
              <a:buNone/>
              <a:defRPr sz="975" b="1">
                <a:solidFill>
                  <a:srgbClr val="4656A8"/>
                </a:solidFill>
                <a:latin typeface="Arial"/>
                <a:ea typeface="Arial"/>
                <a:cs typeface="Arial"/>
              </a:defRPr>
            </a:pPr>
            <a:r>
              <a:rPr sz="975" b="1">
                <a:solidFill>
                  <a:srgbClr val="4656A8"/>
                </a:solidFill>
                <a:latin typeface="Arial"/>
                <a:ea typeface="Arial"/>
                <a:cs typeface="Arial"/>
              </a:rPr>
              <a:t>DATA COMPONENT</a:t>
            </a:r>
          </a:p>
        </p:txBody>
      </p:sp>
      <p:sp>
        <p:nvSpPr>
          <p:cNvPr id="8" name="Rectangle 7">
            <a:extLst>
              <a:ext uri="{FF2B5EF4-FFF2-40B4-BE49-F238E27FC236}">
                <a16:creationId xmlns:a16="http://schemas.microsoft.com/office/drawing/2014/main" id="{85246A44-A010-4235-A801-CAE5C435CEEB}"/>
              </a:ext>
            </a:extLst>
          </p:cNvPr>
          <p:cNvSpPr>
            <a:spLocks noGrp="1"/>
          </p:cNvSpPr>
          <p:nvPr/>
        </p:nvSpPr>
        <p:spPr>
          <a:xfrm>
            <a:off x="4095750" y="2419350"/>
            <a:ext cx="1714500" cy="152400"/>
          </a:xfrm>
          <a:prstGeom prst="rect">
            <a:avLst/>
          </a:prstGeom>
          <a:noFill/>
          <a:ln w="0">
            <a:noFill/>
          </a:ln>
        </p:spPr>
        <p:txBody>
          <a:bodyPr>
            <a:noAutofit/>
          </a:bodyPr>
          <a:lstStyle/>
          <a:p>
            <a:pPr>
              <a:buNone/>
              <a:defRPr sz="975" b="1">
                <a:solidFill>
                  <a:srgbClr val="4656A8"/>
                </a:solidFill>
                <a:latin typeface="Arial"/>
                <a:ea typeface="Arial"/>
                <a:cs typeface="Arial"/>
              </a:defRPr>
            </a:pPr>
            <a:r>
              <a:rPr sz="975" b="1">
                <a:solidFill>
                  <a:srgbClr val="4656A8"/>
                </a:solidFill>
                <a:latin typeface="Arial"/>
                <a:ea typeface="Arial"/>
                <a:cs typeface="Arial"/>
              </a:rPr>
              <a:t>RUNTIME USE</a:t>
            </a:r>
          </a:p>
        </p:txBody>
      </p:sp>
      <p:sp>
        <p:nvSpPr>
          <p:cNvPr id="9" name="Rectangle 8">
            <a:extLst>
              <a:ext uri="{FF2B5EF4-FFF2-40B4-BE49-F238E27FC236}">
                <a16:creationId xmlns:a16="http://schemas.microsoft.com/office/drawing/2014/main" id="{21B4C31F-2F65-4811-92D2-5FC05B58FC4E}"/>
              </a:ext>
            </a:extLst>
          </p:cNvPr>
          <p:cNvSpPr>
            <a:spLocks noGrp="1"/>
          </p:cNvSpPr>
          <p:nvPr/>
        </p:nvSpPr>
        <p:spPr>
          <a:xfrm>
            <a:off x="6667500" y="2419350"/>
            <a:ext cx="3714750" cy="152400"/>
          </a:xfrm>
          <a:prstGeom prst="rect">
            <a:avLst/>
          </a:prstGeom>
          <a:noFill/>
          <a:ln w="0">
            <a:noFill/>
          </a:ln>
        </p:spPr>
        <p:txBody>
          <a:bodyPr>
            <a:noAutofit/>
          </a:bodyPr>
          <a:lstStyle/>
          <a:p>
            <a:pPr>
              <a:buNone/>
              <a:defRPr sz="975" b="1">
                <a:solidFill>
                  <a:srgbClr val="4656A8"/>
                </a:solidFill>
                <a:latin typeface="Arial"/>
                <a:ea typeface="Arial"/>
                <a:cs typeface="Arial"/>
              </a:defRPr>
            </a:pPr>
            <a:r>
              <a:rPr sz="975" b="1">
                <a:solidFill>
                  <a:srgbClr val="4656A8"/>
                </a:solidFill>
                <a:latin typeface="Arial"/>
                <a:ea typeface="Arial"/>
                <a:cs typeface="Arial"/>
              </a:rPr>
              <a:t>CLINICAL REVIEW AND SOURCE MATERIAL</a:t>
            </a:r>
          </a:p>
        </p:txBody>
      </p:sp>
      <p:sp>
        <p:nvSpPr>
          <p:cNvPr id="10" name="Rectangle: Rounded Corners 9">
            <a:extLst>
              <a:ext uri="{FF2B5EF4-FFF2-40B4-BE49-F238E27FC236}">
                <a16:creationId xmlns:a16="http://schemas.microsoft.com/office/drawing/2014/main" id="{69816E0E-E514-4AE4-B4E2-79D5016C8D72}"/>
              </a:ext>
            </a:extLst>
          </p:cNvPr>
          <p:cNvSpPr>
            <a:spLocks noGrp="1"/>
          </p:cNvSpPr>
          <p:nvPr/>
        </p:nvSpPr>
        <p:spPr>
          <a:xfrm>
            <a:off x="723900" y="2686050"/>
            <a:ext cx="10115550" cy="952500"/>
          </a:xfrm>
          <a:prstGeom prst="roundRect">
            <a:avLst>
              <a:gd name="adj" fmla="val 8000"/>
            </a:avLst>
          </a:prstGeom>
          <a:solidFill>
            <a:srgbClr val="FFFFFF"/>
          </a:solidFill>
          <a:ln w="9525">
            <a:solidFill>
              <a:srgbClr val="D7D0C7"/>
            </a:solidFill>
          </a:ln>
        </p:spPr>
      </p:sp>
      <p:sp>
        <p:nvSpPr>
          <p:cNvPr id="11" name="Rectangle 10">
            <a:extLst>
              <a:ext uri="{FF2B5EF4-FFF2-40B4-BE49-F238E27FC236}">
                <a16:creationId xmlns:a16="http://schemas.microsoft.com/office/drawing/2014/main" id="{070B03A6-93EF-4EA6-B0AB-F45486B95667}"/>
              </a:ext>
            </a:extLst>
          </p:cNvPr>
          <p:cNvSpPr>
            <a:spLocks noGrp="1"/>
          </p:cNvSpPr>
          <p:nvPr/>
        </p:nvSpPr>
        <p:spPr>
          <a:xfrm>
            <a:off x="952500" y="3038475"/>
            <a:ext cx="2667000" cy="209550"/>
          </a:xfrm>
          <a:prstGeom prst="rect">
            <a:avLst/>
          </a:prstGeom>
          <a:noFill/>
          <a:ln w="0">
            <a:noFill/>
          </a:ln>
        </p:spPr>
        <p:txBody>
          <a:bodyPr>
            <a:noAutofit/>
          </a:bodyPr>
          <a:lstStyle/>
          <a:p>
            <a:pPr>
              <a:buNone/>
              <a:defRPr sz="1125" b="1">
                <a:solidFill>
                  <a:srgbClr val="202A44"/>
                </a:solidFill>
                <a:latin typeface="Arial"/>
                <a:ea typeface="Arial"/>
                <a:cs typeface="Arial"/>
              </a:defRPr>
            </a:pPr>
            <a:r>
              <a:rPr sz="1125" b="1">
                <a:solidFill>
                  <a:srgbClr val="202A44"/>
                </a:solidFill>
                <a:latin typeface="Arial"/>
                <a:ea typeface="Arial"/>
                <a:cs typeface="Arial"/>
              </a:rPr>
              <a:t>Pathways and routing criteria</a:t>
            </a:r>
          </a:p>
        </p:txBody>
      </p:sp>
      <p:sp>
        <p:nvSpPr>
          <p:cNvPr id="12" name="Rectangle 11">
            <a:extLst>
              <a:ext uri="{FF2B5EF4-FFF2-40B4-BE49-F238E27FC236}">
                <a16:creationId xmlns:a16="http://schemas.microsoft.com/office/drawing/2014/main" id="{63D945F3-8FEF-4FA1-AD94-38000060586A}"/>
              </a:ext>
            </a:extLst>
          </p:cNvPr>
          <p:cNvSpPr>
            <a:spLocks noGrp="1"/>
          </p:cNvSpPr>
          <p:nvPr/>
        </p:nvSpPr>
        <p:spPr>
          <a:xfrm>
            <a:off x="4095750" y="2952750"/>
            <a:ext cx="2000250" cy="3238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Java deterministic engine</a:t>
            </a:r>
          </a:p>
          <a:p>
            <a:pPr>
              <a:buNone/>
              <a:defRPr sz="975">
                <a:solidFill>
                  <a:srgbClr val="56647A"/>
                </a:solidFill>
                <a:latin typeface="Arial"/>
                <a:ea typeface="Arial"/>
                <a:cs typeface="Arial"/>
              </a:defRPr>
            </a:pPr>
            <a:r>
              <a:rPr sz="975">
                <a:solidFill>
                  <a:srgbClr val="56647A"/>
                </a:solidFill>
                <a:latin typeface="Arial"/>
                <a:ea typeface="Arial"/>
                <a:cs typeface="Arial"/>
              </a:rPr>
              <a:t>selects the route</a:t>
            </a:r>
          </a:p>
        </p:txBody>
      </p:sp>
      <p:sp>
        <p:nvSpPr>
          <p:cNvPr id="13" name="Rectangle 12">
            <a:extLst>
              <a:ext uri="{FF2B5EF4-FFF2-40B4-BE49-F238E27FC236}">
                <a16:creationId xmlns:a16="http://schemas.microsoft.com/office/drawing/2014/main" id="{947A668E-7968-4F80-85AB-2FCBCE183130}"/>
              </a:ext>
            </a:extLst>
          </p:cNvPr>
          <p:cNvSpPr>
            <a:spLocks noGrp="1"/>
          </p:cNvSpPr>
          <p:nvPr/>
        </p:nvSpPr>
        <p:spPr>
          <a:xfrm>
            <a:off x="6667500" y="2867025"/>
            <a:ext cx="3905250" cy="152400"/>
          </a:xfrm>
          <a:prstGeom prst="rect">
            <a:avLst/>
          </a:prstGeom>
          <a:noFill/>
          <a:ln w="0">
            <a:noFill/>
          </a:ln>
        </p:spPr>
        <p:txBody>
          <a:bodyPr>
            <a:noAutofit/>
          </a:bodyPr>
          <a:lstStyle/>
          <a:p>
            <a:pPr>
              <a:buNone/>
              <a:defRPr sz="900">
                <a:solidFill>
                  <a:srgbClr val="56647A"/>
                </a:solidFill>
                <a:latin typeface="Arial"/>
                <a:ea typeface="Arial"/>
                <a:cs typeface="Arial"/>
              </a:defRPr>
            </a:pPr>
            <a:r>
              <a:rPr sz="900">
                <a:solidFill>
                  <a:srgbClr val="56647A"/>
                </a:solidFill>
                <a:latin typeface="Arial"/>
                <a:ea typeface="Arial"/>
                <a:cs typeface="Arial"/>
              </a:rPr>
              <a:t>Clinical reviewer signs off precedence and scenario tests.</a:t>
            </a:r>
          </a:p>
        </p:txBody>
      </p:sp>
      <p:sp>
        <p:nvSpPr>
          <p:cNvPr id="14" name="Rectangle: Rounded Corners 13">
            <a:extLst>
              <a:ext uri="{FF2B5EF4-FFF2-40B4-BE49-F238E27FC236}">
                <a16:creationId xmlns:a16="http://schemas.microsoft.com/office/drawing/2014/main" id="{52E65625-B7DB-4741-9BFF-62FCDD1F503D}"/>
              </a:ext>
            </a:extLst>
          </p:cNvPr>
          <p:cNvSpPr>
            <a:spLocks noGrp="1"/>
          </p:cNvSpPr>
          <p:nvPr/>
        </p:nvSpPr>
        <p:spPr>
          <a:xfrm>
            <a:off x="6667500" y="3105150"/>
            <a:ext cx="3905250" cy="400050"/>
          </a:xfrm>
          <a:prstGeom prst="roundRect">
            <a:avLst>
              <a:gd name="adj" fmla="val 19048"/>
            </a:avLst>
          </a:prstGeom>
          <a:solidFill>
            <a:srgbClr val="E9E7F5"/>
          </a:solidFill>
          <a:ln w="0">
            <a:noFill/>
          </a:ln>
        </p:spPr>
      </p:sp>
      <p:sp>
        <p:nvSpPr>
          <p:cNvPr id="15" name="Rectangle 14">
            <a:extLst>
              <a:ext uri="{FF2B5EF4-FFF2-40B4-BE49-F238E27FC236}">
                <a16:creationId xmlns:a16="http://schemas.microsoft.com/office/drawing/2014/main" id="{09C06BCE-955B-4480-B62F-F5229FCEE4DA}"/>
              </a:ext>
            </a:extLst>
          </p:cNvPr>
          <p:cNvSpPr>
            <a:spLocks noGrp="1"/>
          </p:cNvSpPr>
          <p:nvPr/>
        </p:nvSpPr>
        <p:spPr>
          <a:xfrm>
            <a:off x="6819900" y="3152775"/>
            <a:ext cx="3600450" cy="285750"/>
          </a:xfrm>
          <a:prstGeom prst="rect">
            <a:avLst/>
          </a:prstGeom>
          <a:noFill/>
          <a:ln w="0">
            <a:noFill/>
          </a:ln>
        </p:spPr>
        <p:txBody>
          <a:bodyPr>
            <a:noAutofit/>
          </a:bodyPr>
          <a:lstStyle/>
          <a:p>
            <a:pPr algn="ctr">
              <a:buNone/>
              <a:defRPr sz="713" b="1">
                <a:solidFill>
                  <a:srgbClr val="4656A8"/>
                </a:solidFill>
                <a:latin typeface="Arial"/>
                <a:ea typeface="Arial"/>
                <a:cs typeface="Arial"/>
              </a:defRPr>
            </a:pPr>
            <a:r>
              <a:rPr sz="713" b="1">
                <a:solidFill>
                  <a:srgbClr val="4656A8"/>
                </a:solidFill>
                <a:latin typeface="Arial"/>
                <a:ea typeface="Arial"/>
                <a:cs typeface="Arial"/>
              </a:rPr>
              <a:t>SOURCE MATERIAL</a:t>
            </a:r>
          </a:p>
          <a:p>
            <a:pPr algn="ctr">
              <a:buNone/>
              <a:defRPr sz="713" b="1">
                <a:solidFill>
                  <a:srgbClr val="4656A8"/>
                </a:solidFill>
                <a:latin typeface="Arial"/>
                <a:ea typeface="Arial"/>
                <a:cs typeface="Arial"/>
              </a:defRPr>
            </a:pPr>
            <a:r>
              <a:rPr sz="713" b="1">
                <a:solidFill>
                  <a:srgbClr val="4656A8"/>
                </a:solidFill>
                <a:latin typeface="Arial"/>
                <a:ea typeface="Arial"/>
                <a:cs typeface="Arial"/>
              </a:rPr>
              <a:t>WHO VESIH · WHO PECI · WHO Eye Care in Health Systems · India DGHS / NPCBVI</a:t>
            </a:r>
          </a:p>
        </p:txBody>
      </p:sp>
      <p:sp>
        <p:nvSpPr>
          <p:cNvPr id="16" name="Rectangle: Rounded Corners 15">
            <a:extLst>
              <a:ext uri="{FF2B5EF4-FFF2-40B4-BE49-F238E27FC236}">
                <a16:creationId xmlns:a16="http://schemas.microsoft.com/office/drawing/2014/main" id="{BF8E14C2-4853-4E3D-837E-9950364CB74D}"/>
              </a:ext>
            </a:extLst>
          </p:cNvPr>
          <p:cNvSpPr>
            <a:spLocks noGrp="1"/>
          </p:cNvSpPr>
          <p:nvPr/>
        </p:nvSpPr>
        <p:spPr>
          <a:xfrm>
            <a:off x="723900" y="3810000"/>
            <a:ext cx="10115550" cy="571500"/>
          </a:xfrm>
          <a:prstGeom prst="roundRect">
            <a:avLst>
              <a:gd name="adj" fmla="val 13333"/>
            </a:avLst>
          </a:prstGeom>
          <a:solidFill>
            <a:srgbClr val="FFFFFF"/>
          </a:solidFill>
          <a:ln w="9525">
            <a:solidFill>
              <a:srgbClr val="D7D0C7"/>
            </a:solidFill>
          </a:ln>
        </p:spPr>
      </p:sp>
      <p:sp>
        <p:nvSpPr>
          <p:cNvPr id="17" name="Rectangle 16">
            <a:extLst>
              <a:ext uri="{FF2B5EF4-FFF2-40B4-BE49-F238E27FC236}">
                <a16:creationId xmlns:a16="http://schemas.microsoft.com/office/drawing/2014/main" id="{27E223D2-C06F-4CE4-8B36-9B45981833D7}"/>
              </a:ext>
            </a:extLst>
          </p:cNvPr>
          <p:cNvSpPr>
            <a:spLocks noGrp="1"/>
          </p:cNvSpPr>
          <p:nvPr/>
        </p:nvSpPr>
        <p:spPr>
          <a:xfrm>
            <a:off x="952500" y="3981450"/>
            <a:ext cx="2667000" cy="209550"/>
          </a:xfrm>
          <a:prstGeom prst="rect">
            <a:avLst/>
          </a:prstGeom>
          <a:noFill/>
          <a:ln w="0">
            <a:noFill/>
          </a:ln>
        </p:spPr>
        <p:txBody>
          <a:bodyPr>
            <a:noAutofit/>
          </a:bodyPr>
          <a:lstStyle/>
          <a:p>
            <a:pPr>
              <a:buNone/>
              <a:defRPr sz="1125" b="1">
                <a:solidFill>
                  <a:srgbClr val="202A44"/>
                </a:solidFill>
                <a:latin typeface="Arial"/>
                <a:ea typeface="Arial"/>
                <a:cs typeface="Arial"/>
              </a:defRPr>
            </a:pPr>
            <a:r>
              <a:rPr sz="1125" b="1">
                <a:solidFill>
                  <a:srgbClr val="202A44"/>
                </a:solidFill>
                <a:latin typeface="Arial"/>
                <a:ea typeface="Arial"/>
                <a:cs typeface="Arial"/>
              </a:rPr>
              <a:t>Guidance and source links</a:t>
            </a:r>
          </a:p>
        </p:txBody>
      </p:sp>
      <p:sp>
        <p:nvSpPr>
          <p:cNvPr id="18" name="Rectangle 17">
            <a:extLst>
              <a:ext uri="{FF2B5EF4-FFF2-40B4-BE49-F238E27FC236}">
                <a16:creationId xmlns:a16="http://schemas.microsoft.com/office/drawing/2014/main" id="{098B975B-653B-4803-B5DB-D90D7EA6A64C}"/>
              </a:ext>
            </a:extLst>
          </p:cNvPr>
          <p:cNvSpPr>
            <a:spLocks noGrp="1"/>
          </p:cNvSpPr>
          <p:nvPr/>
        </p:nvSpPr>
        <p:spPr>
          <a:xfrm>
            <a:off x="4095750" y="3933825"/>
            <a:ext cx="2000250" cy="3238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PostgreSQL RAG retrieves</a:t>
            </a:r>
          </a:p>
          <a:p>
            <a:pPr>
              <a:buNone/>
              <a:defRPr sz="975">
                <a:solidFill>
                  <a:srgbClr val="56647A"/>
                </a:solidFill>
                <a:latin typeface="Arial"/>
                <a:ea typeface="Arial"/>
                <a:cs typeface="Arial"/>
              </a:defRPr>
            </a:pPr>
            <a:r>
              <a:rPr sz="975">
                <a:solidFill>
                  <a:srgbClr val="56647A"/>
                </a:solidFill>
                <a:latin typeface="Arial"/>
                <a:ea typeface="Arial"/>
                <a:cs typeface="Arial"/>
              </a:rPr>
              <a:t>approved guidance</a:t>
            </a:r>
          </a:p>
        </p:txBody>
      </p:sp>
      <p:sp>
        <p:nvSpPr>
          <p:cNvPr id="19" name="Rectangle 18">
            <a:extLst>
              <a:ext uri="{FF2B5EF4-FFF2-40B4-BE49-F238E27FC236}">
                <a16:creationId xmlns:a16="http://schemas.microsoft.com/office/drawing/2014/main" id="{270552DF-2619-4C62-920F-A50FE30361DD}"/>
              </a:ext>
            </a:extLst>
          </p:cNvPr>
          <p:cNvSpPr>
            <a:spLocks noGrp="1"/>
          </p:cNvSpPr>
          <p:nvPr/>
        </p:nvSpPr>
        <p:spPr>
          <a:xfrm>
            <a:off x="6667500" y="3924300"/>
            <a:ext cx="3905250" cy="342900"/>
          </a:xfrm>
          <a:prstGeom prst="rect">
            <a:avLst/>
          </a:prstGeom>
          <a:noFill/>
          <a:ln w="0">
            <a:noFill/>
          </a:ln>
        </p:spPr>
        <p:txBody>
          <a:bodyPr>
            <a:noAutofit/>
          </a:bodyPr>
          <a:lstStyle/>
          <a:p>
            <a:pPr>
              <a:buNone/>
              <a:defRPr sz="900">
                <a:solidFill>
                  <a:srgbClr val="56647A"/>
                </a:solidFill>
                <a:latin typeface="Arial"/>
                <a:ea typeface="Arial"/>
                <a:cs typeface="Arial"/>
              </a:defRPr>
            </a:pPr>
            <a:r>
              <a:rPr sz="900">
                <a:solidFill>
                  <a:srgbClr val="56647A"/>
                </a:solidFill>
                <a:latin typeface="Arial"/>
                <a:ea typeface="Arial"/>
                <a:cs typeface="Arial"/>
              </a:rPr>
              <a:t>Clinical reviewer approves Bengali guidance and sources; version is retained before publication.</a:t>
            </a:r>
          </a:p>
        </p:txBody>
      </p:sp>
      <p:sp>
        <p:nvSpPr>
          <p:cNvPr id="20" name="Rectangle: Rounded Corners 19">
            <a:extLst>
              <a:ext uri="{FF2B5EF4-FFF2-40B4-BE49-F238E27FC236}">
                <a16:creationId xmlns:a16="http://schemas.microsoft.com/office/drawing/2014/main" id="{8A2475EF-ADFA-41BC-8FD6-11F3CECBAD13}"/>
              </a:ext>
            </a:extLst>
          </p:cNvPr>
          <p:cNvSpPr>
            <a:spLocks noGrp="1"/>
          </p:cNvSpPr>
          <p:nvPr/>
        </p:nvSpPr>
        <p:spPr>
          <a:xfrm>
            <a:off x="723900" y="4438650"/>
            <a:ext cx="10115550" cy="571500"/>
          </a:xfrm>
          <a:prstGeom prst="roundRect">
            <a:avLst>
              <a:gd name="adj" fmla="val 13333"/>
            </a:avLst>
          </a:prstGeom>
          <a:solidFill>
            <a:srgbClr val="F7F4EE"/>
          </a:solidFill>
          <a:ln w="9525">
            <a:solidFill>
              <a:srgbClr val="D7D0C7"/>
            </a:solidFill>
          </a:ln>
        </p:spPr>
      </p:sp>
      <p:sp>
        <p:nvSpPr>
          <p:cNvPr id="21" name="Rectangle 20">
            <a:extLst>
              <a:ext uri="{FF2B5EF4-FFF2-40B4-BE49-F238E27FC236}">
                <a16:creationId xmlns:a16="http://schemas.microsoft.com/office/drawing/2014/main" id="{9AD7583D-F55E-42EE-B835-BEB24BF71401}"/>
              </a:ext>
            </a:extLst>
          </p:cNvPr>
          <p:cNvSpPr>
            <a:spLocks noGrp="1"/>
          </p:cNvSpPr>
          <p:nvPr/>
        </p:nvSpPr>
        <p:spPr>
          <a:xfrm>
            <a:off x="952500" y="4610100"/>
            <a:ext cx="2667000" cy="209550"/>
          </a:xfrm>
          <a:prstGeom prst="rect">
            <a:avLst/>
          </a:prstGeom>
          <a:noFill/>
          <a:ln w="0">
            <a:noFill/>
          </a:ln>
        </p:spPr>
        <p:txBody>
          <a:bodyPr>
            <a:noAutofit/>
          </a:bodyPr>
          <a:lstStyle/>
          <a:p>
            <a:pPr>
              <a:buNone/>
              <a:defRPr sz="1125" b="1">
                <a:solidFill>
                  <a:srgbClr val="202A44"/>
                </a:solidFill>
                <a:latin typeface="Arial"/>
                <a:ea typeface="Arial"/>
                <a:cs typeface="Arial"/>
              </a:defRPr>
            </a:pPr>
            <a:r>
              <a:rPr sz="1125" b="1">
                <a:solidFill>
                  <a:srgbClr val="202A44"/>
                </a:solidFill>
                <a:latin typeface="Arial"/>
                <a:ea typeface="Arial"/>
                <a:cs typeface="Arial"/>
              </a:rPr>
              <a:t>Service directory</a:t>
            </a:r>
          </a:p>
        </p:txBody>
      </p:sp>
      <p:sp>
        <p:nvSpPr>
          <p:cNvPr id="22" name="Rectangle 21">
            <a:extLst>
              <a:ext uri="{FF2B5EF4-FFF2-40B4-BE49-F238E27FC236}">
                <a16:creationId xmlns:a16="http://schemas.microsoft.com/office/drawing/2014/main" id="{9FB365B6-2ACC-46CF-91A8-41F7B8096D45}"/>
              </a:ext>
            </a:extLst>
          </p:cNvPr>
          <p:cNvSpPr>
            <a:spLocks noGrp="1"/>
          </p:cNvSpPr>
          <p:nvPr/>
        </p:nvSpPr>
        <p:spPr>
          <a:xfrm>
            <a:off x="4095750" y="4562475"/>
            <a:ext cx="2000250" cy="3238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Result UI shows</a:t>
            </a:r>
          </a:p>
          <a:p>
            <a:pPr>
              <a:buNone/>
              <a:defRPr sz="975">
                <a:solidFill>
                  <a:srgbClr val="56647A"/>
                </a:solidFill>
                <a:latin typeface="Arial"/>
                <a:ea typeface="Arial"/>
                <a:cs typeface="Arial"/>
              </a:defRPr>
            </a:pPr>
            <a:r>
              <a:rPr sz="975">
                <a:solidFill>
                  <a:srgbClr val="56647A"/>
                </a:solidFill>
                <a:latin typeface="Arial"/>
                <a:ea typeface="Arial"/>
                <a:cs typeface="Arial"/>
              </a:rPr>
              <a:t>local service direction</a:t>
            </a:r>
          </a:p>
        </p:txBody>
      </p:sp>
      <p:sp>
        <p:nvSpPr>
          <p:cNvPr id="23" name="Rectangle 22">
            <a:extLst>
              <a:ext uri="{FF2B5EF4-FFF2-40B4-BE49-F238E27FC236}">
                <a16:creationId xmlns:a16="http://schemas.microsoft.com/office/drawing/2014/main" id="{D2BD8BB3-2240-47C7-BCC7-DDC8B5F417EA}"/>
              </a:ext>
            </a:extLst>
          </p:cNvPr>
          <p:cNvSpPr>
            <a:spLocks noGrp="1"/>
          </p:cNvSpPr>
          <p:nvPr/>
        </p:nvSpPr>
        <p:spPr>
          <a:xfrm>
            <a:off x="6667500" y="4552950"/>
            <a:ext cx="3905250" cy="342900"/>
          </a:xfrm>
          <a:prstGeom prst="rect">
            <a:avLst/>
          </a:prstGeom>
          <a:noFill/>
          <a:ln w="0">
            <a:noFill/>
          </a:ln>
        </p:spPr>
        <p:txBody>
          <a:bodyPr>
            <a:noAutofit/>
          </a:bodyPr>
          <a:lstStyle/>
          <a:p>
            <a:pPr>
              <a:buNone/>
              <a:defRPr sz="900">
                <a:solidFill>
                  <a:srgbClr val="56647A"/>
                </a:solidFill>
                <a:latin typeface="Arial"/>
                <a:ea typeface="Arial"/>
                <a:cs typeface="Arial"/>
              </a:defRPr>
            </a:pPr>
            <a:r>
              <a:rPr sz="900">
                <a:solidFill>
                  <a:srgbClr val="56647A"/>
                </a:solidFill>
                <a:latin typeface="Arial"/>
                <a:ea typeface="Arial"/>
                <a:cs typeface="Arial"/>
              </a:rPr>
              <a:t>Vision centre or eye-clinic staff propose facility facts; operations administrator publishes verified changes.</a:t>
            </a:r>
          </a:p>
        </p:txBody>
      </p:sp>
      <p:sp>
        <p:nvSpPr>
          <p:cNvPr id="24" name="Rectangle: Rounded Corners 23">
            <a:extLst>
              <a:ext uri="{FF2B5EF4-FFF2-40B4-BE49-F238E27FC236}">
                <a16:creationId xmlns:a16="http://schemas.microsoft.com/office/drawing/2014/main" id="{AF5006AA-C4A2-4D52-B7BC-489377365CAE}"/>
              </a:ext>
            </a:extLst>
          </p:cNvPr>
          <p:cNvSpPr>
            <a:spLocks noGrp="1"/>
          </p:cNvSpPr>
          <p:nvPr/>
        </p:nvSpPr>
        <p:spPr>
          <a:xfrm>
            <a:off x="723900" y="5067300"/>
            <a:ext cx="10115550" cy="571500"/>
          </a:xfrm>
          <a:prstGeom prst="roundRect">
            <a:avLst>
              <a:gd name="adj" fmla="val 13333"/>
            </a:avLst>
          </a:prstGeom>
          <a:solidFill>
            <a:srgbClr val="FFFFFF"/>
          </a:solidFill>
          <a:ln w="9525">
            <a:solidFill>
              <a:srgbClr val="D7D0C7"/>
            </a:solidFill>
          </a:ln>
        </p:spPr>
      </p:sp>
      <p:sp>
        <p:nvSpPr>
          <p:cNvPr id="25" name="Rectangle 24">
            <a:extLst>
              <a:ext uri="{FF2B5EF4-FFF2-40B4-BE49-F238E27FC236}">
                <a16:creationId xmlns:a16="http://schemas.microsoft.com/office/drawing/2014/main" id="{EE5285B9-A024-40E4-8C57-7C2E68A9AA76}"/>
              </a:ext>
            </a:extLst>
          </p:cNvPr>
          <p:cNvSpPr>
            <a:spLocks noGrp="1"/>
          </p:cNvSpPr>
          <p:nvPr/>
        </p:nvSpPr>
        <p:spPr>
          <a:xfrm>
            <a:off x="952500" y="5238750"/>
            <a:ext cx="2667000" cy="209550"/>
          </a:xfrm>
          <a:prstGeom prst="rect">
            <a:avLst/>
          </a:prstGeom>
          <a:noFill/>
          <a:ln w="0">
            <a:noFill/>
          </a:ln>
        </p:spPr>
        <p:txBody>
          <a:bodyPr>
            <a:noAutofit/>
          </a:bodyPr>
          <a:lstStyle/>
          <a:p>
            <a:pPr>
              <a:buNone/>
              <a:defRPr sz="1125" b="1">
                <a:solidFill>
                  <a:srgbClr val="202A44"/>
                </a:solidFill>
                <a:latin typeface="Arial"/>
                <a:ea typeface="Arial"/>
                <a:cs typeface="Arial"/>
              </a:defRPr>
            </a:pPr>
            <a:r>
              <a:rPr sz="1125" b="1">
                <a:solidFill>
                  <a:srgbClr val="202A44"/>
                </a:solidFill>
                <a:latin typeface="Arial"/>
                <a:ea typeface="Arial"/>
                <a:cs typeface="Arial"/>
              </a:rPr>
              <a:t>Content records</a:t>
            </a:r>
          </a:p>
        </p:txBody>
      </p:sp>
      <p:sp>
        <p:nvSpPr>
          <p:cNvPr id="26" name="Rectangle 25">
            <a:extLst>
              <a:ext uri="{FF2B5EF4-FFF2-40B4-BE49-F238E27FC236}">
                <a16:creationId xmlns:a16="http://schemas.microsoft.com/office/drawing/2014/main" id="{E7A3799C-B037-4C8A-98AB-A71843B0DC35}"/>
              </a:ext>
            </a:extLst>
          </p:cNvPr>
          <p:cNvSpPr>
            <a:spLocks noGrp="1"/>
          </p:cNvSpPr>
          <p:nvPr/>
        </p:nvSpPr>
        <p:spPr>
          <a:xfrm>
            <a:off x="4095750" y="5191125"/>
            <a:ext cx="2000250" cy="323850"/>
          </a:xfrm>
          <a:prstGeom prst="rect">
            <a:avLst/>
          </a:prstGeom>
          <a:noFill/>
          <a:ln w="0">
            <a:noFill/>
          </a:ln>
        </p:spPr>
        <p:txBody>
          <a:bodyPr>
            <a:noAutofit/>
          </a:bodyPr>
          <a:lstStyle/>
          <a:p>
            <a:pPr>
              <a:buNone/>
              <a:defRPr sz="975">
                <a:solidFill>
                  <a:srgbClr val="56647A"/>
                </a:solidFill>
                <a:latin typeface="Arial"/>
                <a:ea typeface="Arial"/>
                <a:cs typeface="Arial"/>
              </a:defRPr>
            </a:pPr>
            <a:r>
              <a:rPr sz="975">
                <a:solidFill>
                  <a:srgbClr val="56647A"/>
                </a:solidFill>
                <a:latin typeface="Arial"/>
                <a:ea typeface="Arial"/>
                <a:cs typeface="Arial"/>
              </a:rPr>
              <a:t>Administration, audit,</a:t>
            </a:r>
          </a:p>
          <a:p>
            <a:pPr>
              <a:buNone/>
              <a:defRPr sz="975">
                <a:solidFill>
                  <a:srgbClr val="56647A"/>
                </a:solidFill>
                <a:latin typeface="Arial"/>
                <a:ea typeface="Arial"/>
                <a:cs typeface="Arial"/>
              </a:defRPr>
            </a:pPr>
            <a:r>
              <a:rPr sz="975">
                <a:solidFill>
                  <a:srgbClr val="56647A"/>
                </a:solidFill>
                <a:latin typeface="Arial"/>
                <a:ea typeface="Arial"/>
                <a:cs typeface="Arial"/>
              </a:rPr>
              <a:t>rollback, and traceability</a:t>
            </a:r>
          </a:p>
        </p:txBody>
      </p:sp>
      <p:sp>
        <p:nvSpPr>
          <p:cNvPr id="27" name="Rectangle 26">
            <a:extLst>
              <a:ext uri="{FF2B5EF4-FFF2-40B4-BE49-F238E27FC236}">
                <a16:creationId xmlns:a16="http://schemas.microsoft.com/office/drawing/2014/main" id="{B744FA03-9BB3-444E-86B0-74D8918EC8FB}"/>
              </a:ext>
            </a:extLst>
          </p:cNvPr>
          <p:cNvSpPr>
            <a:spLocks noGrp="1"/>
          </p:cNvSpPr>
          <p:nvPr/>
        </p:nvSpPr>
        <p:spPr>
          <a:xfrm>
            <a:off x="6667500" y="5181600"/>
            <a:ext cx="3905250" cy="342900"/>
          </a:xfrm>
          <a:prstGeom prst="rect">
            <a:avLst/>
          </a:prstGeom>
          <a:noFill/>
          <a:ln w="0">
            <a:noFill/>
          </a:ln>
        </p:spPr>
        <p:txBody>
          <a:bodyPr>
            <a:noAutofit/>
          </a:bodyPr>
          <a:lstStyle/>
          <a:p>
            <a:pPr>
              <a:buNone/>
              <a:defRPr sz="900">
                <a:solidFill>
                  <a:srgbClr val="56647A"/>
                </a:solidFill>
                <a:latin typeface="Arial"/>
                <a:ea typeface="Arial"/>
                <a:cs typeface="Arial"/>
              </a:defRPr>
            </a:pPr>
            <a:r>
              <a:rPr sz="900">
                <a:solidFill>
                  <a:srgbClr val="56647A"/>
                </a:solidFill>
                <a:latin typeface="Arial"/>
                <a:ea typeface="Arial"/>
                <a:cs typeface="Arial"/>
              </a:rPr>
              <a:t>Governance metadata only: owner, source, version, approval status, and change history. Not patient clinical records.</a:t>
            </a:r>
          </a:p>
        </p:txBody>
      </p:sp>
      <p:sp>
        <p:nvSpPr>
          <p:cNvPr id="28" name="Rectangle: Rounded Corners 27">
            <a:extLst>
              <a:ext uri="{FF2B5EF4-FFF2-40B4-BE49-F238E27FC236}">
                <a16:creationId xmlns:a16="http://schemas.microsoft.com/office/drawing/2014/main" id="{FF7626FE-CA4D-40CB-9C0D-C820488941B6}"/>
              </a:ext>
            </a:extLst>
          </p:cNvPr>
          <p:cNvSpPr>
            <a:spLocks noGrp="1"/>
          </p:cNvSpPr>
          <p:nvPr/>
        </p:nvSpPr>
        <p:spPr>
          <a:xfrm>
            <a:off x="1066800" y="5810250"/>
            <a:ext cx="10058400" cy="457200"/>
          </a:xfrm>
          <a:prstGeom prst="roundRect">
            <a:avLst>
              <a:gd name="adj" fmla="val 16667"/>
            </a:avLst>
          </a:prstGeom>
          <a:solidFill>
            <a:srgbClr val="E9E7F5"/>
          </a:solidFill>
          <a:ln w="0">
            <a:noFill/>
          </a:ln>
        </p:spPr>
      </p:sp>
      <p:sp>
        <p:nvSpPr>
          <p:cNvPr id="29" name="Rectangle 28">
            <a:extLst>
              <a:ext uri="{FF2B5EF4-FFF2-40B4-BE49-F238E27FC236}">
                <a16:creationId xmlns:a16="http://schemas.microsoft.com/office/drawing/2014/main" id="{0873250F-B678-4BFC-A1DC-46BF4D8332DC}"/>
              </a:ext>
            </a:extLst>
          </p:cNvPr>
          <p:cNvSpPr>
            <a:spLocks noGrp="1"/>
          </p:cNvSpPr>
          <p:nvPr/>
        </p:nvSpPr>
        <p:spPr>
          <a:xfrm>
            <a:off x="1390650" y="5953125"/>
            <a:ext cx="9410700" cy="171450"/>
          </a:xfrm>
          <a:prstGeom prst="rect">
            <a:avLst/>
          </a:prstGeom>
          <a:noFill/>
          <a:ln w="0">
            <a:noFill/>
          </a:ln>
        </p:spPr>
        <p:txBody>
          <a:bodyPr>
            <a:noAutofit/>
          </a:bodyPr>
          <a:lstStyle/>
          <a:p>
            <a:pPr algn="ctr">
              <a:buNone/>
              <a:defRPr sz="975" b="1">
                <a:solidFill>
                  <a:srgbClr val="202A44"/>
                </a:solidFill>
                <a:latin typeface="Arial"/>
                <a:ea typeface="Arial"/>
                <a:cs typeface="Arial"/>
              </a:defRPr>
            </a:pPr>
            <a:r>
              <a:rPr sz="975" b="1">
                <a:solidFill>
                  <a:srgbClr val="202A44"/>
                </a:solidFill>
                <a:latin typeface="Arial"/>
                <a:ea typeface="Arial"/>
                <a:cs typeface="Arial"/>
              </a:rPr>
              <a:t>Lifecycle: authoritative source → clinical draft → clinical review and sign-off → versioned PostgreSQL publication → route-validation tests → monitored release or rollback.</a:t>
            </a:r>
          </a:p>
        </p:txBody>
      </p:sp>
      <p:sp>
        <p:nvSpPr>
          <p:cNvPr id="30" name="Rectangle 29">
            <a:extLst>
              <a:ext uri="{FF2B5EF4-FFF2-40B4-BE49-F238E27FC236}">
                <a16:creationId xmlns:a16="http://schemas.microsoft.com/office/drawing/2014/main" id="{708CB568-CA6E-4CD2-ABA1-008D65FB37D5}"/>
              </a:ext>
            </a:extLst>
          </p:cNvPr>
          <p:cNvSpPr>
            <a:spLocks noGrp="1"/>
          </p:cNvSpPr>
          <p:nvPr/>
        </p:nvSpPr>
        <p:spPr>
          <a:xfrm>
            <a:off x="1466850" y="6419850"/>
            <a:ext cx="9258300" cy="133350"/>
          </a:xfrm>
          <a:prstGeom prst="rect">
            <a:avLst/>
          </a:prstGeom>
          <a:noFill/>
          <a:ln w="0">
            <a:noFill/>
          </a:ln>
        </p:spPr>
        <p:txBody>
          <a:bodyPr>
            <a:noAutofit/>
          </a:bodyPr>
          <a:lstStyle/>
          <a:p>
            <a:pPr algn="ctr">
              <a:buNone/>
              <a:defRPr sz="900">
                <a:solidFill>
                  <a:srgbClr val="56647A"/>
                </a:solidFill>
                <a:latin typeface="Arial"/>
                <a:ea typeface="Arial"/>
                <a:cs typeface="Arial"/>
              </a:defRPr>
            </a:pPr>
            <a:r>
              <a:rPr sz="900">
                <a:solidFill>
                  <a:srgbClr val="56647A"/>
                </a:solidFill>
                <a:latin typeface="Arial"/>
                <a:ea typeface="Arial"/>
                <a:cs typeface="Arial"/>
              </a:rPr>
              <a:t>Current MVP uses static demo content. A production release requires a governed approval, validation, release, and rollback process.</a:t>
            </a:r>
          </a:p>
        </p:txBody>
      </p:sp>
      <p:sp>
        <p:nvSpPr>
          <p:cNvPr id="31" name="Rectangle 30">
            <a:extLst>
              <a:ext uri="{FF2B5EF4-FFF2-40B4-BE49-F238E27FC236}">
                <a16:creationId xmlns:a16="http://schemas.microsoft.com/office/drawing/2014/main" id="{899F639A-04C8-423D-BE9C-E4614F8FD65E}"/>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56647A"/>
                </a:solidFill>
                <a:latin typeface="Arial"/>
                <a:ea typeface="Arial"/>
                <a:cs typeface="Arial"/>
              </a:defRPr>
            </a:pPr>
            <a:r>
              <a:rPr sz="900">
                <a:solidFill>
                  <a:srgbClr val="56647A"/>
                </a:solidFill>
                <a:latin typeface="Arial"/>
                <a:ea typeface="Arial"/>
                <a:cs typeface="Arial"/>
              </a:rPr>
              <a:t>9</a:t>
            </a:r>
          </a:p>
        </p:txBody>
      </p:sp>
    </p:spTree>
    <p:extLst>
      <p:ext uri="{BB962C8B-B14F-4D97-AF65-F5344CB8AC3E}">
        <p14:creationId xmlns:p14="http://schemas.microsoft.com/office/powerpoint/2010/main" val="1696823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D949BEC-D133-42F3-A7FD-B048A4506448}"/>
              </a:ext>
            </a:extLst>
          </p:cNvPr>
          <p:cNvSpPr>
            <a:spLocks noGrp="1"/>
          </p:cNvSpPr>
          <p:nvPr/>
        </p:nvSpPr>
        <p:spPr>
          <a:xfrm>
            <a:off x="0" y="0"/>
            <a:ext cx="12192000" cy="6858000"/>
          </a:xfrm>
          <a:prstGeom prst="rect">
            <a:avLst/>
          </a:prstGeom>
          <a:solidFill>
            <a:srgbClr val="DDE8F6"/>
          </a:solidFill>
          <a:ln w="0">
            <a:noFill/>
          </a:ln>
        </p:spPr>
      </p:sp>
      <p:sp>
        <p:nvSpPr>
          <p:cNvPr id="2" name="Rectangle 1">
            <a:extLst>
              <a:ext uri="{FF2B5EF4-FFF2-40B4-BE49-F238E27FC236}">
                <a16:creationId xmlns:a16="http://schemas.microsoft.com/office/drawing/2014/main" id="{8ECB2678-3816-435A-A209-FD65E0AC9B2D}"/>
              </a:ext>
            </a:extLst>
          </p:cNvPr>
          <p:cNvSpPr>
            <a:spLocks noGrp="1"/>
          </p:cNvSpPr>
          <p:nvPr/>
        </p:nvSpPr>
        <p:spPr>
          <a:xfrm>
            <a:off x="685800" y="419100"/>
            <a:ext cx="666750" cy="209550"/>
          </a:xfrm>
          <a:prstGeom prst="rect">
            <a:avLst/>
          </a:prstGeom>
          <a:noFill/>
          <a:ln w="0">
            <a:noFill/>
          </a:ln>
        </p:spPr>
        <p:txBody>
          <a:bodyPr>
            <a:noAutofit/>
          </a:bodyPr>
          <a:lstStyle/>
          <a:p>
            <a:pPr>
              <a:buNone/>
              <a:defRPr sz="1200" b="1">
                <a:solidFill>
                  <a:srgbClr val="E7A048"/>
                </a:solidFill>
                <a:latin typeface="Arial"/>
                <a:ea typeface="Arial"/>
                <a:cs typeface="Arial"/>
              </a:defRPr>
            </a:pPr>
            <a:r>
              <a:rPr sz="1200" b="1">
                <a:solidFill>
                  <a:srgbClr val="E7A048"/>
                </a:solidFill>
                <a:latin typeface="Arial"/>
                <a:ea typeface="Arial"/>
                <a:cs typeface="Arial"/>
              </a:rPr>
              <a:t>10</a:t>
            </a:r>
          </a:p>
        </p:txBody>
      </p:sp>
      <p:sp>
        <p:nvSpPr>
          <p:cNvPr id="3" name="Rectangle 2">
            <a:extLst>
              <a:ext uri="{FF2B5EF4-FFF2-40B4-BE49-F238E27FC236}">
                <a16:creationId xmlns:a16="http://schemas.microsoft.com/office/drawing/2014/main" id="{7745FF17-9074-48AE-BACB-68C67DF6ABBF}"/>
              </a:ext>
            </a:extLst>
          </p:cNvPr>
          <p:cNvSpPr>
            <a:spLocks noGrp="1"/>
          </p:cNvSpPr>
          <p:nvPr/>
        </p:nvSpPr>
        <p:spPr>
          <a:xfrm>
            <a:off x="9810750" y="428625"/>
            <a:ext cx="1695450" cy="190500"/>
          </a:xfrm>
          <a:prstGeom prst="rect">
            <a:avLst/>
          </a:prstGeom>
          <a:noFill/>
          <a:ln w="0">
            <a:noFill/>
          </a:ln>
        </p:spPr>
        <p:txBody>
          <a:bodyPr>
            <a:noAutofit/>
          </a:bodyPr>
          <a:lstStyle/>
          <a:p>
            <a:pPr algn="r">
              <a:buNone/>
              <a:defRPr sz="975" b="1">
                <a:solidFill>
                  <a:srgbClr val="4656A8"/>
                </a:solidFill>
                <a:latin typeface="Arial"/>
                <a:ea typeface="Arial"/>
                <a:cs typeface="Arial"/>
              </a:defRPr>
            </a:pPr>
            <a:r>
              <a:rPr sz="975" b="1">
                <a:solidFill>
                  <a:srgbClr val="4656A8"/>
                </a:solidFill>
                <a:latin typeface="Arial"/>
                <a:ea typeface="Arial"/>
                <a:cs typeface="Arial"/>
              </a:rPr>
              <a:t>NETRAJYOTI AI</a:t>
            </a:r>
          </a:p>
        </p:txBody>
      </p:sp>
      <p:sp>
        <p:nvSpPr>
          <p:cNvPr id="4" name="Rectangle 3">
            <a:extLst>
              <a:ext uri="{FF2B5EF4-FFF2-40B4-BE49-F238E27FC236}">
                <a16:creationId xmlns:a16="http://schemas.microsoft.com/office/drawing/2014/main" id="{9CBD2893-DF95-4725-BA67-04EADB1506A4}"/>
              </a:ext>
            </a:extLst>
          </p:cNvPr>
          <p:cNvSpPr>
            <a:spLocks noGrp="1"/>
          </p:cNvSpPr>
          <p:nvPr/>
        </p:nvSpPr>
        <p:spPr>
          <a:xfrm>
            <a:off x="685800" y="762000"/>
            <a:ext cx="10287000" cy="457200"/>
          </a:xfrm>
          <a:prstGeom prst="rect">
            <a:avLst/>
          </a:prstGeom>
          <a:noFill/>
          <a:ln w="0">
            <a:noFill/>
          </a:ln>
        </p:spPr>
        <p:txBody>
          <a:bodyPr>
            <a:noAutofit/>
          </a:bodyPr>
          <a:lstStyle/>
          <a:p>
            <a:pPr>
              <a:buNone/>
              <a:defRPr sz="2550" b="1">
                <a:solidFill>
                  <a:srgbClr val="202A44"/>
                </a:solidFill>
                <a:latin typeface="Arial"/>
                <a:ea typeface="Arial"/>
                <a:cs typeface="Arial"/>
              </a:defRPr>
            </a:pPr>
            <a:r>
              <a:rPr sz="2550" b="1">
                <a:solidFill>
                  <a:srgbClr val="202A44"/>
                </a:solidFill>
                <a:latin typeface="Arial"/>
                <a:ea typeface="Arial"/>
                <a:cs typeface="Arial"/>
              </a:rPr>
              <a:t>Population reach and pilot scope</a:t>
            </a:r>
          </a:p>
        </p:txBody>
      </p:sp>
      <p:sp>
        <p:nvSpPr>
          <p:cNvPr id="5" name="Rectangle 4">
            <a:extLst>
              <a:ext uri="{FF2B5EF4-FFF2-40B4-BE49-F238E27FC236}">
                <a16:creationId xmlns:a16="http://schemas.microsoft.com/office/drawing/2014/main" id="{A0B88717-46D4-4FC6-8285-A23A286622AB}"/>
              </a:ext>
            </a:extLst>
          </p:cNvPr>
          <p:cNvSpPr>
            <a:spLocks noGrp="1"/>
          </p:cNvSpPr>
          <p:nvPr/>
        </p:nvSpPr>
        <p:spPr>
          <a:xfrm>
            <a:off x="704850" y="1343025"/>
            <a:ext cx="10287000" cy="266700"/>
          </a:xfrm>
          <a:prstGeom prst="rect">
            <a:avLst/>
          </a:prstGeom>
          <a:noFill/>
          <a:ln w="0">
            <a:noFill/>
          </a:ln>
        </p:spPr>
        <p:txBody>
          <a:bodyPr>
            <a:noAutofit/>
          </a:bodyPr>
          <a:lstStyle/>
          <a:p>
            <a:pPr>
              <a:buNone/>
              <a:defRPr sz="1275">
                <a:solidFill>
                  <a:srgbClr val="56647A"/>
                </a:solidFill>
                <a:latin typeface="Arial"/>
                <a:ea typeface="Arial"/>
                <a:cs typeface="Arial"/>
              </a:defRPr>
            </a:pPr>
            <a:r>
              <a:rPr sz="1275">
                <a:solidFill>
                  <a:srgbClr val="56647A"/>
                </a:solidFill>
                <a:latin typeface="Arial"/>
                <a:ea typeface="Arial"/>
                <a:cs typeface="Arial"/>
              </a:rPr>
              <a:t>Latest detailed Census baseline for potential reach. Pilot scope requires explicit design decisions.</a:t>
            </a:r>
          </a:p>
        </p:txBody>
      </p:sp>
      <p:sp>
        <p:nvSpPr>
          <p:cNvPr id="6" name="Rectangle 5">
            <a:extLst>
              <a:ext uri="{FF2B5EF4-FFF2-40B4-BE49-F238E27FC236}">
                <a16:creationId xmlns:a16="http://schemas.microsoft.com/office/drawing/2014/main" id="{1D3F69CE-BEDE-4589-B648-E65CBD0CB15C}"/>
              </a:ext>
            </a:extLst>
          </p:cNvPr>
          <p:cNvSpPr>
            <a:spLocks noGrp="1"/>
          </p:cNvSpPr>
          <p:nvPr/>
        </p:nvSpPr>
        <p:spPr>
          <a:xfrm>
            <a:off x="685800" y="1752600"/>
            <a:ext cx="10820400" cy="19050"/>
          </a:xfrm>
          <a:prstGeom prst="rect">
            <a:avLst/>
          </a:prstGeom>
          <a:solidFill>
            <a:srgbClr val="D7D0C7"/>
          </a:solidFill>
          <a:ln w="0">
            <a:noFill/>
          </a:ln>
        </p:spPr>
      </p:sp>
      <p:sp>
        <p:nvSpPr>
          <p:cNvPr id="7" name="Rectangle: Rounded Corners 6">
            <a:extLst>
              <a:ext uri="{FF2B5EF4-FFF2-40B4-BE49-F238E27FC236}">
                <a16:creationId xmlns:a16="http://schemas.microsoft.com/office/drawing/2014/main" id="{DA923E83-98F7-49CE-AB1C-9D9C205D8C94}"/>
              </a:ext>
            </a:extLst>
          </p:cNvPr>
          <p:cNvSpPr>
            <a:spLocks noGrp="1"/>
          </p:cNvSpPr>
          <p:nvPr/>
        </p:nvSpPr>
        <p:spPr>
          <a:xfrm>
            <a:off x="723900" y="2628900"/>
            <a:ext cx="3048000" cy="2324100"/>
          </a:xfrm>
          <a:prstGeom prst="roundRect">
            <a:avLst>
              <a:gd name="adj" fmla="val 3279"/>
            </a:avLst>
          </a:prstGeom>
          <a:solidFill>
            <a:srgbClr val="FFFFFF"/>
          </a:solidFill>
          <a:ln w="9525">
            <a:solidFill>
              <a:srgbClr val="D7D0C7"/>
            </a:solidFill>
          </a:ln>
        </p:spPr>
      </p:sp>
      <p:sp>
        <p:nvSpPr>
          <p:cNvPr id="8" name="Rectangle: Rounded Corners 7">
            <a:extLst>
              <a:ext uri="{FF2B5EF4-FFF2-40B4-BE49-F238E27FC236}">
                <a16:creationId xmlns:a16="http://schemas.microsoft.com/office/drawing/2014/main" id="{A6939C80-A517-4142-9939-37C073BE36D3}"/>
              </a:ext>
            </a:extLst>
          </p:cNvPr>
          <p:cNvSpPr>
            <a:spLocks noGrp="1"/>
          </p:cNvSpPr>
          <p:nvPr/>
        </p:nvSpPr>
        <p:spPr>
          <a:xfrm>
            <a:off x="723900" y="2628900"/>
            <a:ext cx="3048000" cy="104775"/>
          </a:xfrm>
          <a:prstGeom prst="roundRect">
            <a:avLst>
              <a:gd name="adj" fmla="val 50000"/>
            </a:avLst>
          </a:prstGeom>
          <a:solidFill>
            <a:srgbClr val="237A7A"/>
          </a:solidFill>
          <a:ln w="0">
            <a:noFill/>
          </a:ln>
        </p:spPr>
      </p:sp>
      <p:sp>
        <p:nvSpPr>
          <p:cNvPr id="9" name="Rectangle 8">
            <a:extLst>
              <a:ext uri="{FF2B5EF4-FFF2-40B4-BE49-F238E27FC236}">
                <a16:creationId xmlns:a16="http://schemas.microsoft.com/office/drawing/2014/main" id="{464B95B5-5C27-44E2-A365-24F018D055A2}"/>
              </a:ext>
            </a:extLst>
          </p:cNvPr>
          <p:cNvSpPr>
            <a:spLocks noGrp="1"/>
          </p:cNvSpPr>
          <p:nvPr/>
        </p:nvSpPr>
        <p:spPr>
          <a:xfrm>
            <a:off x="971550" y="2952750"/>
            <a:ext cx="1143000" cy="209550"/>
          </a:xfrm>
          <a:prstGeom prst="rect">
            <a:avLst/>
          </a:prstGeom>
          <a:noFill/>
          <a:ln w="0">
            <a:noFill/>
          </a:ln>
        </p:spPr>
        <p:txBody>
          <a:bodyPr>
            <a:noAutofit/>
          </a:bodyPr>
          <a:lstStyle/>
          <a:p>
            <a:pPr>
              <a:buNone/>
              <a:defRPr sz="1275" b="1">
                <a:solidFill>
                  <a:srgbClr val="237A7A"/>
                </a:solidFill>
                <a:latin typeface="Arial"/>
                <a:ea typeface="Arial"/>
                <a:cs typeface="Arial"/>
              </a:defRPr>
            </a:pPr>
            <a:r>
              <a:rPr sz="1275" b="1">
                <a:solidFill>
                  <a:srgbClr val="237A7A"/>
                </a:solidFill>
                <a:latin typeface="Arial"/>
                <a:ea typeface="Arial"/>
                <a:cs typeface="Arial"/>
              </a:rPr>
              <a:t>TAM</a:t>
            </a:r>
          </a:p>
        </p:txBody>
      </p:sp>
      <p:sp>
        <p:nvSpPr>
          <p:cNvPr id="10" name="Rectangle 9">
            <a:extLst>
              <a:ext uri="{FF2B5EF4-FFF2-40B4-BE49-F238E27FC236}">
                <a16:creationId xmlns:a16="http://schemas.microsoft.com/office/drawing/2014/main" id="{82B8A059-20EB-43F4-AF72-2C59BA234804}"/>
              </a:ext>
            </a:extLst>
          </p:cNvPr>
          <p:cNvSpPr>
            <a:spLocks noGrp="1"/>
          </p:cNvSpPr>
          <p:nvPr/>
        </p:nvSpPr>
        <p:spPr>
          <a:xfrm>
            <a:off x="971550" y="3352800"/>
            <a:ext cx="2476500" cy="361950"/>
          </a:xfrm>
          <a:prstGeom prst="rect">
            <a:avLst/>
          </a:prstGeom>
          <a:noFill/>
          <a:ln w="0">
            <a:noFill/>
          </a:ln>
        </p:spPr>
        <p:txBody>
          <a:bodyPr>
            <a:noAutofit/>
          </a:bodyPr>
          <a:lstStyle/>
          <a:p>
            <a:pPr>
              <a:buNone/>
              <a:defRPr sz="2550" b="1">
                <a:solidFill>
                  <a:srgbClr val="202A44"/>
                </a:solidFill>
                <a:latin typeface="Arial"/>
                <a:ea typeface="Arial"/>
                <a:cs typeface="Arial"/>
              </a:defRPr>
            </a:pPr>
            <a:r>
              <a:rPr sz="2550" b="1">
                <a:solidFill>
                  <a:srgbClr val="202A44"/>
                </a:solidFill>
                <a:latin typeface="Arial"/>
                <a:ea typeface="Arial"/>
                <a:cs typeface="Arial"/>
              </a:rPr>
              <a:t>97.2M</a:t>
            </a:r>
          </a:p>
        </p:txBody>
      </p:sp>
      <p:sp>
        <p:nvSpPr>
          <p:cNvPr id="11" name="Rectangle 10">
            <a:extLst>
              <a:ext uri="{FF2B5EF4-FFF2-40B4-BE49-F238E27FC236}">
                <a16:creationId xmlns:a16="http://schemas.microsoft.com/office/drawing/2014/main" id="{EA681AB9-C785-483F-8F84-F208057DF416}"/>
              </a:ext>
            </a:extLst>
          </p:cNvPr>
          <p:cNvSpPr>
            <a:spLocks noGrp="1"/>
          </p:cNvSpPr>
          <p:nvPr/>
        </p:nvSpPr>
        <p:spPr>
          <a:xfrm>
            <a:off x="971550" y="3943350"/>
            <a:ext cx="2476500" cy="381000"/>
          </a:xfrm>
          <a:prstGeom prst="rect">
            <a:avLst/>
          </a:prstGeom>
          <a:noFill/>
          <a:ln w="0">
            <a:noFill/>
          </a:ln>
        </p:spPr>
        <p:txBody>
          <a:bodyPr>
            <a:noAutofit/>
          </a:bodyPr>
          <a:lstStyle/>
          <a:p>
            <a:pPr>
              <a:buNone/>
              <a:defRPr sz="1125" b="1">
                <a:solidFill>
                  <a:srgbClr val="1E2A3B"/>
                </a:solidFill>
                <a:latin typeface="Arial"/>
                <a:ea typeface="Arial"/>
                <a:cs typeface="Arial"/>
              </a:defRPr>
            </a:pPr>
            <a:r>
              <a:rPr sz="1125" b="1">
                <a:solidFill>
                  <a:srgbClr val="1E2A3B"/>
                </a:solidFill>
                <a:latin typeface="Arial"/>
                <a:ea typeface="Arial"/>
                <a:cs typeface="Arial"/>
              </a:rPr>
              <a:t>Bengali mother-tongue speakers in India</a:t>
            </a:r>
          </a:p>
        </p:txBody>
      </p:sp>
      <p:sp>
        <p:nvSpPr>
          <p:cNvPr id="12" name="Rectangle 11">
            <a:extLst>
              <a:ext uri="{FF2B5EF4-FFF2-40B4-BE49-F238E27FC236}">
                <a16:creationId xmlns:a16="http://schemas.microsoft.com/office/drawing/2014/main" id="{EEFDDBA5-80CE-4DB6-917C-A3D95514D9FD}"/>
              </a:ext>
            </a:extLst>
          </p:cNvPr>
          <p:cNvSpPr>
            <a:spLocks noGrp="1"/>
          </p:cNvSpPr>
          <p:nvPr/>
        </p:nvSpPr>
        <p:spPr>
          <a:xfrm>
            <a:off x="971550" y="4438650"/>
            <a:ext cx="2476500" cy="400050"/>
          </a:xfrm>
          <a:prstGeom prst="rect">
            <a:avLst/>
          </a:prstGeom>
          <a:noFill/>
          <a:ln w="0">
            <a:noFill/>
          </a:ln>
        </p:spPr>
        <p:txBody>
          <a:bodyPr>
            <a:noAutofit/>
          </a:bodyPr>
          <a:lstStyle/>
          <a:p>
            <a:pPr>
              <a:buNone/>
              <a:defRPr sz="900">
                <a:solidFill>
                  <a:srgbClr val="56647A"/>
                </a:solidFill>
                <a:latin typeface="Arial"/>
                <a:ea typeface="Arial"/>
                <a:cs typeface="Arial"/>
              </a:defRPr>
            </a:pPr>
            <a:r>
              <a:rPr sz="900">
                <a:solidFill>
                  <a:srgbClr val="56647A"/>
                </a:solidFill>
                <a:latin typeface="Arial"/>
                <a:ea typeface="Arial"/>
                <a:cs typeface="Arial"/>
              </a:rPr>
              <a:t>Census 2011 detailed baseline</a:t>
            </a:r>
          </a:p>
        </p:txBody>
      </p:sp>
      <p:sp>
        <p:nvSpPr>
          <p:cNvPr id="13" name="Rectangle: Rounded Corners 12">
            <a:extLst>
              <a:ext uri="{FF2B5EF4-FFF2-40B4-BE49-F238E27FC236}">
                <a16:creationId xmlns:a16="http://schemas.microsoft.com/office/drawing/2014/main" id="{64B61711-21CA-41BB-9FB3-2710F476E74B}"/>
              </a:ext>
            </a:extLst>
          </p:cNvPr>
          <p:cNvSpPr>
            <a:spLocks noGrp="1"/>
          </p:cNvSpPr>
          <p:nvPr/>
        </p:nvSpPr>
        <p:spPr>
          <a:xfrm>
            <a:off x="4152900" y="2628900"/>
            <a:ext cx="3048000" cy="2324100"/>
          </a:xfrm>
          <a:prstGeom prst="roundRect">
            <a:avLst>
              <a:gd name="adj" fmla="val 3279"/>
            </a:avLst>
          </a:prstGeom>
          <a:solidFill>
            <a:srgbClr val="FFFFFF"/>
          </a:solidFill>
          <a:ln w="9525">
            <a:solidFill>
              <a:srgbClr val="D7D0C7"/>
            </a:solidFill>
          </a:ln>
        </p:spPr>
      </p:sp>
      <p:sp>
        <p:nvSpPr>
          <p:cNvPr id="14" name="Rectangle: Rounded Corners 13">
            <a:extLst>
              <a:ext uri="{FF2B5EF4-FFF2-40B4-BE49-F238E27FC236}">
                <a16:creationId xmlns:a16="http://schemas.microsoft.com/office/drawing/2014/main" id="{1F8A9B45-7783-4C33-AEC9-1ADD8F819BBF}"/>
              </a:ext>
            </a:extLst>
          </p:cNvPr>
          <p:cNvSpPr>
            <a:spLocks noGrp="1"/>
          </p:cNvSpPr>
          <p:nvPr/>
        </p:nvSpPr>
        <p:spPr>
          <a:xfrm>
            <a:off x="4152900" y="2628900"/>
            <a:ext cx="3048000" cy="104775"/>
          </a:xfrm>
          <a:prstGeom prst="roundRect">
            <a:avLst>
              <a:gd name="adj" fmla="val 50000"/>
            </a:avLst>
          </a:prstGeom>
          <a:solidFill>
            <a:srgbClr val="4656A8"/>
          </a:solidFill>
          <a:ln w="0">
            <a:noFill/>
          </a:ln>
        </p:spPr>
      </p:sp>
      <p:sp>
        <p:nvSpPr>
          <p:cNvPr id="15" name="Rectangle 14">
            <a:extLst>
              <a:ext uri="{FF2B5EF4-FFF2-40B4-BE49-F238E27FC236}">
                <a16:creationId xmlns:a16="http://schemas.microsoft.com/office/drawing/2014/main" id="{4F26B981-F638-4896-8F53-B496A638D039}"/>
              </a:ext>
            </a:extLst>
          </p:cNvPr>
          <p:cNvSpPr>
            <a:spLocks noGrp="1"/>
          </p:cNvSpPr>
          <p:nvPr/>
        </p:nvSpPr>
        <p:spPr>
          <a:xfrm>
            <a:off x="4400550" y="2952750"/>
            <a:ext cx="1143000" cy="209550"/>
          </a:xfrm>
          <a:prstGeom prst="rect">
            <a:avLst/>
          </a:prstGeom>
          <a:noFill/>
          <a:ln w="0">
            <a:noFill/>
          </a:ln>
        </p:spPr>
        <p:txBody>
          <a:bodyPr>
            <a:noAutofit/>
          </a:bodyPr>
          <a:lstStyle/>
          <a:p>
            <a:pPr>
              <a:buNone/>
              <a:defRPr sz="1275" b="1">
                <a:solidFill>
                  <a:srgbClr val="4656A8"/>
                </a:solidFill>
                <a:latin typeface="Arial"/>
                <a:ea typeface="Arial"/>
                <a:cs typeface="Arial"/>
              </a:defRPr>
            </a:pPr>
            <a:r>
              <a:rPr sz="1275" b="1">
                <a:solidFill>
                  <a:srgbClr val="4656A8"/>
                </a:solidFill>
                <a:latin typeface="Arial"/>
                <a:ea typeface="Arial"/>
                <a:cs typeface="Arial"/>
              </a:rPr>
              <a:t>SAM</a:t>
            </a:r>
          </a:p>
        </p:txBody>
      </p:sp>
      <p:sp>
        <p:nvSpPr>
          <p:cNvPr id="16" name="Rectangle 15">
            <a:extLst>
              <a:ext uri="{FF2B5EF4-FFF2-40B4-BE49-F238E27FC236}">
                <a16:creationId xmlns:a16="http://schemas.microsoft.com/office/drawing/2014/main" id="{29374AAA-CAFC-4067-BEC3-4D6F106ECCF2}"/>
              </a:ext>
            </a:extLst>
          </p:cNvPr>
          <p:cNvSpPr>
            <a:spLocks noGrp="1"/>
          </p:cNvSpPr>
          <p:nvPr/>
        </p:nvSpPr>
        <p:spPr>
          <a:xfrm>
            <a:off x="4400550" y="3352800"/>
            <a:ext cx="2476500" cy="361950"/>
          </a:xfrm>
          <a:prstGeom prst="rect">
            <a:avLst/>
          </a:prstGeom>
          <a:noFill/>
          <a:ln w="0">
            <a:noFill/>
          </a:ln>
        </p:spPr>
        <p:txBody>
          <a:bodyPr>
            <a:noAutofit/>
          </a:bodyPr>
          <a:lstStyle/>
          <a:p>
            <a:pPr>
              <a:buNone/>
              <a:defRPr sz="2550" b="1">
                <a:solidFill>
                  <a:srgbClr val="202A44"/>
                </a:solidFill>
                <a:latin typeface="Arial"/>
                <a:ea typeface="Arial"/>
                <a:cs typeface="Arial"/>
              </a:defRPr>
            </a:pPr>
            <a:r>
              <a:rPr sz="2550" b="1">
                <a:solidFill>
                  <a:srgbClr val="202A44"/>
                </a:solidFill>
                <a:latin typeface="Arial"/>
                <a:ea typeface="Arial"/>
                <a:cs typeface="Arial"/>
              </a:rPr>
              <a:t>18.2M</a:t>
            </a:r>
          </a:p>
        </p:txBody>
      </p:sp>
      <p:sp>
        <p:nvSpPr>
          <p:cNvPr id="17" name="Rectangle 16">
            <a:extLst>
              <a:ext uri="{FF2B5EF4-FFF2-40B4-BE49-F238E27FC236}">
                <a16:creationId xmlns:a16="http://schemas.microsoft.com/office/drawing/2014/main" id="{61AB6813-FA93-4B4F-B348-8AD6B21C23E6}"/>
              </a:ext>
            </a:extLst>
          </p:cNvPr>
          <p:cNvSpPr>
            <a:spLocks noGrp="1"/>
          </p:cNvSpPr>
          <p:nvPr/>
        </p:nvSpPr>
        <p:spPr>
          <a:xfrm>
            <a:off x="4400550" y="3943350"/>
            <a:ext cx="2476500" cy="381000"/>
          </a:xfrm>
          <a:prstGeom prst="rect">
            <a:avLst/>
          </a:prstGeom>
          <a:noFill/>
          <a:ln w="0">
            <a:noFill/>
          </a:ln>
        </p:spPr>
        <p:txBody>
          <a:bodyPr>
            <a:noAutofit/>
          </a:bodyPr>
          <a:lstStyle/>
          <a:p>
            <a:pPr>
              <a:buNone/>
              <a:defRPr sz="1125" b="1">
                <a:solidFill>
                  <a:srgbClr val="1E2A3B"/>
                </a:solidFill>
                <a:latin typeface="Arial"/>
                <a:ea typeface="Arial"/>
                <a:cs typeface="Arial"/>
              </a:defRPr>
            </a:pPr>
            <a:r>
              <a:rPr sz="1125" b="1">
                <a:solidFill>
                  <a:srgbClr val="1E2A3B"/>
                </a:solidFill>
                <a:latin typeface="Arial"/>
                <a:ea typeface="Arial"/>
                <a:cs typeface="Arial"/>
              </a:rPr>
              <a:t>Residents in North and South 24 Parganas</a:t>
            </a:r>
          </a:p>
        </p:txBody>
      </p:sp>
      <p:sp>
        <p:nvSpPr>
          <p:cNvPr id="18" name="Rectangle 17">
            <a:extLst>
              <a:ext uri="{FF2B5EF4-FFF2-40B4-BE49-F238E27FC236}">
                <a16:creationId xmlns:a16="http://schemas.microsoft.com/office/drawing/2014/main" id="{B3C4C9AE-A7F4-46DA-ABC0-A8A9093D668B}"/>
              </a:ext>
            </a:extLst>
          </p:cNvPr>
          <p:cNvSpPr>
            <a:spLocks noGrp="1"/>
          </p:cNvSpPr>
          <p:nvPr/>
        </p:nvSpPr>
        <p:spPr>
          <a:xfrm>
            <a:off x="4400550" y="4438650"/>
            <a:ext cx="2476500" cy="400050"/>
          </a:xfrm>
          <a:prstGeom prst="rect">
            <a:avLst/>
          </a:prstGeom>
          <a:noFill/>
          <a:ln w="0">
            <a:noFill/>
          </a:ln>
        </p:spPr>
        <p:txBody>
          <a:bodyPr>
            <a:noAutofit/>
          </a:bodyPr>
          <a:lstStyle/>
          <a:p>
            <a:pPr>
              <a:buNone/>
              <a:defRPr sz="900">
                <a:solidFill>
                  <a:srgbClr val="56647A"/>
                </a:solidFill>
                <a:latin typeface="Arial"/>
                <a:ea typeface="Arial"/>
                <a:cs typeface="Arial"/>
              </a:defRPr>
            </a:pPr>
            <a:r>
              <a:rPr sz="900">
                <a:solidFill>
                  <a:srgbClr val="56647A"/>
                </a:solidFill>
                <a:latin typeface="Arial"/>
                <a:ea typeface="Arial"/>
                <a:cs typeface="Arial"/>
              </a:rPr>
              <a:t>Census 2011 district baseline</a:t>
            </a:r>
          </a:p>
        </p:txBody>
      </p:sp>
      <p:sp>
        <p:nvSpPr>
          <p:cNvPr id="19" name="Rectangle: Rounded Corners 18">
            <a:extLst>
              <a:ext uri="{FF2B5EF4-FFF2-40B4-BE49-F238E27FC236}">
                <a16:creationId xmlns:a16="http://schemas.microsoft.com/office/drawing/2014/main" id="{826000EB-EC2B-4F37-9E2E-6A1547099154}"/>
              </a:ext>
            </a:extLst>
          </p:cNvPr>
          <p:cNvSpPr>
            <a:spLocks noGrp="1"/>
          </p:cNvSpPr>
          <p:nvPr/>
        </p:nvSpPr>
        <p:spPr>
          <a:xfrm>
            <a:off x="7581900" y="2628900"/>
            <a:ext cx="3048000" cy="2324100"/>
          </a:xfrm>
          <a:prstGeom prst="roundRect">
            <a:avLst>
              <a:gd name="adj" fmla="val 3279"/>
            </a:avLst>
          </a:prstGeom>
          <a:solidFill>
            <a:srgbClr val="FFFFFF"/>
          </a:solidFill>
          <a:ln w="9525">
            <a:solidFill>
              <a:srgbClr val="D7D0C7"/>
            </a:solidFill>
          </a:ln>
        </p:spPr>
      </p:sp>
      <p:sp>
        <p:nvSpPr>
          <p:cNvPr id="20" name="Rectangle: Rounded Corners 19">
            <a:extLst>
              <a:ext uri="{FF2B5EF4-FFF2-40B4-BE49-F238E27FC236}">
                <a16:creationId xmlns:a16="http://schemas.microsoft.com/office/drawing/2014/main" id="{487466EA-88A8-4A77-9444-993C9B81E437}"/>
              </a:ext>
            </a:extLst>
          </p:cNvPr>
          <p:cNvSpPr>
            <a:spLocks noGrp="1"/>
          </p:cNvSpPr>
          <p:nvPr/>
        </p:nvSpPr>
        <p:spPr>
          <a:xfrm>
            <a:off x="7581900" y="2628900"/>
            <a:ext cx="3048000" cy="104775"/>
          </a:xfrm>
          <a:prstGeom prst="roundRect">
            <a:avLst>
              <a:gd name="adj" fmla="val 50000"/>
            </a:avLst>
          </a:prstGeom>
          <a:solidFill>
            <a:srgbClr val="DE664C"/>
          </a:solidFill>
          <a:ln w="0">
            <a:noFill/>
          </a:ln>
        </p:spPr>
      </p:sp>
      <p:sp>
        <p:nvSpPr>
          <p:cNvPr id="21" name="Rectangle 20">
            <a:extLst>
              <a:ext uri="{FF2B5EF4-FFF2-40B4-BE49-F238E27FC236}">
                <a16:creationId xmlns:a16="http://schemas.microsoft.com/office/drawing/2014/main" id="{20F43CF3-B9CB-48A5-949B-99F59FA9B738}"/>
              </a:ext>
            </a:extLst>
          </p:cNvPr>
          <p:cNvSpPr>
            <a:spLocks noGrp="1"/>
          </p:cNvSpPr>
          <p:nvPr/>
        </p:nvSpPr>
        <p:spPr>
          <a:xfrm>
            <a:off x="7829550" y="2952750"/>
            <a:ext cx="1143000" cy="209550"/>
          </a:xfrm>
          <a:prstGeom prst="rect">
            <a:avLst/>
          </a:prstGeom>
          <a:noFill/>
          <a:ln w="0">
            <a:noFill/>
          </a:ln>
        </p:spPr>
        <p:txBody>
          <a:bodyPr>
            <a:noAutofit/>
          </a:bodyPr>
          <a:lstStyle/>
          <a:p>
            <a:pPr>
              <a:buNone/>
              <a:defRPr sz="1275" b="1">
                <a:solidFill>
                  <a:srgbClr val="DE664C"/>
                </a:solidFill>
                <a:latin typeface="Arial"/>
                <a:ea typeface="Arial"/>
                <a:cs typeface="Arial"/>
              </a:defRPr>
            </a:pPr>
            <a:r>
              <a:rPr sz="1275" b="1">
                <a:solidFill>
                  <a:srgbClr val="DE664C"/>
                </a:solidFill>
                <a:latin typeface="Arial"/>
                <a:ea typeface="Arial"/>
                <a:cs typeface="Arial"/>
              </a:rPr>
              <a:t>SOM</a:t>
            </a:r>
          </a:p>
        </p:txBody>
      </p:sp>
      <p:sp>
        <p:nvSpPr>
          <p:cNvPr id="22" name="Rectangle 21">
            <a:extLst>
              <a:ext uri="{FF2B5EF4-FFF2-40B4-BE49-F238E27FC236}">
                <a16:creationId xmlns:a16="http://schemas.microsoft.com/office/drawing/2014/main" id="{ADB259F6-3983-4CFD-9E0B-C6A99B2E7DF0}"/>
              </a:ext>
            </a:extLst>
          </p:cNvPr>
          <p:cNvSpPr>
            <a:spLocks noGrp="1"/>
          </p:cNvSpPr>
          <p:nvPr/>
        </p:nvSpPr>
        <p:spPr>
          <a:xfrm>
            <a:off x="7829550" y="3352800"/>
            <a:ext cx="2476500" cy="361950"/>
          </a:xfrm>
          <a:prstGeom prst="rect">
            <a:avLst/>
          </a:prstGeom>
          <a:noFill/>
          <a:ln w="0">
            <a:noFill/>
          </a:ln>
        </p:spPr>
        <p:txBody>
          <a:bodyPr>
            <a:noAutofit/>
          </a:bodyPr>
          <a:lstStyle/>
          <a:p>
            <a:pPr>
              <a:buNone/>
              <a:defRPr sz="1950" b="1">
                <a:solidFill>
                  <a:srgbClr val="202A44"/>
                </a:solidFill>
                <a:latin typeface="Arial"/>
                <a:ea typeface="Arial"/>
                <a:cs typeface="Arial"/>
              </a:defRPr>
            </a:pPr>
            <a:r>
              <a:rPr sz="1950" b="1">
                <a:solidFill>
                  <a:srgbClr val="202A44"/>
                </a:solidFill>
                <a:latin typeface="Arial"/>
                <a:ea typeface="Arial"/>
                <a:cs typeface="Arial"/>
              </a:rPr>
              <a:t>Not yet set</a:t>
            </a:r>
          </a:p>
        </p:txBody>
      </p:sp>
      <p:sp>
        <p:nvSpPr>
          <p:cNvPr id="23" name="Rectangle 22">
            <a:extLst>
              <a:ext uri="{FF2B5EF4-FFF2-40B4-BE49-F238E27FC236}">
                <a16:creationId xmlns:a16="http://schemas.microsoft.com/office/drawing/2014/main" id="{05601F4F-F6D5-4129-8E28-5229CABD88D8}"/>
              </a:ext>
            </a:extLst>
          </p:cNvPr>
          <p:cNvSpPr>
            <a:spLocks noGrp="1"/>
          </p:cNvSpPr>
          <p:nvPr/>
        </p:nvSpPr>
        <p:spPr>
          <a:xfrm>
            <a:off x="7829550" y="3943350"/>
            <a:ext cx="2476500" cy="381000"/>
          </a:xfrm>
          <a:prstGeom prst="rect">
            <a:avLst/>
          </a:prstGeom>
          <a:noFill/>
          <a:ln w="0">
            <a:noFill/>
          </a:ln>
        </p:spPr>
        <p:txBody>
          <a:bodyPr>
            <a:noAutofit/>
          </a:bodyPr>
          <a:lstStyle/>
          <a:p>
            <a:pPr>
              <a:buNone/>
              <a:defRPr sz="1125" b="1">
                <a:solidFill>
                  <a:srgbClr val="1E2A3B"/>
                </a:solidFill>
                <a:latin typeface="Arial"/>
                <a:ea typeface="Arial"/>
                <a:cs typeface="Arial"/>
              </a:defRPr>
            </a:pPr>
            <a:r>
              <a:rPr sz="1125" b="1">
                <a:solidFill>
                  <a:srgbClr val="1E2A3B"/>
                </a:solidFill>
                <a:latin typeface="Arial"/>
                <a:ea typeface="Arial"/>
                <a:cs typeface="Arial"/>
              </a:rPr>
              <a:t>Requires pilot sites and eligible participants</a:t>
            </a:r>
          </a:p>
        </p:txBody>
      </p:sp>
      <p:sp>
        <p:nvSpPr>
          <p:cNvPr id="24" name="Rectangle 23">
            <a:extLst>
              <a:ext uri="{FF2B5EF4-FFF2-40B4-BE49-F238E27FC236}">
                <a16:creationId xmlns:a16="http://schemas.microsoft.com/office/drawing/2014/main" id="{AD31C90F-4031-48F3-923A-94F2DE876ECC}"/>
              </a:ext>
            </a:extLst>
          </p:cNvPr>
          <p:cNvSpPr>
            <a:spLocks noGrp="1"/>
          </p:cNvSpPr>
          <p:nvPr/>
        </p:nvSpPr>
        <p:spPr>
          <a:xfrm>
            <a:off x="7829550" y="4438650"/>
            <a:ext cx="2476500" cy="400050"/>
          </a:xfrm>
          <a:prstGeom prst="rect">
            <a:avLst/>
          </a:prstGeom>
          <a:noFill/>
          <a:ln w="0">
            <a:noFill/>
          </a:ln>
        </p:spPr>
        <p:txBody>
          <a:bodyPr>
            <a:noAutofit/>
          </a:bodyPr>
          <a:lstStyle/>
          <a:p>
            <a:pPr>
              <a:buNone/>
              <a:defRPr sz="900">
                <a:solidFill>
                  <a:srgbClr val="56647A"/>
                </a:solidFill>
                <a:latin typeface="Arial"/>
                <a:ea typeface="Arial"/>
                <a:cs typeface="Arial"/>
              </a:defRPr>
            </a:pPr>
            <a:r>
              <a:rPr sz="900">
                <a:solidFill>
                  <a:srgbClr val="56647A"/>
                </a:solidFill>
                <a:latin typeface="Arial"/>
                <a:ea typeface="Arial"/>
                <a:cs typeface="Arial"/>
              </a:rPr>
              <a:t>No forecast before pilot design</a:t>
            </a:r>
          </a:p>
        </p:txBody>
      </p:sp>
      <p:sp>
        <p:nvSpPr>
          <p:cNvPr id="25" name="Rectangle: Rounded Corners 24">
            <a:extLst>
              <a:ext uri="{FF2B5EF4-FFF2-40B4-BE49-F238E27FC236}">
                <a16:creationId xmlns:a16="http://schemas.microsoft.com/office/drawing/2014/main" id="{045E35C9-F222-4A56-A654-6348A32E5A8C}"/>
              </a:ext>
            </a:extLst>
          </p:cNvPr>
          <p:cNvSpPr>
            <a:spLocks noGrp="1"/>
          </p:cNvSpPr>
          <p:nvPr/>
        </p:nvSpPr>
        <p:spPr>
          <a:xfrm>
            <a:off x="1371600" y="5334000"/>
            <a:ext cx="9448800" cy="514350"/>
          </a:xfrm>
          <a:prstGeom prst="roundRect">
            <a:avLst>
              <a:gd name="adj" fmla="val 14815"/>
            </a:avLst>
          </a:prstGeom>
          <a:solidFill>
            <a:srgbClr val="E9E7F5"/>
          </a:solidFill>
          <a:ln w="0">
            <a:noFill/>
          </a:ln>
        </p:spPr>
      </p:sp>
      <p:sp>
        <p:nvSpPr>
          <p:cNvPr id="26" name="Rectangle 25">
            <a:extLst>
              <a:ext uri="{FF2B5EF4-FFF2-40B4-BE49-F238E27FC236}">
                <a16:creationId xmlns:a16="http://schemas.microsoft.com/office/drawing/2014/main" id="{5BC5792E-D86D-4DC3-93F1-7C038F25CAFA}"/>
              </a:ext>
            </a:extLst>
          </p:cNvPr>
          <p:cNvSpPr>
            <a:spLocks noGrp="1"/>
          </p:cNvSpPr>
          <p:nvPr/>
        </p:nvSpPr>
        <p:spPr>
          <a:xfrm>
            <a:off x="1676400" y="5505450"/>
            <a:ext cx="8839200" cy="190500"/>
          </a:xfrm>
          <a:prstGeom prst="rect">
            <a:avLst/>
          </a:prstGeom>
          <a:noFill/>
          <a:ln w="0">
            <a:noFill/>
          </a:ln>
        </p:spPr>
        <p:txBody>
          <a:bodyPr>
            <a:noAutofit/>
          </a:bodyPr>
          <a:lstStyle/>
          <a:p>
            <a:pPr algn="ctr">
              <a:buNone/>
              <a:defRPr sz="1050" b="1">
                <a:solidFill>
                  <a:srgbClr val="202A44"/>
                </a:solidFill>
                <a:latin typeface="Arial"/>
                <a:ea typeface="Arial"/>
                <a:cs typeface="Arial"/>
              </a:defRPr>
            </a:pPr>
            <a:r>
              <a:rPr sz="1050" b="1">
                <a:solidFill>
                  <a:srgbClr val="202A44"/>
                </a:solidFill>
                <a:latin typeface="Arial"/>
                <a:ea typeface="Arial"/>
                <a:cs typeface="Arial"/>
              </a:rPr>
              <a:t>Census 2027 is scheduled. Use refreshed local population data when the pilot scope is approved.</a:t>
            </a:r>
          </a:p>
        </p:txBody>
      </p:sp>
      <p:sp>
        <p:nvSpPr>
          <p:cNvPr id="27" name="Rectangle 26">
            <a:extLst>
              <a:ext uri="{FF2B5EF4-FFF2-40B4-BE49-F238E27FC236}">
                <a16:creationId xmlns:a16="http://schemas.microsoft.com/office/drawing/2014/main" id="{53BD486C-65F4-4445-B764-D7A27DB9E587}"/>
              </a:ext>
            </a:extLst>
          </p:cNvPr>
          <p:cNvSpPr>
            <a:spLocks noGrp="1"/>
          </p:cNvSpPr>
          <p:nvPr/>
        </p:nvSpPr>
        <p:spPr>
          <a:xfrm>
            <a:off x="1066800" y="5981700"/>
            <a:ext cx="10058400" cy="285750"/>
          </a:xfrm>
          <a:prstGeom prst="rect">
            <a:avLst/>
          </a:prstGeom>
          <a:noFill/>
          <a:ln w="0">
            <a:noFill/>
          </a:ln>
        </p:spPr>
        <p:txBody>
          <a:bodyPr>
            <a:noAutofit/>
          </a:bodyPr>
          <a:lstStyle/>
          <a:p>
            <a:pPr algn="ctr">
              <a:buNone/>
              <a:defRPr sz="750">
                <a:solidFill>
                  <a:srgbClr val="56647A"/>
                </a:solidFill>
                <a:latin typeface="Arial"/>
                <a:ea typeface="Arial"/>
                <a:cs typeface="Arial"/>
              </a:defRPr>
            </a:pPr>
            <a:r>
              <a:rPr sz="750">
                <a:solidFill>
                  <a:srgbClr val="56647A"/>
                </a:solidFill>
                <a:latin typeface="Arial"/>
                <a:ea typeface="Arial"/>
                <a:cs typeface="Arial"/>
              </a:rPr>
              <a:t>Official sources: Office of the Registrar General &amp; Census Commissioner, India (ORGI), Census 2011 C-16 Population by Mother Tongue (catalogue 10191); District Census Handbooks: North 24 Parganas (1349) and South 24 Parganas (1362); Census 2027 Gazette notification, censusindia.gov.in.</a:t>
            </a:r>
          </a:p>
        </p:txBody>
      </p:sp>
      <p:sp>
        <p:nvSpPr>
          <p:cNvPr id="28" name="Rectangle 27">
            <a:extLst>
              <a:ext uri="{FF2B5EF4-FFF2-40B4-BE49-F238E27FC236}">
                <a16:creationId xmlns:a16="http://schemas.microsoft.com/office/drawing/2014/main" id="{E8D36233-3083-4722-977A-44E722EA2C6E}"/>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56647A"/>
                </a:solidFill>
                <a:latin typeface="Arial"/>
                <a:ea typeface="Arial"/>
                <a:cs typeface="Arial"/>
              </a:defRPr>
            </a:pPr>
            <a:r>
              <a:rPr sz="900">
                <a:solidFill>
                  <a:srgbClr val="56647A"/>
                </a:solidFill>
                <a:latin typeface="Arial"/>
                <a:ea typeface="Arial"/>
                <a:cs typeface="Arial"/>
              </a:rPr>
              <a:t>10</a:t>
            </a:r>
          </a:p>
        </p:txBody>
      </p:sp>
    </p:spTree>
    <p:extLst>
      <p:ext uri="{BB962C8B-B14F-4D97-AF65-F5344CB8AC3E}">
        <p14:creationId xmlns:p14="http://schemas.microsoft.com/office/powerpoint/2010/main" val="1976903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E39AAC7-F047-4388-8C26-6F68C46B7B11}"/>
              </a:ext>
            </a:extLst>
          </p:cNvPr>
          <p:cNvSpPr>
            <a:spLocks noGrp="1"/>
          </p:cNvSpPr>
          <p:nvPr/>
        </p:nvSpPr>
        <p:spPr>
          <a:xfrm>
            <a:off x="0" y="0"/>
            <a:ext cx="12192000" cy="6858000"/>
          </a:xfrm>
          <a:prstGeom prst="rect">
            <a:avLst/>
          </a:prstGeom>
          <a:solidFill>
            <a:srgbClr val="FCF8F2"/>
          </a:solidFill>
          <a:ln w="0">
            <a:noFill/>
          </a:ln>
        </p:spPr>
      </p:sp>
      <p:sp>
        <p:nvSpPr>
          <p:cNvPr id="2" name="Rectangle 1">
            <a:extLst>
              <a:ext uri="{FF2B5EF4-FFF2-40B4-BE49-F238E27FC236}">
                <a16:creationId xmlns:a16="http://schemas.microsoft.com/office/drawing/2014/main" id="{45639FF1-34C5-4FE9-A44F-529C7478F700}"/>
              </a:ext>
            </a:extLst>
          </p:cNvPr>
          <p:cNvSpPr>
            <a:spLocks noGrp="1"/>
          </p:cNvSpPr>
          <p:nvPr/>
        </p:nvSpPr>
        <p:spPr>
          <a:xfrm>
            <a:off x="685800" y="419100"/>
            <a:ext cx="666750" cy="209550"/>
          </a:xfrm>
          <a:prstGeom prst="rect">
            <a:avLst/>
          </a:prstGeom>
          <a:noFill/>
          <a:ln w="0">
            <a:noFill/>
          </a:ln>
        </p:spPr>
        <p:txBody>
          <a:bodyPr>
            <a:noAutofit/>
          </a:bodyPr>
          <a:lstStyle/>
          <a:p>
            <a:pPr>
              <a:buNone/>
              <a:defRPr sz="1200" b="1">
                <a:solidFill>
                  <a:srgbClr val="E7A048"/>
                </a:solidFill>
                <a:latin typeface="Arial"/>
                <a:ea typeface="Arial"/>
                <a:cs typeface="Arial"/>
              </a:defRPr>
            </a:pPr>
            <a:r>
              <a:rPr sz="1200" b="1">
                <a:solidFill>
                  <a:srgbClr val="E7A048"/>
                </a:solidFill>
                <a:latin typeface="Arial"/>
                <a:ea typeface="Arial"/>
                <a:cs typeface="Arial"/>
              </a:rPr>
              <a:t>11</a:t>
            </a:r>
          </a:p>
        </p:txBody>
      </p:sp>
      <p:sp>
        <p:nvSpPr>
          <p:cNvPr id="3" name="Rectangle 2">
            <a:extLst>
              <a:ext uri="{FF2B5EF4-FFF2-40B4-BE49-F238E27FC236}">
                <a16:creationId xmlns:a16="http://schemas.microsoft.com/office/drawing/2014/main" id="{87ACF265-93E5-4F18-A4B5-5A257E399773}"/>
              </a:ext>
            </a:extLst>
          </p:cNvPr>
          <p:cNvSpPr>
            <a:spLocks noGrp="1"/>
          </p:cNvSpPr>
          <p:nvPr/>
        </p:nvSpPr>
        <p:spPr>
          <a:xfrm>
            <a:off x="9810750" y="428625"/>
            <a:ext cx="1695450" cy="190500"/>
          </a:xfrm>
          <a:prstGeom prst="rect">
            <a:avLst/>
          </a:prstGeom>
          <a:noFill/>
          <a:ln w="0">
            <a:noFill/>
          </a:ln>
        </p:spPr>
        <p:txBody>
          <a:bodyPr>
            <a:noAutofit/>
          </a:bodyPr>
          <a:lstStyle/>
          <a:p>
            <a:pPr algn="r">
              <a:buNone/>
              <a:defRPr sz="975" b="1">
                <a:solidFill>
                  <a:srgbClr val="4656A8"/>
                </a:solidFill>
                <a:latin typeface="Arial"/>
                <a:ea typeface="Arial"/>
                <a:cs typeface="Arial"/>
              </a:defRPr>
            </a:pPr>
            <a:r>
              <a:rPr sz="975" b="1">
                <a:solidFill>
                  <a:srgbClr val="4656A8"/>
                </a:solidFill>
                <a:latin typeface="Arial"/>
                <a:ea typeface="Arial"/>
                <a:cs typeface="Arial"/>
              </a:rPr>
              <a:t>NETRAJYOTI AI</a:t>
            </a:r>
          </a:p>
        </p:txBody>
      </p:sp>
      <p:sp>
        <p:nvSpPr>
          <p:cNvPr id="4" name="Rectangle 3">
            <a:extLst>
              <a:ext uri="{FF2B5EF4-FFF2-40B4-BE49-F238E27FC236}">
                <a16:creationId xmlns:a16="http://schemas.microsoft.com/office/drawing/2014/main" id="{6E7C7EA2-31C4-49E3-8AFE-4E84A5F05DAE}"/>
              </a:ext>
            </a:extLst>
          </p:cNvPr>
          <p:cNvSpPr>
            <a:spLocks noGrp="1"/>
          </p:cNvSpPr>
          <p:nvPr/>
        </p:nvSpPr>
        <p:spPr>
          <a:xfrm>
            <a:off x="685800" y="762000"/>
            <a:ext cx="10287000" cy="457200"/>
          </a:xfrm>
          <a:prstGeom prst="rect">
            <a:avLst/>
          </a:prstGeom>
          <a:noFill/>
          <a:ln w="0">
            <a:noFill/>
          </a:ln>
        </p:spPr>
        <p:txBody>
          <a:bodyPr>
            <a:noAutofit/>
          </a:bodyPr>
          <a:lstStyle/>
          <a:p>
            <a:pPr>
              <a:buNone/>
              <a:defRPr sz="2550" b="1">
                <a:solidFill>
                  <a:srgbClr val="202A44"/>
                </a:solidFill>
                <a:latin typeface="Arial"/>
                <a:ea typeface="Arial"/>
                <a:cs typeface="Arial"/>
              </a:defRPr>
            </a:pPr>
            <a:r>
              <a:rPr sz="2550" b="1">
                <a:solidFill>
                  <a:srgbClr val="202A44"/>
                </a:solidFill>
                <a:latin typeface="Arial"/>
                <a:ea typeface="Arial"/>
                <a:cs typeface="Arial"/>
              </a:rPr>
              <a:t>What the MVP establishes</a:t>
            </a:r>
          </a:p>
        </p:txBody>
      </p:sp>
      <p:sp>
        <p:nvSpPr>
          <p:cNvPr id="5" name="Rectangle 4">
            <a:extLst>
              <a:ext uri="{FF2B5EF4-FFF2-40B4-BE49-F238E27FC236}">
                <a16:creationId xmlns:a16="http://schemas.microsoft.com/office/drawing/2014/main" id="{091E6548-6FFC-4245-892F-F3A040CD979D}"/>
              </a:ext>
            </a:extLst>
          </p:cNvPr>
          <p:cNvSpPr>
            <a:spLocks noGrp="1"/>
          </p:cNvSpPr>
          <p:nvPr/>
        </p:nvSpPr>
        <p:spPr>
          <a:xfrm>
            <a:off x="704850" y="1343025"/>
            <a:ext cx="10287000" cy="266700"/>
          </a:xfrm>
          <a:prstGeom prst="rect">
            <a:avLst/>
          </a:prstGeom>
          <a:noFill/>
          <a:ln w="0">
            <a:noFill/>
          </a:ln>
        </p:spPr>
        <p:txBody>
          <a:bodyPr>
            <a:noAutofit/>
          </a:bodyPr>
          <a:lstStyle/>
          <a:p>
            <a:pPr>
              <a:buNone/>
              <a:defRPr sz="1275">
                <a:solidFill>
                  <a:srgbClr val="56647A"/>
                </a:solidFill>
                <a:latin typeface="Arial"/>
                <a:ea typeface="Arial"/>
                <a:cs typeface="Arial"/>
              </a:defRPr>
            </a:pPr>
            <a:r>
              <a:rPr sz="1275">
                <a:solidFill>
                  <a:srgbClr val="56647A"/>
                </a:solidFill>
                <a:latin typeface="Arial"/>
                <a:ea typeface="Arial"/>
                <a:cs typeface="Arial"/>
              </a:rPr>
              <a:t>A practical foundation for safer access to Bengali eye-care guidance</a:t>
            </a:r>
          </a:p>
        </p:txBody>
      </p:sp>
      <p:sp>
        <p:nvSpPr>
          <p:cNvPr id="6" name="Rectangle 5">
            <a:extLst>
              <a:ext uri="{FF2B5EF4-FFF2-40B4-BE49-F238E27FC236}">
                <a16:creationId xmlns:a16="http://schemas.microsoft.com/office/drawing/2014/main" id="{46EB2BCB-F9DF-43E3-8B6F-547C9F505C9C}"/>
              </a:ext>
            </a:extLst>
          </p:cNvPr>
          <p:cNvSpPr>
            <a:spLocks noGrp="1"/>
          </p:cNvSpPr>
          <p:nvPr/>
        </p:nvSpPr>
        <p:spPr>
          <a:xfrm>
            <a:off x="685800" y="1752600"/>
            <a:ext cx="10820400" cy="19050"/>
          </a:xfrm>
          <a:prstGeom prst="rect">
            <a:avLst/>
          </a:prstGeom>
          <a:solidFill>
            <a:srgbClr val="D7D0C7"/>
          </a:solidFill>
          <a:ln w="0">
            <a:noFill/>
          </a:ln>
        </p:spPr>
      </p:sp>
      <p:sp>
        <p:nvSpPr>
          <p:cNvPr id="7" name="Rectangle 6">
            <a:extLst>
              <a:ext uri="{FF2B5EF4-FFF2-40B4-BE49-F238E27FC236}">
                <a16:creationId xmlns:a16="http://schemas.microsoft.com/office/drawing/2014/main" id="{17EDCAEA-49EC-46EF-905B-560F794296D1}"/>
              </a:ext>
            </a:extLst>
          </p:cNvPr>
          <p:cNvSpPr>
            <a:spLocks noGrp="1"/>
          </p:cNvSpPr>
          <p:nvPr/>
        </p:nvSpPr>
        <p:spPr>
          <a:xfrm>
            <a:off x="723900" y="2343150"/>
            <a:ext cx="10744200" cy="28575"/>
          </a:xfrm>
          <a:prstGeom prst="rect">
            <a:avLst/>
          </a:prstGeom>
          <a:solidFill>
            <a:srgbClr val="E7A048"/>
          </a:solidFill>
          <a:ln w="0">
            <a:noFill/>
          </a:ln>
        </p:spPr>
      </p:sp>
      <p:sp>
        <p:nvSpPr>
          <p:cNvPr id="8" name="Rectangle: Rounded Corners 7">
            <a:extLst>
              <a:ext uri="{FF2B5EF4-FFF2-40B4-BE49-F238E27FC236}">
                <a16:creationId xmlns:a16="http://schemas.microsoft.com/office/drawing/2014/main" id="{E134A21E-0FB0-4043-9204-AE958CC8BC45}"/>
              </a:ext>
            </a:extLst>
          </p:cNvPr>
          <p:cNvSpPr>
            <a:spLocks noGrp="1"/>
          </p:cNvSpPr>
          <p:nvPr/>
        </p:nvSpPr>
        <p:spPr>
          <a:xfrm>
            <a:off x="857250" y="2952750"/>
            <a:ext cx="2857500" cy="1428750"/>
          </a:xfrm>
          <a:prstGeom prst="roundRect">
            <a:avLst>
              <a:gd name="adj" fmla="val 5333"/>
            </a:avLst>
          </a:prstGeom>
          <a:solidFill>
            <a:srgbClr val="FFFFFF"/>
          </a:solidFill>
          <a:ln w="9525">
            <a:solidFill>
              <a:srgbClr val="D7D0C7"/>
            </a:solidFill>
          </a:ln>
        </p:spPr>
      </p:sp>
      <p:sp>
        <p:nvSpPr>
          <p:cNvPr id="9" name="Rectangle: Rounded Corners 8">
            <a:extLst>
              <a:ext uri="{FF2B5EF4-FFF2-40B4-BE49-F238E27FC236}">
                <a16:creationId xmlns:a16="http://schemas.microsoft.com/office/drawing/2014/main" id="{8A767AFE-B647-4D74-A424-571BAD82DEE4}"/>
              </a:ext>
            </a:extLst>
          </p:cNvPr>
          <p:cNvSpPr>
            <a:spLocks noGrp="1"/>
          </p:cNvSpPr>
          <p:nvPr/>
        </p:nvSpPr>
        <p:spPr>
          <a:xfrm>
            <a:off x="857250" y="2952750"/>
            <a:ext cx="2857500" cy="95250"/>
          </a:xfrm>
          <a:prstGeom prst="roundRect">
            <a:avLst>
              <a:gd name="adj" fmla="val 50000"/>
            </a:avLst>
          </a:prstGeom>
          <a:solidFill>
            <a:srgbClr val="237A7A"/>
          </a:solidFill>
          <a:ln w="0">
            <a:noFill/>
          </a:ln>
        </p:spPr>
      </p:sp>
      <p:sp>
        <p:nvSpPr>
          <p:cNvPr id="10" name="Rectangle 9">
            <a:extLst>
              <a:ext uri="{FF2B5EF4-FFF2-40B4-BE49-F238E27FC236}">
                <a16:creationId xmlns:a16="http://schemas.microsoft.com/office/drawing/2014/main" id="{E2E2D2A0-029E-4BB0-A6FD-3CB83FF1FE9D}"/>
              </a:ext>
            </a:extLst>
          </p:cNvPr>
          <p:cNvSpPr>
            <a:spLocks noGrp="1"/>
          </p:cNvSpPr>
          <p:nvPr/>
        </p:nvSpPr>
        <p:spPr>
          <a:xfrm>
            <a:off x="1085850" y="3314700"/>
            <a:ext cx="2400300" cy="266700"/>
          </a:xfrm>
          <a:prstGeom prst="rect">
            <a:avLst/>
          </a:prstGeom>
          <a:noFill/>
          <a:ln w="0">
            <a:noFill/>
          </a:ln>
        </p:spPr>
        <p:txBody>
          <a:bodyPr>
            <a:noAutofit/>
          </a:bodyPr>
          <a:lstStyle/>
          <a:p>
            <a:pPr>
              <a:buNone/>
              <a:defRPr sz="1650" b="1">
                <a:solidFill>
                  <a:srgbClr val="202A44"/>
                </a:solidFill>
                <a:latin typeface="Arial"/>
                <a:ea typeface="Arial"/>
                <a:cs typeface="Arial"/>
              </a:defRPr>
            </a:pPr>
            <a:r>
              <a:rPr sz="1650" b="1">
                <a:solidFill>
                  <a:srgbClr val="202A44"/>
                </a:solidFill>
                <a:latin typeface="Arial"/>
                <a:ea typeface="Arial"/>
                <a:cs typeface="Arial"/>
              </a:rPr>
              <a:t>Bengali-language access</a:t>
            </a:r>
          </a:p>
        </p:txBody>
      </p:sp>
      <p:sp>
        <p:nvSpPr>
          <p:cNvPr id="11" name="Rectangle 10">
            <a:extLst>
              <a:ext uri="{FF2B5EF4-FFF2-40B4-BE49-F238E27FC236}">
                <a16:creationId xmlns:a16="http://schemas.microsoft.com/office/drawing/2014/main" id="{E6A0F10F-D64B-46AA-9305-B4D24EC96BD1}"/>
              </a:ext>
            </a:extLst>
          </p:cNvPr>
          <p:cNvSpPr>
            <a:spLocks noGrp="1"/>
          </p:cNvSpPr>
          <p:nvPr/>
        </p:nvSpPr>
        <p:spPr>
          <a:xfrm>
            <a:off x="1085850" y="3790950"/>
            <a:ext cx="2400300" cy="400050"/>
          </a:xfrm>
          <a:prstGeom prst="rect">
            <a:avLst/>
          </a:prstGeom>
          <a:noFill/>
          <a:ln w="0">
            <a:noFill/>
          </a:ln>
        </p:spPr>
        <p:txBody>
          <a:bodyPr>
            <a:noAutofit/>
          </a:bodyPr>
          <a:lstStyle/>
          <a:p>
            <a:pPr>
              <a:buNone/>
              <a:defRPr sz="1200">
                <a:solidFill>
                  <a:srgbClr val="56647A"/>
                </a:solidFill>
                <a:latin typeface="Arial"/>
                <a:ea typeface="Arial"/>
                <a:cs typeface="Arial"/>
              </a:defRPr>
            </a:pPr>
            <a:r>
              <a:rPr sz="1200">
                <a:solidFill>
                  <a:srgbClr val="56647A"/>
                </a:solidFill>
                <a:latin typeface="Arial"/>
                <a:ea typeface="Arial"/>
                <a:cs typeface="Arial"/>
              </a:rPr>
              <a:t>Voice and text options</a:t>
            </a:r>
          </a:p>
          <a:p>
            <a:pPr>
              <a:buNone/>
              <a:defRPr sz="1200">
                <a:solidFill>
                  <a:srgbClr val="56647A"/>
                </a:solidFill>
                <a:latin typeface="Arial"/>
                <a:ea typeface="Arial"/>
                <a:cs typeface="Arial"/>
              </a:defRPr>
            </a:pPr>
            <a:r>
              <a:rPr sz="1200">
                <a:solidFill>
                  <a:srgbClr val="56647A"/>
                </a:solidFill>
                <a:latin typeface="Arial"/>
                <a:ea typeface="Arial"/>
                <a:cs typeface="Arial"/>
              </a:rPr>
              <a:t>with visible fallback</a:t>
            </a:r>
          </a:p>
        </p:txBody>
      </p:sp>
      <p:sp>
        <p:nvSpPr>
          <p:cNvPr id="12" name="Rectangle: Rounded Corners 11">
            <a:extLst>
              <a:ext uri="{FF2B5EF4-FFF2-40B4-BE49-F238E27FC236}">
                <a16:creationId xmlns:a16="http://schemas.microsoft.com/office/drawing/2014/main" id="{229F102D-94D9-4212-88C2-8C078FEC51F3}"/>
              </a:ext>
            </a:extLst>
          </p:cNvPr>
          <p:cNvSpPr>
            <a:spLocks noGrp="1"/>
          </p:cNvSpPr>
          <p:nvPr/>
        </p:nvSpPr>
        <p:spPr>
          <a:xfrm>
            <a:off x="4381500" y="2952750"/>
            <a:ext cx="2857500" cy="1428750"/>
          </a:xfrm>
          <a:prstGeom prst="roundRect">
            <a:avLst>
              <a:gd name="adj" fmla="val 5333"/>
            </a:avLst>
          </a:prstGeom>
          <a:solidFill>
            <a:srgbClr val="FFFFFF"/>
          </a:solidFill>
          <a:ln w="9525">
            <a:solidFill>
              <a:srgbClr val="D7D0C7"/>
            </a:solidFill>
          </a:ln>
        </p:spPr>
      </p:sp>
      <p:sp>
        <p:nvSpPr>
          <p:cNvPr id="13" name="Rectangle: Rounded Corners 12">
            <a:extLst>
              <a:ext uri="{FF2B5EF4-FFF2-40B4-BE49-F238E27FC236}">
                <a16:creationId xmlns:a16="http://schemas.microsoft.com/office/drawing/2014/main" id="{085ECFBE-5AB4-43E8-BEE3-2A00F8F1642C}"/>
              </a:ext>
            </a:extLst>
          </p:cNvPr>
          <p:cNvSpPr>
            <a:spLocks noGrp="1"/>
          </p:cNvSpPr>
          <p:nvPr/>
        </p:nvSpPr>
        <p:spPr>
          <a:xfrm>
            <a:off x="4381500" y="2952750"/>
            <a:ext cx="2857500" cy="95250"/>
          </a:xfrm>
          <a:prstGeom prst="roundRect">
            <a:avLst>
              <a:gd name="adj" fmla="val 50000"/>
            </a:avLst>
          </a:prstGeom>
          <a:solidFill>
            <a:srgbClr val="4656A8"/>
          </a:solidFill>
          <a:ln w="0">
            <a:noFill/>
          </a:ln>
        </p:spPr>
      </p:sp>
      <p:sp>
        <p:nvSpPr>
          <p:cNvPr id="14" name="Rectangle 13">
            <a:extLst>
              <a:ext uri="{FF2B5EF4-FFF2-40B4-BE49-F238E27FC236}">
                <a16:creationId xmlns:a16="http://schemas.microsoft.com/office/drawing/2014/main" id="{615AE174-620B-4FF9-A0BB-5C36659209D2}"/>
              </a:ext>
            </a:extLst>
          </p:cNvPr>
          <p:cNvSpPr>
            <a:spLocks noGrp="1"/>
          </p:cNvSpPr>
          <p:nvPr/>
        </p:nvSpPr>
        <p:spPr>
          <a:xfrm>
            <a:off x="4610100" y="3314700"/>
            <a:ext cx="2400300" cy="266700"/>
          </a:xfrm>
          <a:prstGeom prst="rect">
            <a:avLst/>
          </a:prstGeom>
          <a:noFill/>
          <a:ln w="0">
            <a:noFill/>
          </a:ln>
        </p:spPr>
        <p:txBody>
          <a:bodyPr>
            <a:noAutofit/>
          </a:bodyPr>
          <a:lstStyle/>
          <a:p>
            <a:pPr>
              <a:buNone/>
              <a:defRPr sz="1650" b="1">
                <a:solidFill>
                  <a:srgbClr val="202A44"/>
                </a:solidFill>
                <a:latin typeface="Arial"/>
                <a:ea typeface="Arial"/>
                <a:cs typeface="Arial"/>
              </a:defRPr>
            </a:pPr>
            <a:r>
              <a:rPr sz="1650" b="1">
                <a:solidFill>
                  <a:srgbClr val="202A44"/>
                </a:solidFill>
                <a:latin typeface="Arial"/>
                <a:ea typeface="Arial"/>
                <a:cs typeface="Arial"/>
              </a:rPr>
              <a:t>Fixed safety route</a:t>
            </a:r>
          </a:p>
        </p:txBody>
      </p:sp>
      <p:sp>
        <p:nvSpPr>
          <p:cNvPr id="15" name="Rectangle 14">
            <a:extLst>
              <a:ext uri="{FF2B5EF4-FFF2-40B4-BE49-F238E27FC236}">
                <a16:creationId xmlns:a16="http://schemas.microsoft.com/office/drawing/2014/main" id="{B551F7D4-9870-48CB-A373-FDD050744CE8}"/>
              </a:ext>
            </a:extLst>
          </p:cNvPr>
          <p:cNvSpPr>
            <a:spLocks noGrp="1"/>
          </p:cNvSpPr>
          <p:nvPr/>
        </p:nvSpPr>
        <p:spPr>
          <a:xfrm>
            <a:off x="4610100" y="3790950"/>
            <a:ext cx="2400300" cy="400050"/>
          </a:xfrm>
          <a:prstGeom prst="rect">
            <a:avLst/>
          </a:prstGeom>
          <a:noFill/>
          <a:ln w="0">
            <a:noFill/>
          </a:ln>
        </p:spPr>
        <p:txBody>
          <a:bodyPr>
            <a:noAutofit/>
          </a:bodyPr>
          <a:lstStyle/>
          <a:p>
            <a:pPr>
              <a:buNone/>
              <a:defRPr sz="1200">
                <a:solidFill>
                  <a:srgbClr val="56647A"/>
                </a:solidFill>
                <a:latin typeface="Arial"/>
                <a:ea typeface="Arial"/>
                <a:cs typeface="Arial"/>
              </a:defRPr>
            </a:pPr>
            <a:r>
              <a:rPr sz="1200">
                <a:solidFill>
                  <a:srgbClr val="56647A"/>
                </a:solidFill>
                <a:latin typeface="Arial"/>
                <a:ea typeface="Arial"/>
                <a:cs typeface="Arial"/>
              </a:rPr>
              <a:t>Java deterministic engine</a:t>
            </a:r>
          </a:p>
          <a:p>
            <a:pPr>
              <a:buNone/>
              <a:defRPr sz="1200">
                <a:solidFill>
                  <a:srgbClr val="56647A"/>
                </a:solidFill>
                <a:latin typeface="Arial"/>
                <a:ea typeface="Arial"/>
                <a:cs typeface="Arial"/>
              </a:defRPr>
            </a:pPr>
            <a:r>
              <a:rPr sz="1200">
                <a:solidFill>
                  <a:srgbClr val="56647A"/>
                </a:solidFill>
                <a:latin typeface="Arial"/>
                <a:ea typeface="Arial"/>
                <a:cs typeface="Arial"/>
              </a:rPr>
              <a:t>applies approved criteria</a:t>
            </a:r>
          </a:p>
        </p:txBody>
      </p:sp>
      <p:sp>
        <p:nvSpPr>
          <p:cNvPr id="16" name="Rectangle: Rounded Corners 15">
            <a:extLst>
              <a:ext uri="{FF2B5EF4-FFF2-40B4-BE49-F238E27FC236}">
                <a16:creationId xmlns:a16="http://schemas.microsoft.com/office/drawing/2014/main" id="{628BF55E-EF4B-4186-9364-ACD81EDA4262}"/>
              </a:ext>
            </a:extLst>
          </p:cNvPr>
          <p:cNvSpPr>
            <a:spLocks noGrp="1"/>
          </p:cNvSpPr>
          <p:nvPr/>
        </p:nvSpPr>
        <p:spPr>
          <a:xfrm>
            <a:off x="7905750" y="2952750"/>
            <a:ext cx="2857500" cy="1428750"/>
          </a:xfrm>
          <a:prstGeom prst="roundRect">
            <a:avLst>
              <a:gd name="adj" fmla="val 5333"/>
            </a:avLst>
          </a:prstGeom>
          <a:solidFill>
            <a:srgbClr val="FFFFFF"/>
          </a:solidFill>
          <a:ln w="9525">
            <a:solidFill>
              <a:srgbClr val="D7D0C7"/>
            </a:solidFill>
          </a:ln>
        </p:spPr>
      </p:sp>
      <p:sp>
        <p:nvSpPr>
          <p:cNvPr id="17" name="Rectangle: Rounded Corners 16">
            <a:extLst>
              <a:ext uri="{FF2B5EF4-FFF2-40B4-BE49-F238E27FC236}">
                <a16:creationId xmlns:a16="http://schemas.microsoft.com/office/drawing/2014/main" id="{490FDCFF-12AC-48FD-B6AB-4E447B77FF9A}"/>
              </a:ext>
            </a:extLst>
          </p:cNvPr>
          <p:cNvSpPr>
            <a:spLocks noGrp="1"/>
          </p:cNvSpPr>
          <p:nvPr/>
        </p:nvSpPr>
        <p:spPr>
          <a:xfrm>
            <a:off x="7905750" y="2952750"/>
            <a:ext cx="2857500" cy="95250"/>
          </a:xfrm>
          <a:prstGeom prst="roundRect">
            <a:avLst>
              <a:gd name="adj" fmla="val 50000"/>
            </a:avLst>
          </a:prstGeom>
          <a:solidFill>
            <a:srgbClr val="DE664C"/>
          </a:solidFill>
          <a:ln w="0">
            <a:noFill/>
          </a:ln>
        </p:spPr>
      </p:sp>
      <p:sp>
        <p:nvSpPr>
          <p:cNvPr id="18" name="Rectangle 17">
            <a:extLst>
              <a:ext uri="{FF2B5EF4-FFF2-40B4-BE49-F238E27FC236}">
                <a16:creationId xmlns:a16="http://schemas.microsoft.com/office/drawing/2014/main" id="{3C0EBA94-DF60-4B14-BEFD-F054CFEB699E}"/>
              </a:ext>
            </a:extLst>
          </p:cNvPr>
          <p:cNvSpPr>
            <a:spLocks noGrp="1"/>
          </p:cNvSpPr>
          <p:nvPr/>
        </p:nvSpPr>
        <p:spPr>
          <a:xfrm>
            <a:off x="8134350" y="3314700"/>
            <a:ext cx="2400300" cy="266700"/>
          </a:xfrm>
          <a:prstGeom prst="rect">
            <a:avLst/>
          </a:prstGeom>
          <a:noFill/>
          <a:ln w="0">
            <a:noFill/>
          </a:ln>
        </p:spPr>
        <p:txBody>
          <a:bodyPr>
            <a:noAutofit/>
          </a:bodyPr>
          <a:lstStyle/>
          <a:p>
            <a:pPr>
              <a:buNone/>
              <a:defRPr sz="1650" b="1">
                <a:solidFill>
                  <a:srgbClr val="202A44"/>
                </a:solidFill>
                <a:latin typeface="Arial"/>
                <a:ea typeface="Arial"/>
                <a:cs typeface="Arial"/>
              </a:defRPr>
            </a:pPr>
            <a:r>
              <a:rPr sz="1650" b="1">
                <a:solidFill>
                  <a:srgbClr val="202A44"/>
                </a:solidFill>
                <a:latin typeface="Arial"/>
                <a:ea typeface="Arial"/>
                <a:cs typeface="Arial"/>
              </a:rPr>
              <a:t>Clear next action</a:t>
            </a:r>
          </a:p>
        </p:txBody>
      </p:sp>
      <p:sp>
        <p:nvSpPr>
          <p:cNvPr id="19" name="Rectangle 18">
            <a:extLst>
              <a:ext uri="{FF2B5EF4-FFF2-40B4-BE49-F238E27FC236}">
                <a16:creationId xmlns:a16="http://schemas.microsoft.com/office/drawing/2014/main" id="{7CFEF121-6440-42F0-A99B-9C7ACEDDDE7E}"/>
              </a:ext>
            </a:extLst>
          </p:cNvPr>
          <p:cNvSpPr>
            <a:spLocks noGrp="1"/>
          </p:cNvSpPr>
          <p:nvPr/>
        </p:nvSpPr>
        <p:spPr>
          <a:xfrm>
            <a:off x="8134350" y="3790950"/>
            <a:ext cx="2400300" cy="400050"/>
          </a:xfrm>
          <a:prstGeom prst="rect">
            <a:avLst/>
          </a:prstGeom>
          <a:noFill/>
          <a:ln w="0">
            <a:noFill/>
          </a:ln>
        </p:spPr>
        <p:txBody>
          <a:bodyPr>
            <a:noAutofit/>
          </a:bodyPr>
          <a:lstStyle/>
          <a:p>
            <a:pPr>
              <a:buNone/>
              <a:defRPr sz="1200">
                <a:solidFill>
                  <a:srgbClr val="56647A"/>
                </a:solidFill>
                <a:latin typeface="Arial"/>
                <a:ea typeface="Arial"/>
                <a:cs typeface="Arial"/>
              </a:defRPr>
            </a:pPr>
            <a:r>
              <a:rPr sz="1200">
                <a:solidFill>
                  <a:srgbClr val="56647A"/>
                </a:solidFill>
                <a:latin typeface="Arial"/>
                <a:ea typeface="Arial"/>
                <a:cs typeface="Arial"/>
              </a:rPr>
              <a:t>Guidance connects people</a:t>
            </a:r>
          </a:p>
          <a:p>
            <a:pPr>
              <a:buNone/>
              <a:defRPr sz="1200">
                <a:solidFill>
                  <a:srgbClr val="56647A"/>
                </a:solidFill>
                <a:latin typeface="Arial"/>
                <a:ea typeface="Arial"/>
                <a:cs typeface="Arial"/>
              </a:defRPr>
            </a:pPr>
            <a:r>
              <a:rPr sz="1200">
                <a:solidFill>
                  <a:srgbClr val="56647A"/>
                </a:solidFill>
                <a:latin typeface="Arial"/>
                <a:ea typeface="Arial"/>
                <a:cs typeface="Arial"/>
              </a:rPr>
              <a:t>to service direction</a:t>
            </a:r>
          </a:p>
        </p:txBody>
      </p:sp>
      <p:sp>
        <p:nvSpPr>
          <p:cNvPr id="20" name="Rectangle 19">
            <a:extLst>
              <a:ext uri="{FF2B5EF4-FFF2-40B4-BE49-F238E27FC236}">
                <a16:creationId xmlns:a16="http://schemas.microsoft.com/office/drawing/2014/main" id="{92CF4271-AE3F-470D-ABA3-43D297C9C16B}"/>
              </a:ext>
            </a:extLst>
          </p:cNvPr>
          <p:cNvSpPr>
            <a:spLocks noGrp="1"/>
          </p:cNvSpPr>
          <p:nvPr/>
        </p:nvSpPr>
        <p:spPr>
          <a:xfrm>
            <a:off x="1619250" y="5219700"/>
            <a:ext cx="8953500" cy="514350"/>
          </a:xfrm>
          <a:prstGeom prst="rect">
            <a:avLst/>
          </a:prstGeom>
          <a:noFill/>
          <a:ln w="0">
            <a:noFill/>
          </a:ln>
        </p:spPr>
        <p:txBody>
          <a:bodyPr>
            <a:noAutofit/>
          </a:bodyPr>
          <a:lstStyle/>
          <a:p>
            <a:pPr algn="ctr">
              <a:buNone/>
              <a:defRPr sz="1800" b="1">
                <a:solidFill>
                  <a:srgbClr val="202A44"/>
                </a:solidFill>
                <a:latin typeface="Arial"/>
                <a:ea typeface="Arial"/>
                <a:cs typeface="Arial"/>
              </a:defRPr>
            </a:pPr>
            <a:r>
              <a:rPr sz="1800" b="1">
                <a:solidFill>
                  <a:srgbClr val="202A44"/>
                </a:solidFill>
                <a:latin typeface="Arial"/>
                <a:ea typeface="Arial"/>
                <a:cs typeface="Arial"/>
              </a:rPr>
              <a:t>The product guides users toward the next step while clinical judgment and content approval remain with people.</a:t>
            </a:r>
          </a:p>
        </p:txBody>
      </p:sp>
      <p:sp>
        <p:nvSpPr>
          <p:cNvPr id="21" name="Rectangle 20">
            <a:extLst>
              <a:ext uri="{FF2B5EF4-FFF2-40B4-BE49-F238E27FC236}">
                <a16:creationId xmlns:a16="http://schemas.microsoft.com/office/drawing/2014/main" id="{7BD30EB4-6E1C-4170-8D68-93B228DA100F}"/>
              </a:ext>
            </a:extLst>
          </p:cNvPr>
          <p:cNvSpPr>
            <a:spLocks noGrp="1"/>
          </p:cNvSpPr>
          <p:nvPr/>
        </p:nvSpPr>
        <p:spPr>
          <a:xfrm>
            <a:off x="2381250" y="5953125"/>
            <a:ext cx="7429500" cy="209550"/>
          </a:xfrm>
          <a:prstGeom prst="rect">
            <a:avLst/>
          </a:prstGeom>
          <a:noFill/>
          <a:ln w="0">
            <a:noFill/>
          </a:ln>
        </p:spPr>
        <p:txBody>
          <a:bodyPr>
            <a:noAutofit/>
          </a:bodyPr>
          <a:lstStyle/>
          <a:p>
            <a:pPr algn="ctr">
              <a:buNone/>
              <a:defRPr sz="1275">
                <a:solidFill>
                  <a:srgbClr val="4656A8"/>
                </a:solidFill>
                <a:latin typeface="Arial"/>
                <a:ea typeface="Arial"/>
                <a:cs typeface="Arial"/>
              </a:defRPr>
            </a:pPr>
            <a:r>
              <a:rPr sz="1275">
                <a:solidFill>
                  <a:srgbClr val="4656A8"/>
                </a:solidFill>
                <a:latin typeface="Arial"/>
                <a:ea typeface="Arial"/>
                <a:cs typeface="Arial"/>
              </a:rPr>
              <a:t>Foundation for supervised validation and controlled expansion</a:t>
            </a:r>
          </a:p>
        </p:txBody>
      </p:sp>
      <p:sp>
        <p:nvSpPr>
          <p:cNvPr id="22" name="Rectangle 21">
            <a:extLst>
              <a:ext uri="{FF2B5EF4-FFF2-40B4-BE49-F238E27FC236}">
                <a16:creationId xmlns:a16="http://schemas.microsoft.com/office/drawing/2014/main" id="{F03B9674-9E29-4696-8BF1-A1C62589A06F}"/>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56647A"/>
                </a:solidFill>
                <a:latin typeface="Arial"/>
                <a:ea typeface="Arial"/>
                <a:cs typeface="Arial"/>
              </a:defRPr>
            </a:pPr>
            <a:r>
              <a:rPr sz="900">
                <a:solidFill>
                  <a:srgbClr val="56647A"/>
                </a:solidFill>
                <a:latin typeface="Arial"/>
                <a:ea typeface="Arial"/>
                <a:cs typeface="Arial"/>
              </a:rPr>
              <a:t>11</a:t>
            </a:r>
          </a:p>
        </p:txBody>
      </p:sp>
    </p:spTree>
    <p:extLst>
      <p:ext uri="{BB962C8B-B14F-4D97-AF65-F5344CB8AC3E}">
        <p14:creationId xmlns:p14="http://schemas.microsoft.com/office/powerpoint/2010/main" val="1787341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2E63DC5-2CAB-40C4-958B-9BC3BC9E833B}"/>
              </a:ext>
            </a:extLst>
          </p:cNvPr>
          <p:cNvSpPr>
            <a:spLocks noGrp="1"/>
          </p:cNvSpPr>
          <p:nvPr/>
        </p:nvSpPr>
        <p:spPr>
          <a:xfrm>
            <a:off x="0" y="0"/>
            <a:ext cx="12192000" cy="6858000"/>
          </a:xfrm>
          <a:prstGeom prst="rect">
            <a:avLst/>
          </a:prstGeom>
          <a:solidFill>
            <a:srgbClr val="DDE8F6"/>
          </a:solidFill>
          <a:ln w="0">
            <a:noFill/>
          </a:ln>
        </p:spPr>
      </p:sp>
      <p:sp>
        <p:nvSpPr>
          <p:cNvPr id="2" name="Rectangle 1">
            <a:extLst>
              <a:ext uri="{FF2B5EF4-FFF2-40B4-BE49-F238E27FC236}">
                <a16:creationId xmlns:a16="http://schemas.microsoft.com/office/drawing/2014/main" id="{B3C62762-9E44-4108-AB56-D3C791F29CA1}"/>
              </a:ext>
            </a:extLst>
          </p:cNvPr>
          <p:cNvSpPr>
            <a:spLocks noGrp="1"/>
          </p:cNvSpPr>
          <p:nvPr/>
        </p:nvSpPr>
        <p:spPr>
          <a:xfrm>
            <a:off x="685800" y="419100"/>
            <a:ext cx="666750" cy="209550"/>
          </a:xfrm>
          <a:prstGeom prst="rect">
            <a:avLst/>
          </a:prstGeom>
          <a:noFill/>
          <a:ln w="0">
            <a:noFill/>
          </a:ln>
        </p:spPr>
        <p:txBody>
          <a:bodyPr>
            <a:noAutofit/>
          </a:bodyPr>
          <a:lstStyle/>
          <a:p>
            <a:pPr>
              <a:buNone/>
              <a:defRPr sz="1200" b="1">
                <a:solidFill>
                  <a:srgbClr val="E7A048"/>
                </a:solidFill>
                <a:latin typeface="Arial"/>
                <a:ea typeface="Arial"/>
                <a:cs typeface="Arial"/>
              </a:defRPr>
            </a:pPr>
            <a:r>
              <a:rPr sz="1200" b="1">
                <a:solidFill>
                  <a:srgbClr val="E7A048"/>
                </a:solidFill>
                <a:latin typeface="Arial"/>
                <a:ea typeface="Arial"/>
                <a:cs typeface="Arial"/>
              </a:rPr>
              <a:t>12</a:t>
            </a:r>
          </a:p>
        </p:txBody>
      </p:sp>
      <p:sp>
        <p:nvSpPr>
          <p:cNvPr id="3" name="Rectangle 2">
            <a:extLst>
              <a:ext uri="{FF2B5EF4-FFF2-40B4-BE49-F238E27FC236}">
                <a16:creationId xmlns:a16="http://schemas.microsoft.com/office/drawing/2014/main" id="{3300F1F6-443F-40D7-8FDB-F85041B58165}"/>
              </a:ext>
            </a:extLst>
          </p:cNvPr>
          <p:cNvSpPr>
            <a:spLocks noGrp="1"/>
          </p:cNvSpPr>
          <p:nvPr/>
        </p:nvSpPr>
        <p:spPr>
          <a:xfrm>
            <a:off x="9810750" y="428625"/>
            <a:ext cx="1695450" cy="190500"/>
          </a:xfrm>
          <a:prstGeom prst="rect">
            <a:avLst/>
          </a:prstGeom>
          <a:noFill/>
          <a:ln w="0">
            <a:noFill/>
          </a:ln>
        </p:spPr>
        <p:txBody>
          <a:bodyPr>
            <a:noAutofit/>
          </a:bodyPr>
          <a:lstStyle/>
          <a:p>
            <a:pPr algn="r">
              <a:buNone/>
              <a:defRPr sz="975" b="1">
                <a:solidFill>
                  <a:srgbClr val="4656A8"/>
                </a:solidFill>
                <a:latin typeface="Arial"/>
                <a:ea typeface="Arial"/>
                <a:cs typeface="Arial"/>
              </a:defRPr>
            </a:pPr>
            <a:r>
              <a:rPr sz="975" b="1">
                <a:solidFill>
                  <a:srgbClr val="4656A8"/>
                </a:solidFill>
                <a:latin typeface="Arial"/>
                <a:ea typeface="Arial"/>
                <a:cs typeface="Arial"/>
              </a:rPr>
              <a:t>NETRAJYOTI AI</a:t>
            </a:r>
          </a:p>
        </p:txBody>
      </p:sp>
      <p:sp>
        <p:nvSpPr>
          <p:cNvPr id="4" name="Rectangle 3">
            <a:extLst>
              <a:ext uri="{FF2B5EF4-FFF2-40B4-BE49-F238E27FC236}">
                <a16:creationId xmlns:a16="http://schemas.microsoft.com/office/drawing/2014/main" id="{BDB492E5-B430-4C37-B53A-D31BD734BAE6}"/>
              </a:ext>
            </a:extLst>
          </p:cNvPr>
          <p:cNvSpPr>
            <a:spLocks noGrp="1"/>
          </p:cNvSpPr>
          <p:nvPr/>
        </p:nvSpPr>
        <p:spPr>
          <a:xfrm>
            <a:off x="685800" y="762000"/>
            <a:ext cx="10287000" cy="457200"/>
          </a:xfrm>
          <a:prstGeom prst="rect">
            <a:avLst/>
          </a:prstGeom>
          <a:noFill/>
          <a:ln w="0">
            <a:noFill/>
          </a:ln>
        </p:spPr>
        <p:txBody>
          <a:bodyPr>
            <a:noAutofit/>
          </a:bodyPr>
          <a:lstStyle/>
          <a:p>
            <a:pPr>
              <a:buNone/>
              <a:defRPr sz="2550" b="1">
                <a:solidFill>
                  <a:srgbClr val="202A44"/>
                </a:solidFill>
                <a:latin typeface="Arial"/>
                <a:ea typeface="Arial"/>
                <a:cs typeface="Arial"/>
              </a:defRPr>
            </a:pPr>
            <a:r>
              <a:rPr sz="2550" b="1">
                <a:solidFill>
                  <a:srgbClr val="202A44"/>
                </a:solidFill>
                <a:latin typeface="Arial"/>
                <a:ea typeface="Arial"/>
                <a:cs typeface="Arial"/>
              </a:rPr>
              <a:t>Live demonstration</a:t>
            </a:r>
          </a:p>
        </p:txBody>
      </p:sp>
      <p:sp>
        <p:nvSpPr>
          <p:cNvPr id="5" name="Rectangle 4">
            <a:extLst>
              <a:ext uri="{FF2B5EF4-FFF2-40B4-BE49-F238E27FC236}">
                <a16:creationId xmlns:a16="http://schemas.microsoft.com/office/drawing/2014/main" id="{0EAFCEA7-FA8A-4470-9228-33D2AE8EFD40}"/>
              </a:ext>
            </a:extLst>
          </p:cNvPr>
          <p:cNvSpPr>
            <a:spLocks noGrp="1"/>
          </p:cNvSpPr>
          <p:nvPr/>
        </p:nvSpPr>
        <p:spPr>
          <a:xfrm>
            <a:off x="704850" y="1343025"/>
            <a:ext cx="10287000" cy="266700"/>
          </a:xfrm>
          <a:prstGeom prst="rect">
            <a:avLst/>
          </a:prstGeom>
          <a:noFill/>
          <a:ln w="0">
            <a:noFill/>
          </a:ln>
        </p:spPr>
        <p:txBody>
          <a:bodyPr>
            <a:noAutofit/>
          </a:bodyPr>
          <a:lstStyle/>
          <a:p>
            <a:pPr>
              <a:buNone/>
              <a:defRPr sz="1275">
                <a:solidFill>
                  <a:srgbClr val="56647A"/>
                </a:solidFill>
                <a:latin typeface="Arial"/>
                <a:ea typeface="Arial"/>
                <a:cs typeface="Arial"/>
              </a:defRPr>
            </a:pPr>
            <a:r>
              <a:rPr sz="1275">
                <a:solidFill>
                  <a:srgbClr val="56647A"/>
                </a:solidFill>
                <a:latin typeface="Arial"/>
                <a:ea typeface="Arial"/>
                <a:cs typeface="Arial"/>
              </a:rPr>
              <a:t>A short walkthrough of the user journey and the locked safety-route decision</a:t>
            </a:r>
          </a:p>
        </p:txBody>
      </p:sp>
      <p:sp>
        <p:nvSpPr>
          <p:cNvPr id="6" name="Rectangle 5">
            <a:extLst>
              <a:ext uri="{FF2B5EF4-FFF2-40B4-BE49-F238E27FC236}">
                <a16:creationId xmlns:a16="http://schemas.microsoft.com/office/drawing/2014/main" id="{699B7133-D675-43F4-8C75-D02A06DCF3EC}"/>
              </a:ext>
            </a:extLst>
          </p:cNvPr>
          <p:cNvSpPr>
            <a:spLocks noGrp="1"/>
          </p:cNvSpPr>
          <p:nvPr/>
        </p:nvSpPr>
        <p:spPr>
          <a:xfrm>
            <a:off x="685800" y="1752600"/>
            <a:ext cx="10820400" cy="19050"/>
          </a:xfrm>
          <a:prstGeom prst="rect">
            <a:avLst/>
          </a:prstGeom>
          <a:solidFill>
            <a:srgbClr val="D7D0C7"/>
          </a:solidFill>
          <a:ln w="0">
            <a:noFill/>
          </a:ln>
        </p:spPr>
      </p:sp>
      <p:sp>
        <p:nvSpPr>
          <p:cNvPr id="7" name="Rectangle 6">
            <a:extLst>
              <a:ext uri="{FF2B5EF4-FFF2-40B4-BE49-F238E27FC236}">
                <a16:creationId xmlns:a16="http://schemas.microsoft.com/office/drawing/2014/main" id="{C0FFA98B-F7FD-4D48-91C6-4F13A22315F5}"/>
              </a:ext>
            </a:extLst>
          </p:cNvPr>
          <p:cNvSpPr>
            <a:spLocks noGrp="1"/>
          </p:cNvSpPr>
          <p:nvPr/>
        </p:nvSpPr>
        <p:spPr>
          <a:xfrm>
            <a:off x="952500" y="2667000"/>
            <a:ext cx="1524000" cy="171450"/>
          </a:xfrm>
          <a:prstGeom prst="rect">
            <a:avLst/>
          </a:prstGeom>
          <a:noFill/>
          <a:ln w="0">
            <a:noFill/>
          </a:ln>
        </p:spPr>
        <p:txBody>
          <a:bodyPr>
            <a:noAutofit/>
          </a:bodyPr>
          <a:lstStyle/>
          <a:p>
            <a:pPr>
              <a:buNone/>
              <a:defRPr sz="1050" b="1">
                <a:solidFill>
                  <a:srgbClr val="4656A8"/>
                </a:solidFill>
                <a:latin typeface="Arial"/>
                <a:ea typeface="Arial"/>
                <a:cs typeface="Arial"/>
              </a:defRPr>
            </a:pPr>
            <a:r>
              <a:rPr sz="1050" b="1">
                <a:solidFill>
                  <a:srgbClr val="4656A8"/>
                </a:solidFill>
                <a:latin typeface="Arial"/>
                <a:ea typeface="Arial"/>
                <a:cs typeface="Arial"/>
              </a:rPr>
              <a:t>DEMO FLOW</a:t>
            </a:r>
          </a:p>
        </p:txBody>
      </p:sp>
      <p:sp>
        <p:nvSpPr>
          <p:cNvPr id="8" name="Rectangle: Rounded Corners 7">
            <a:extLst>
              <a:ext uri="{FF2B5EF4-FFF2-40B4-BE49-F238E27FC236}">
                <a16:creationId xmlns:a16="http://schemas.microsoft.com/office/drawing/2014/main" id="{6478A9E1-C3EF-467F-9794-88A0EFAFCD73}"/>
              </a:ext>
            </a:extLst>
          </p:cNvPr>
          <p:cNvSpPr>
            <a:spLocks noGrp="1"/>
          </p:cNvSpPr>
          <p:nvPr/>
        </p:nvSpPr>
        <p:spPr>
          <a:xfrm>
            <a:off x="952500" y="3143250"/>
            <a:ext cx="2857500" cy="1809750"/>
          </a:xfrm>
          <a:prstGeom prst="roundRect">
            <a:avLst>
              <a:gd name="adj" fmla="val 4211"/>
            </a:avLst>
          </a:prstGeom>
          <a:solidFill>
            <a:srgbClr val="FFFFFF"/>
          </a:solidFill>
          <a:ln w="9525">
            <a:solidFill>
              <a:srgbClr val="D7D0C7"/>
            </a:solidFill>
          </a:ln>
        </p:spPr>
      </p:sp>
      <p:sp>
        <p:nvSpPr>
          <p:cNvPr id="9" name="Oval 8">
            <a:extLst>
              <a:ext uri="{FF2B5EF4-FFF2-40B4-BE49-F238E27FC236}">
                <a16:creationId xmlns:a16="http://schemas.microsoft.com/office/drawing/2014/main" id="{D754E0C4-6606-4BD1-88C0-2CEB8E3301E1}"/>
              </a:ext>
            </a:extLst>
          </p:cNvPr>
          <p:cNvSpPr>
            <a:spLocks noGrp="1"/>
          </p:cNvSpPr>
          <p:nvPr/>
        </p:nvSpPr>
        <p:spPr>
          <a:xfrm>
            <a:off x="1219200" y="3429000"/>
            <a:ext cx="457200" cy="457200"/>
          </a:xfrm>
          <a:prstGeom prst="ellipse">
            <a:avLst/>
          </a:prstGeom>
          <a:solidFill>
            <a:srgbClr val="237A7A"/>
          </a:solidFill>
          <a:ln w="0">
            <a:noFill/>
          </a:ln>
        </p:spPr>
      </p:sp>
      <p:sp>
        <p:nvSpPr>
          <p:cNvPr id="10" name="Rectangle 9">
            <a:extLst>
              <a:ext uri="{FF2B5EF4-FFF2-40B4-BE49-F238E27FC236}">
                <a16:creationId xmlns:a16="http://schemas.microsoft.com/office/drawing/2014/main" id="{7F068363-0E47-4EE9-9C97-0F2BF06BA616}"/>
              </a:ext>
            </a:extLst>
          </p:cNvPr>
          <p:cNvSpPr>
            <a:spLocks noGrp="1"/>
          </p:cNvSpPr>
          <p:nvPr/>
        </p:nvSpPr>
        <p:spPr>
          <a:xfrm>
            <a:off x="1219200" y="3524250"/>
            <a:ext cx="457200" cy="209550"/>
          </a:xfrm>
          <a:prstGeom prst="rect">
            <a:avLst/>
          </a:prstGeom>
          <a:noFill/>
          <a:ln w="0">
            <a:noFill/>
          </a:ln>
        </p:spPr>
        <p:txBody>
          <a:bodyPr>
            <a:noAutofit/>
          </a:bodyP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1</a:t>
            </a:r>
          </a:p>
        </p:txBody>
      </p:sp>
      <p:sp>
        <p:nvSpPr>
          <p:cNvPr id="11" name="Rectangle 10">
            <a:extLst>
              <a:ext uri="{FF2B5EF4-FFF2-40B4-BE49-F238E27FC236}">
                <a16:creationId xmlns:a16="http://schemas.microsoft.com/office/drawing/2014/main" id="{AFC4F48F-5633-4213-BEC1-ACA6E76C1F84}"/>
              </a:ext>
            </a:extLst>
          </p:cNvPr>
          <p:cNvSpPr>
            <a:spLocks noGrp="1"/>
          </p:cNvSpPr>
          <p:nvPr/>
        </p:nvSpPr>
        <p:spPr>
          <a:xfrm>
            <a:off x="1219200" y="4095750"/>
            <a:ext cx="2324100" cy="266700"/>
          </a:xfrm>
          <a:prstGeom prst="rect">
            <a:avLst/>
          </a:prstGeom>
          <a:noFill/>
          <a:ln w="0">
            <a:noFill/>
          </a:ln>
        </p:spPr>
        <p:txBody>
          <a:bodyPr>
            <a:noAutofit/>
          </a:bodyPr>
          <a:lstStyle/>
          <a:p>
            <a:pPr>
              <a:buNone/>
              <a:defRPr sz="1350" b="1">
                <a:solidFill>
                  <a:srgbClr val="202A44"/>
                </a:solidFill>
                <a:latin typeface="Arial"/>
                <a:ea typeface="Arial"/>
                <a:cs typeface="Arial"/>
              </a:defRPr>
            </a:pPr>
            <a:r>
              <a:rPr sz="1350" b="1">
                <a:solidFill>
                  <a:srgbClr val="202A44"/>
                </a:solidFill>
                <a:latin typeface="Arial"/>
                <a:ea typeface="Arial"/>
                <a:cs typeface="Arial"/>
              </a:rPr>
              <a:t>Start the Bengali journey</a:t>
            </a:r>
          </a:p>
        </p:txBody>
      </p:sp>
      <p:sp>
        <p:nvSpPr>
          <p:cNvPr id="12" name="Rectangle 11">
            <a:extLst>
              <a:ext uri="{FF2B5EF4-FFF2-40B4-BE49-F238E27FC236}">
                <a16:creationId xmlns:a16="http://schemas.microsoft.com/office/drawing/2014/main" id="{1D9182E7-5156-4902-B5B3-0A226E297749}"/>
              </a:ext>
            </a:extLst>
          </p:cNvPr>
          <p:cNvSpPr>
            <a:spLocks noGrp="1"/>
          </p:cNvSpPr>
          <p:nvPr/>
        </p:nvSpPr>
        <p:spPr>
          <a:xfrm>
            <a:off x="1219200" y="4476750"/>
            <a:ext cx="2324100" cy="266700"/>
          </a:xfrm>
          <a:prstGeom prst="rect">
            <a:avLst/>
          </a:prstGeom>
          <a:noFill/>
          <a:ln w="0">
            <a:noFill/>
          </a:ln>
        </p:spPr>
        <p:txBody>
          <a:bodyPr>
            <a:noAutofit/>
          </a:bodyPr>
          <a:lstStyle/>
          <a:p>
            <a:pPr>
              <a:buNone/>
              <a:defRPr sz="1050">
                <a:solidFill>
                  <a:srgbClr val="56647A"/>
                </a:solidFill>
                <a:latin typeface="Arial"/>
                <a:ea typeface="Arial"/>
                <a:cs typeface="Arial"/>
              </a:defRPr>
            </a:pPr>
            <a:r>
              <a:rPr sz="1050">
                <a:solidFill>
                  <a:srgbClr val="56647A"/>
                </a:solidFill>
                <a:latin typeface="Arial"/>
                <a:ea typeface="Arial"/>
                <a:cs typeface="Arial"/>
              </a:rPr>
              <a:t>Select Bengali options</a:t>
            </a:r>
          </a:p>
        </p:txBody>
      </p:sp>
      <p:sp>
        <p:nvSpPr>
          <p:cNvPr id="13" name="Rectangle: Rounded Corners 12">
            <a:extLst>
              <a:ext uri="{FF2B5EF4-FFF2-40B4-BE49-F238E27FC236}">
                <a16:creationId xmlns:a16="http://schemas.microsoft.com/office/drawing/2014/main" id="{C7F73EE2-B3FA-4FB8-8314-76218AC2876A}"/>
              </a:ext>
            </a:extLst>
          </p:cNvPr>
          <p:cNvSpPr>
            <a:spLocks noGrp="1"/>
          </p:cNvSpPr>
          <p:nvPr/>
        </p:nvSpPr>
        <p:spPr>
          <a:xfrm>
            <a:off x="4381500" y="3143250"/>
            <a:ext cx="2857500" cy="1809750"/>
          </a:xfrm>
          <a:prstGeom prst="roundRect">
            <a:avLst>
              <a:gd name="adj" fmla="val 4211"/>
            </a:avLst>
          </a:prstGeom>
          <a:solidFill>
            <a:srgbClr val="FFFFFF"/>
          </a:solidFill>
          <a:ln w="9525">
            <a:solidFill>
              <a:srgbClr val="D7D0C7"/>
            </a:solidFill>
          </a:ln>
        </p:spPr>
      </p:sp>
      <p:sp>
        <p:nvSpPr>
          <p:cNvPr id="14" name="Oval 13">
            <a:extLst>
              <a:ext uri="{FF2B5EF4-FFF2-40B4-BE49-F238E27FC236}">
                <a16:creationId xmlns:a16="http://schemas.microsoft.com/office/drawing/2014/main" id="{AF3BF458-486A-4834-99B0-C58F99055B17}"/>
              </a:ext>
            </a:extLst>
          </p:cNvPr>
          <p:cNvSpPr>
            <a:spLocks noGrp="1"/>
          </p:cNvSpPr>
          <p:nvPr/>
        </p:nvSpPr>
        <p:spPr>
          <a:xfrm>
            <a:off x="4648200" y="3429000"/>
            <a:ext cx="457200" cy="457200"/>
          </a:xfrm>
          <a:prstGeom prst="ellipse">
            <a:avLst/>
          </a:prstGeom>
          <a:solidFill>
            <a:srgbClr val="4656A8"/>
          </a:solidFill>
          <a:ln w="0">
            <a:noFill/>
          </a:ln>
        </p:spPr>
      </p:sp>
      <p:sp>
        <p:nvSpPr>
          <p:cNvPr id="15" name="Rectangle 14">
            <a:extLst>
              <a:ext uri="{FF2B5EF4-FFF2-40B4-BE49-F238E27FC236}">
                <a16:creationId xmlns:a16="http://schemas.microsoft.com/office/drawing/2014/main" id="{E0DE8259-72EB-40FF-97EC-102FF88192D2}"/>
              </a:ext>
            </a:extLst>
          </p:cNvPr>
          <p:cNvSpPr>
            <a:spLocks noGrp="1"/>
          </p:cNvSpPr>
          <p:nvPr/>
        </p:nvSpPr>
        <p:spPr>
          <a:xfrm>
            <a:off x="4648200" y="3524250"/>
            <a:ext cx="457200" cy="209550"/>
          </a:xfrm>
          <a:prstGeom prst="rect">
            <a:avLst/>
          </a:prstGeom>
          <a:noFill/>
          <a:ln w="0">
            <a:noFill/>
          </a:ln>
        </p:spPr>
        <p:txBody>
          <a:bodyPr>
            <a:noAutofit/>
          </a:bodyP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2</a:t>
            </a:r>
          </a:p>
        </p:txBody>
      </p:sp>
      <p:sp>
        <p:nvSpPr>
          <p:cNvPr id="16" name="Rectangle 15">
            <a:extLst>
              <a:ext uri="{FF2B5EF4-FFF2-40B4-BE49-F238E27FC236}">
                <a16:creationId xmlns:a16="http://schemas.microsoft.com/office/drawing/2014/main" id="{C5C19343-0B4B-4140-8FBA-88AB9959EBB9}"/>
              </a:ext>
            </a:extLst>
          </p:cNvPr>
          <p:cNvSpPr>
            <a:spLocks noGrp="1"/>
          </p:cNvSpPr>
          <p:nvPr/>
        </p:nvSpPr>
        <p:spPr>
          <a:xfrm>
            <a:off x="4648200" y="4095750"/>
            <a:ext cx="2324100" cy="266700"/>
          </a:xfrm>
          <a:prstGeom prst="rect">
            <a:avLst/>
          </a:prstGeom>
          <a:noFill/>
          <a:ln w="0">
            <a:noFill/>
          </a:ln>
        </p:spPr>
        <p:txBody>
          <a:bodyPr>
            <a:noAutofit/>
          </a:bodyPr>
          <a:lstStyle/>
          <a:p>
            <a:pPr>
              <a:buNone/>
              <a:defRPr sz="1350" b="1">
                <a:solidFill>
                  <a:srgbClr val="202A44"/>
                </a:solidFill>
                <a:latin typeface="Arial"/>
                <a:ea typeface="Arial"/>
                <a:cs typeface="Arial"/>
              </a:defRPr>
            </a:pPr>
            <a:r>
              <a:rPr sz="1350" b="1">
                <a:solidFill>
                  <a:srgbClr val="202A44"/>
                </a:solidFill>
                <a:latin typeface="Arial"/>
                <a:ea typeface="Arial"/>
                <a:cs typeface="Arial"/>
              </a:rPr>
              <a:t>Select symptoms</a:t>
            </a:r>
          </a:p>
        </p:txBody>
      </p:sp>
      <p:sp>
        <p:nvSpPr>
          <p:cNvPr id="17" name="Rectangle 16">
            <a:extLst>
              <a:ext uri="{FF2B5EF4-FFF2-40B4-BE49-F238E27FC236}">
                <a16:creationId xmlns:a16="http://schemas.microsoft.com/office/drawing/2014/main" id="{5342998F-A047-4E91-9C24-1599F9DFB046}"/>
              </a:ext>
            </a:extLst>
          </p:cNvPr>
          <p:cNvSpPr>
            <a:spLocks noGrp="1"/>
          </p:cNvSpPr>
          <p:nvPr/>
        </p:nvSpPr>
        <p:spPr>
          <a:xfrm>
            <a:off x="4648200" y="4476750"/>
            <a:ext cx="2324100" cy="266700"/>
          </a:xfrm>
          <a:prstGeom prst="rect">
            <a:avLst/>
          </a:prstGeom>
          <a:noFill/>
          <a:ln w="0">
            <a:noFill/>
          </a:ln>
        </p:spPr>
        <p:txBody>
          <a:bodyPr>
            <a:noAutofit/>
          </a:bodyPr>
          <a:lstStyle/>
          <a:p>
            <a:pPr>
              <a:buNone/>
              <a:defRPr sz="1050">
                <a:solidFill>
                  <a:srgbClr val="56647A"/>
                </a:solidFill>
                <a:latin typeface="Arial"/>
                <a:ea typeface="Arial"/>
                <a:cs typeface="Arial"/>
              </a:defRPr>
            </a:pPr>
            <a:r>
              <a:rPr sz="1050">
                <a:solidFill>
                  <a:srgbClr val="56647A"/>
                </a:solidFill>
                <a:latin typeface="Arial"/>
                <a:ea typeface="Arial"/>
                <a:cs typeface="Arial"/>
              </a:rPr>
              <a:t>Fixed selections determine the route</a:t>
            </a:r>
          </a:p>
        </p:txBody>
      </p:sp>
      <p:sp>
        <p:nvSpPr>
          <p:cNvPr id="18" name="Rectangle: Rounded Corners 17">
            <a:extLst>
              <a:ext uri="{FF2B5EF4-FFF2-40B4-BE49-F238E27FC236}">
                <a16:creationId xmlns:a16="http://schemas.microsoft.com/office/drawing/2014/main" id="{A80490DC-E19A-41BC-B011-8EEE100216D2}"/>
              </a:ext>
            </a:extLst>
          </p:cNvPr>
          <p:cNvSpPr>
            <a:spLocks noGrp="1"/>
          </p:cNvSpPr>
          <p:nvPr/>
        </p:nvSpPr>
        <p:spPr>
          <a:xfrm>
            <a:off x="7810500" y="3143250"/>
            <a:ext cx="2857500" cy="1809750"/>
          </a:xfrm>
          <a:prstGeom prst="roundRect">
            <a:avLst>
              <a:gd name="adj" fmla="val 4211"/>
            </a:avLst>
          </a:prstGeom>
          <a:solidFill>
            <a:srgbClr val="FFFFFF"/>
          </a:solidFill>
          <a:ln w="9525">
            <a:solidFill>
              <a:srgbClr val="D7D0C7"/>
            </a:solidFill>
          </a:ln>
        </p:spPr>
      </p:sp>
      <p:sp>
        <p:nvSpPr>
          <p:cNvPr id="19" name="Oval 18">
            <a:extLst>
              <a:ext uri="{FF2B5EF4-FFF2-40B4-BE49-F238E27FC236}">
                <a16:creationId xmlns:a16="http://schemas.microsoft.com/office/drawing/2014/main" id="{3DF38E60-65AA-47CE-A9E8-5509F785AFFB}"/>
              </a:ext>
            </a:extLst>
          </p:cNvPr>
          <p:cNvSpPr>
            <a:spLocks noGrp="1"/>
          </p:cNvSpPr>
          <p:nvPr/>
        </p:nvSpPr>
        <p:spPr>
          <a:xfrm>
            <a:off x="8077200" y="3429000"/>
            <a:ext cx="457200" cy="457200"/>
          </a:xfrm>
          <a:prstGeom prst="ellipse">
            <a:avLst/>
          </a:prstGeom>
          <a:solidFill>
            <a:srgbClr val="DE664C"/>
          </a:solidFill>
          <a:ln w="0">
            <a:noFill/>
          </a:ln>
        </p:spPr>
      </p:sp>
      <p:sp>
        <p:nvSpPr>
          <p:cNvPr id="20" name="Rectangle 19">
            <a:extLst>
              <a:ext uri="{FF2B5EF4-FFF2-40B4-BE49-F238E27FC236}">
                <a16:creationId xmlns:a16="http://schemas.microsoft.com/office/drawing/2014/main" id="{B5DCFAC9-0588-485E-9B7B-646B1386E01D}"/>
              </a:ext>
            </a:extLst>
          </p:cNvPr>
          <p:cNvSpPr>
            <a:spLocks noGrp="1"/>
          </p:cNvSpPr>
          <p:nvPr/>
        </p:nvSpPr>
        <p:spPr>
          <a:xfrm>
            <a:off x="8077200" y="3524250"/>
            <a:ext cx="457200" cy="209550"/>
          </a:xfrm>
          <a:prstGeom prst="rect">
            <a:avLst/>
          </a:prstGeom>
          <a:noFill/>
          <a:ln w="0">
            <a:noFill/>
          </a:ln>
        </p:spPr>
        <p:txBody>
          <a:bodyPr>
            <a:noAutofit/>
          </a:bodyPr>
          <a:lstStyle/>
          <a:p>
            <a:pPr algn="ctr">
              <a:buNone/>
              <a:defRPr sz="1425" b="1">
                <a:solidFill>
                  <a:srgbClr val="FFFFFF"/>
                </a:solidFill>
                <a:latin typeface="Arial"/>
                <a:ea typeface="Arial"/>
                <a:cs typeface="Arial"/>
              </a:defRPr>
            </a:pPr>
            <a:r>
              <a:rPr sz="1425" b="1">
                <a:solidFill>
                  <a:srgbClr val="FFFFFF"/>
                </a:solidFill>
                <a:latin typeface="Arial"/>
                <a:ea typeface="Arial"/>
                <a:cs typeface="Arial"/>
              </a:rPr>
              <a:t>3</a:t>
            </a:r>
          </a:p>
        </p:txBody>
      </p:sp>
      <p:sp>
        <p:nvSpPr>
          <p:cNvPr id="21" name="Rectangle 20">
            <a:extLst>
              <a:ext uri="{FF2B5EF4-FFF2-40B4-BE49-F238E27FC236}">
                <a16:creationId xmlns:a16="http://schemas.microsoft.com/office/drawing/2014/main" id="{40341530-DAD4-4F78-BD5D-972F66D4D50F}"/>
              </a:ext>
            </a:extLst>
          </p:cNvPr>
          <p:cNvSpPr>
            <a:spLocks noGrp="1"/>
          </p:cNvSpPr>
          <p:nvPr/>
        </p:nvSpPr>
        <p:spPr>
          <a:xfrm>
            <a:off x="8077200" y="4095750"/>
            <a:ext cx="2324100" cy="266700"/>
          </a:xfrm>
          <a:prstGeom prst="rect">
            <a:avLst/>
          </a:prstGeom>
          <a:noFill/>
          <a:ln w="0">
            <a:noFill/>
          </a:ln>
        </p:spPr>
        <p:txBody>
          <a:bodyPr>
            <a:noAutofit/>
          </a:bodyPr>
          <a:lstStyle/>
          <a:p>
            <a:pPr>
              <a:buNone/>
              <a:defRPr sz="1350" b="1">
                <a:solidFill>
                  <a:srgbClr val="202A44"/>
                </a:solidFill>
                <a:latin typeface="Arial"/>
                <a:ea typeface="Arial"/>
                <a:cs typeface="Arial"/>
              </a:defRPr>
            </a:pPr>
            <a:r>
              <a:rPr sz="1350" b="1">
                <a:solidFill>
                  <a:srgbClr val="202A44"/>
                </a:solidFill>
                <a:latin typeface="Arial"/>
                <a:ea typeface="Arial"/>
                <a:cs typeface="Arial"/>
              </a:rPr>
              <a:t>View the safe result</a:t>
            </a:r>
          </a:p>
        </p:txBody>
      </p:sp>
      <p:sp>
        <p:nvSpPr>
          <p:cNvPr id="22" name="Rectangle 21">
            <a:extLst>
              <a:ext uri="{FF2B5EF4-FFF2-40B4-BE49-F238E27FC236}">
                <a16:creationId xmlns:a16="http://schemas.microsoft.com/office/drawing/2014/main" id="{7D6AE49C-59A0-47FE-88D8-CA14A25BF7E9}"/>
              </a:ext>
            </a:extLst>
          </p:cNvPr>
          <p:cNvSpPr>
            <a:spLocks noGrp="1"/>
          </p:cNvSpPr>
          <p:nvPr/>
        </p:nvSpPr>
        <p:spPr>
          <a:xfrm>
            <a:off x="8077200" y="4476750"/>
            <a:ext cx="2324100" cy="266700"/>
          </a:xfrm>
          <a:prstGeom prst="rect">
            <a:avLst/>
          </a:prstGeom>
          <a:noFill/>
          <a:ln w="0">
            <a:noFill/>
          </a:ln>
        </p:spPr>
        <p:txBody>
          <a:bodyPr>
            <a:noAutofit/>
          </a:bodyPr>
          <a:lstStyle/>
          <a:p>
            <a:pPr>
              <a:buNone/>
              <a:defRPr sz="1050">
                <a:solidFill>
                  <a:srgbClr val="56647A"/>
                </a:solidFill>
                <a:latin typeface="Arial"/>
                <a:ea typeface="Arial"/>
                <a:cs typeface="Arial"/>
              </a:defRPr>
            </a:pPr>
            <a:r>
              <a:rPr sz="1050">
                <a:solidFill>
                  <a:srgbClr val="56647A"/>
                </a:solidFill>
                <a:latin typeface="Arial"/>
                <a:ea typeface="Arial"/>
                <a:cs typeface="Arial"/>
              </a:rPr>
              <a:t>Show route, guidance, and next action</a:t>
            </a:r>
          </a:p>
        </p:txBody>
      </p:sp>
      <p:sp>
        <p:nvSpPr>
          <p:cNvPr id="23" name="Rectangle: Rounded Corners 22">
            <a:extLst>
              <a:ext uri="{FF2B5EF4-FFF2-40B4-BE49-F238E27FC236}">
                <a16:creationId xmlns:a16="http://schemas.microsoft.com/office/drawing/2014/main" id="{F158FCC9-A7FA-480A-912C-B2DBE7A35385}"/>
              </a:ext>
            </a:extLst>
          </p:cNvPr>
          <p:cNvSpPr>
            <a:spLocks noGrp="1"/>
          </p:cNvSpPr>
          <p:nvPr/>
        </p:nvSpPr>
        <p:spPr>
          <a:xfrm>
            <a:off x="1657350" y="5543550"/>
            <a:ext cx="8877300" cy="552450"/>
          </a:xfrm>
          <a:prstGeom prst="roundRect">
            <a:avLst>
              <a:gd name="adj" fmla="val 13793"/>
            </a:avLst>
          </a:prstGeom>
          <a:solidFill>
            <a:srgbClr val="E9E7F5"/>
          </a:solidFill>
          <a:ln w="0">
            <a:noFill/>
          </a:ln>
        </p:spPr>
      </p:sp>
      <p:sp>
        <p:nvSpPr>
          <p:cNvPr id="24" name="Rectangle 23">
            <a:extLst>
              <a:ext uri="{FF2B5EF4-FFF2-40B4-BE49-F238E27FC236}">
                <a16:creationId xmlns:a16="http://schemas.microsoft.com/office/drawing/2014/main" id="{4AC8F6B4-6C3F-46E1-B510-EFFAB8706A64}"/>
              </a:ext>
            </a:extLst>
          </p:cNvPr>
          <p:cNvSpPr>
            <a:spLocks noGrp="1"/>
          </p:cNvSpPr>
          <p:nvPr/>
        </p:nvSpPr>
        <p:spPr>
          <a:xfrm>
            <a:off x="1962150" y="5715000"/>
            <a:ext cx="8267700" cy="190500"/>
          </a:xfrm>
          <a:prstGeom prst="rect">
            <a:avLst/>
          </a:prstGeom>
          <a:noFill/>
          <a:ln w="0">
            <a:noFill/>
          </a:ln>
        </p:spPr>
        <p:txBody>
          <a:bodyPr>
            <a:noAutofit/>
          </a:bodyPr>
          <a:lstStyle/>
          <a:p>
            <a:pPr algn="ctr">
              <a:buNone/>
              <a:defRPr sz="1050" b="1">
                <a:solidFill>
                  <a:srgbClr val="202A44"/>
                </a:solidFill>
                <a:latin typeface="Arial"/>
                <a:ea typeface="Arial"/>
                <a:cs typeface="Arial"/>
              </a:defRPr>
            </a:pPr>
            <a:r>
              <a:rPr sz="1050" b="1">
                <a:solidFill>
                  <a:srgbClr val="202A44"/>
                </a:solidFill>
                <a:latin typeface="Arial"/>
                <a:ea typeface="Arial"/>
                <a:cs typeface="Arial"/>
              </a:rPr>
              <a:t>Demo check: the Java deterministic engine fixes the route before PostgreSQL RAG and Local Ollama provide the explanation.</a:t>
            </a:r>
          </a:p>
        </p:txBody>
      </p:sp>
      <p:sp>
        <p:nvSpPr>
          <p:cNvPr id="25" name="Rectangle 24">
            <a:extLst>
              <a:ext uri="{FF2B5EF4-FFF2-40B4-BE49-F238E27FC236}">
                <a16:creationId xmlns:a16="http://schemas.microsoft.com/office/drawing/2014/main" id="{9AC1E56D-B820-48E2-83AB-6C3BBBC15B3F}"/>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56647A"/>
                </a:solidFill>
                <a:latin typeface="Arial"/>
                <a:ea typeface="Arial"/>
                <a:cs typeface="Arial"/>
              </a:defRPr>
            </a:pPr>
            <a:r>
              <a:rPr sz="900">
                <a:solidFill>
                  <a:srgbClr val="56647A"/>
                </a:solidFill>
                <a:latin typeface="Arial"/>
                <a:ea typeface="Arial"/>
                <a:cs typeface="Arial"/>
              </a:rPr>
              <a:t>12</a:t>
            </a:r>
          </a:p>
        </p:txBody>
      </p:sp>
    </p:spTree>
    <p:extLst>
      <p:ext uri="{BB962C8B-B14F-4D97-AF65-F5344CB8AC3E}">
        <p14:creationId xmlns:p14="http://schemas.microsoft.com/office/powerpoint/2010/main" val="1463066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ADDA1D3-D28B-4C9A-B8D1-81127A98EEED}"/>
              </a:ext>
            </a:extLst>
          </p:cNvPr>
          <p:cNvSpPr>
            <a:spLocks noGrp="1"/>
          </p:cNvSpPr>
          <p:nvPr/>
        </p:nvSpPr>
        <p:spPr>
          <a:xfrm>
            <a:off x="0" y="0"/>
            <a:ext cx="12192000" cy="6858000"/>
          </a:xfrm>
          <a:prstGeom prst="rect">
            <a:avLst/>
          </a:prstGeom>
          <a:solidFill>
            <a:srgbClr val="202A44"/>
          </a:solidFill>
          <a:ln w="0">
            <a:noFill/>
          </a:ln>
        </p:spPr>
      </p:sp>
      <p:sp>
        <p:nvSpPr>
          <p:cNvPr id="2" name="Rectangle 1">
            <a:extLst>
              <a:ext uri="{FF2B5EF4-FFF2-40B4-BE49-F238E27FC236}">
                <a16:creationId xmlns:a16="http://schemas.microsoft.com/office/drawing/2014/main" id="{526460E9-AD2F-44EF-AD4B-472BA7D37F55}"/>
              </a:ext>
            </a:extLst>
          </p:cNvPr>
          <p:cNvSpPr>
            <a:spLocks noGrp="1"/>
          </p:cNvSpPr>
          <p:nvPr/>
        </p:nvSpPr>
        <p:spPr>
          <a:xfrm>
            <a:off x="990600" y="819150"/>
            <a:ext cx="2476500" cy="190500"/>
          </a:xfrm>
          <a:prstGeom prst="rect">
            <a:avLst/>
          </a:prstGeom>
          <a:noFill/>
          <a:ln w="0">
            <a:noFill/>
          </a:ln>
        </p:spPr>
        <p:txBody>
          <a:bodyPr>
            <a:noAutofit/>
          </a:bodyPr>
          <a:lstStyle/>
          <a:p>
            <a:pPr>
              <a:buNone/>
              <a:defRPr sz="1200" b="1">
                <a:solidFill>
                  <a:srgbClr val="E7A048"/>
                </a:solidFill>
                <a:latin typeface="Arial"/>
                <a:ea typeface="Arial"/>
                <a:cs typeface="Arial"/>
              </a:defRPr>
            </a:pPr>
            <a:r>
              <a:rPr sz="1200" b="1">
                <a:solidFill>
                  <a:srgbClr val="E7A048"/>
                </a:solidFill>
                <a:latin typeface="Arial"/>
                <a:ea typeface="Arial"/>
                <a:cs typeface="Arial"/>
              </a:rPr>
              <a:t>NETRAJYOTI AI</a:t>
            </a:r>
          </a:p>
        </p:txBody>
      </p:sp>
      <p:sp>
        <p:nvSpPr>
          <p:cNvPr id="3" name="Rectangle 2">
            <a:extLst>
              <a:ext uri="{FF2B5EF4-FFF2-40B4-BE49-F238E27FC236}">
                <a16:creationId xmlns:a16="http://schemas.microsoft.com/office/drawing/2014/main" id="{2E2245CA-48F0-43F3-94AF-D964954B1B38}"/>
              </a:ext>
            </a:extLst>
          </p:cNvPr>
          <p:cNvSpPr>
            <a:spLocks noGrp="1"/>
          </p:cNvSpPr>
          <p:nvPr/>
        </p:nvSpPr>
        <p:spPr>
          <a:xfrm>
            <a:off x="990600" y="1381125"/>
            <a:ext cx="1809750" cy="47625"/>
          </a:xfrm>
          <a:prstGeom prst="rect">
            <a:avLst/>
          </a:prstGeom>
          <a:solidFill>
            <a:srgbClr val="237A7A"/>
          </a:solidFill>
          <a:ln w="0">
            <a:noFill/>
          </a:ln>
        </p:spPr>
      </p:sp>
      <p:sp>
        <p:nvSpPr>
          <p:cNvPr id="4" name="Rectangle 3">
            <a:extLst>
              <a:ext uri="{FF2B5EF4-FFF2-40B4-BE49-F238E27FC236}">
                <a16:creationId xmlns:a16="http://schemas.microsoft.com/office/drawing/2014/main" id="{4A5CD425-9B51-49D3-8F26-0B4975F62375}"/>
              </a:ext>
            </a:extLst>
          </p:cNvPr>
          <p:cNvSpPr>
            <a:spLocks noGrp="1"/>
          </p:cNvSpPr>
          <p:nvPr/>
        </p:nvSpPr>
        <p:spPr>
          <a:xfrm>
            <a:off x="990600" y="2238375"/>
            <a:ext cx="6477000" cy="609600"/>
          </a:xfrm>
          <a:prstGeom prst="rect">
            <a:avLst/>
          </a:prstGeom>
          <a:noFill/>
          <a:ln w="0">
            <a:noFill/>
          </a:ln>
        </p:spPr>
        <p:txBody>
          <a:bodyPr>
            <a:noAutofit/>
          </a:bodyPr>
          <a:lstStyle/>
          <a:p>
            <a:pPr>
              <a:buNone/>
              <a:defRPr sz="3450" b="1">
                <a:solidFill>
                  <a:srgbClr val="FFFFFF"/>
                </a:solidFill>
                <a:latin typeface="Arial"/>
                <a:ea typeface="Arial"/>
                <a:cs typeface="Arial"/>
              </a:defRPr>
            </a:pPr>
            <a:r>
              <a:rPr sz="3450" b="1">
                <a:solidFill>
                  <a:srgbClr val="FFFFFF"/>
                </a:solidFill>
                <a:latin typeface="Arial"/>
                <a:ea typeface="Arial"/>
                <a:cs typeface="Arial"/>
              </a:rPr>
              <a:t>Thank you</a:t>
            </a:r>
          </a:p>
        </p:txBody>
      </p:sp>
      <p:sp>
        <p:nvSpPr>
          <p:cNvPr id="5" name="Rectangle 4">
            <a:extLst>
              <a:ext uri="{FF2B5EF4-FFF2-40B4-BE49-F238E27FC236}">
                <a16:creationId xmlns:a16="http://schemas.microsoft.com/office/drawing/2014/main" id="{3E6E1E4F-9884-41A4-899A-F977E2549AC0}"/>
              </a:ext>
            </a:extLst>
          </p:cNvPr>
          <p:cNvSpPr>
            <a:spLocks noGrp="1"/>
          </p:cNvSpPr>
          <p:nvPr/>
        </p:nvSpPr>
        <p:spPr>
          <a:xfrm>
            <a:off x="990600" y="3067050"/>
            <a:ext cx="5810250" cy="304800"/>
          </a:xfrm>
          <a:prstGeom prst="rect">
            <a:avLst/>
          </a:prstGeom>
          <a:noFill/>
          <a:ln w="0">
            <a:noFill/>
          </a:ln>
        </p:spPr>
        <p:txBody>
          <a:bodyPr>
            <a:noAutofit/>
          </a:bodyPr>
          <a:lstStyle/>
          <a:p>
            <a:pPr>
              <a:buNone/>
              <a:defRPr sz="1650">
                <a:solidFill>
                  <a:srgbClr val="DDE8F6"/>
                </a:solidFill>
                <a:latin typeface="Arial"/>
                <a:ea typeface="Arial"/>
                <a:cs typeface="Arial"/>
              </a:defRPr>
            </a:pPr>
            <a:r>
              <a:rPr sz="1650">
                <a:solidFill>
                  <a:srgbClr val="DDE8F6"/>
                </a:solidFill>
                <a:latin typeface="Arial"/>
                <a:ea typeface="Arial"/>
                <a:cs typeface="Arial"/>
              </a:rPr>
              <a:t>Questions and discussion</a:t>
            </a:r>
          </a:p>
        </p:txBody>
      </p:sp>
      <p:sp>
        <p:nvSpPr>
          <p:cNvPr id="6" name="Rectangle 5">
            <a:extLst>
              <a:ext uri="{FF2B5EF4-FFF2-40B4-BE49-F238E27FC236}">
                <a16:creationId xmlns:a16="http://schemas.microsoft.com/office/drawing/2014/main" id="{229682B5-91D7-4167-9832-E5AD16597A60}"/>
              </a:ext>
            </a:extLst>
          </p:cNvPr>
          <p:cNvSpPr>
            <a:spLocks noGrp="1"/>
          </p:cNvSpPr>
          <p:nvPr/>
        </p:nvSpPr>
        <p:spPr>
          <a:xfrm>
            <a:off x="990600" y="5105400"/>
            <a:ext cx="6191250" cy="247650"/>
          </a:xfrm>
          <a:prstGeom prst="rect">
            <a:avLst/>
          </a:prstGeom>
          <a:noFill/>
          <a:ln w="0">
            <a:noFill/>
          </a:ln>
        </p:spPr>
        <p:txBody>
          <a:bodyPr>
            <a:noAutofit/>
          </a:bodyPr>
          <a:lstStyle/>
          <a:p>
            <a:pPr>
              <a:buNone/>
              <a:defRPr sz="1350">
                <a:solidFill>
                  <a:srgbClr val="FFFFFF"/>
                </a:solidFill>
                <a:latin typeface="Arial"/>
                <a:ea typeface="Arial"/>
                <a:cs typeface="Arial"/>
              </a:defRPr>
            </a:pPr>
            <a:r>
              <a:rPr sz="1350">
                <a:solidFill>
                  <a:srgbClr val="FFFFFF"/>
                </a:solidFill>
                <a:latin typeface="Arial"/>
                <a:ea typeface="Arial"/>
                <a:cs typeface="Arial"/>
              </a:rPr>
              <a:t>Reliable Bengali eye-care guidance with a fixed safety route</a:t>
            </a:r>
          </a:p>
        </p:txBody>
      </p:sp>
      <p:sp>
        <p:nvSpPr>
          <p:cNvPr id="7" name="Rectangle 6">
            <a:extLst>
              <a:ext uri="{FF2B5EF4-FFF2-40B4-BE49-F238E27FC236}">
                <a16:creationId xmlns:a16="http://schemas.microsoft.com/office/drawing/2014/main" id="{6E2C729F-877F-4BCB-BA1A-D705E4034E20}"/>
              </a:ext>
            </a:extLst>
          </p:cNvPr>
          <p:cNvSpPr>
            <a:spLocks noGrp="1"/>
          </p:cNvSpPr>
          <p:nvPr/>
        </p:nvSpPr>
        <p:spPr>
          <a:xfrm>
            <a:off x="990600" y="5524500"/>
            <a:ext cx="7143750" cy="209550"/>
          </a:xfrm>
          <a:prstGeom prst="rect">
            <a:avLst/>
          </a:prstGeom>
          <a:noFill/>
          <a:ln w="0">
            <a:noFill/>
          </a:ln>
        </p:spPr>
        <p:txBody>
          <a:bodyPr>
            <a:noAutofit/>
          </a:bodyPr>
          <a:lstStyle/>
          <a:p>
            <a:pPr>
              <a:buNone/>
              <a:defRPr sz="1125">
                <a:solidFill>
                  <a:srgbClr val="DDE8F6"/>
                </a:solidFill>
                <a:latin typeface="Arial"/>
                <a:ea typeface="Arial"/>
                <a:cs typeface="Arial"/>
              </a:defRPr>
            </a:pPr>
            <a:r>
              <a:rPr sz="1125">
                <a:solidFill>
                  <a:srgbClr val="DDE8F6"/>
                </a:solidFill>
                <a:latin typeface="Arial"/>
                <a:ea typeface="Arial"/>
                <a:cs typeface="Arial"/>
              </a:rPr>
              <a:t>Fixed Bengali selections · approved clinical content · clear next action</a:t>
            </a:r>
          </a:p>
        </p:txBody>
      </p:sp>
      <p:sp>
        <p:nvSpPr>
          <p:cNvPr id="8" name="Rectangle 7">
            <a:extLst>
              <a:ext uri="{FF2B5EF4-FFF2-40B4-BE49-F238E27FC236}">
                <a16:creationId xmlns:a16="http://schemas.microsoft.com/office/drawing/2014/main" id="{E3C76C89-C177-4713-93B6-0994C98363A6}"/>
              </a:ext>
            </a:extLst>
          </p:cNvPr>
          <p:cNvSpPr>
            <a:spLocks noGrp="1"/>
          </p:cNvSpPr>
          <p:nvPr/>
        </p:nvSpPr>
        <p:spPr>
          <a:xfrm>
            <a:off x="990600" y="6153150"/>
            <a:ext cx="10210800" cy="28575"/>
          </a:xfrm>
          <a:prstGeom prst="rect">
            <a:avLst/>
          </a:prstGeom>
          <a:solidFill>
            <a:srgbClr val="E7A048"/>
          </a:solidFill>
          <a:ln w="0">
            <a:noFill/>
          </a:ln>
        </p:spPr>
      </p:sp>
      <p:sp>
        <p:nvSpPr>
          <p:cNvPr id="9" name="Rectangle 8">
            <a:extLst>
              <a:ext uri="{FF2B5EF4-FFF2-40B4-BE49-F238E27FC236}">
                <a16:creationId xmlns:a16="http://schemas.microsoft.com/office/drawing/2014/main" id="{2E6E03ED-DE67-4210-9AA1-E69B09A4E143}"/>
              </a:ext>
            </a:extLst>
          </p:cNvPr>
          <p:cNvSpPr>
            <a:spLocks noGrp="1"/>
          </p:cNvSpPr>
          <p:nvPr/>
        </p:nvSpPr>
        <p:spPr>
          <a:xfrm>
            <a:off x="990600" y="6343650"/>
            <a:ext cx="2381250" cy="171450"/>
          </a:xfrm>
          <a:prstGeom prst="rect">
            <a:avLst/>
          </a:prstGeom>
          <a:noFill/>
          <a:ln w="0">
            <a:noFill/>
          </a:ln>
        </p:spPr>
        <p:txBody>
          <a:bodyPr>
            <a:noAutofit/>
          </a:bodyPr>
          <a:lstStyle/>
          <a:p>
            <a:pPr>
              <a:buNone/>
              <a:defRPr sz="975" b="1">
                <a:solidFill>
                  <a:srgbClr val="E7A048"/>
                </a:solidFill>
                <a:latin typeface="Arial"/>
                <a:ea typeface="Arial"/>
                <a:cs typeface="Arial"/>
              </a:defRPr>
            </a:pPr>
            <a:r>
              <a:rPr sz="975" b="1">
                <a:solidFill>
                  <a:srgbClr val="E7A048"/>
                </a:solidFill>
                <a:latin typeface="Arial"/>
                <a:ea typeface="Arial"/>
                <a:cs typeface="Arial"/>
              </a:rPr>
              <a:t>NetraJyoti AI</a:t>
            </a:r>
          </a:p>
        </p:txBody>
      </p:sp>
      <p:sp>
        <p:nvSpPr>
          <p:cNvPr id="10" name="Rectangle 9">
            <a:extLst>
              <a:ext uri="{FF2B5EF4-FFF2-40B4-BE49-F238E27FC236}">
                <a16:creationId xmlns:a16="http://schemas.microsoft.com/office/drawing/2014/main" id="{0D0D7C25-4297-4C3D-9106-55A3B3920598}"/>
              </a:ext>
            </a:extLst>
          </p:cNvPr>
          <p:cNvSpPr>
            <a:spLocks noGrp="1"/>
          </p:cNvSpPr>
          <p:nvPr/>
        </p:nvSpPr>
        <p:spPr>
          <a:xfrm>
            <a:off x="11049000" y="6438900"/>
            <a:ext cx="457200" cy="171450"/>
          </a:xfrm>
          <a:prstGeom prst="rect">
            <a:avLst/>
          </a:prstGeom>
          <a:noFill/>
          <a:ln w="0">
            <a:noFill/>
          </a:ln>
        </p:spPr>
        <p:txBody>
          <a:bodyPr>
            <a:noAutofit/>
          </a:bodyPr>
          <a:lstStyle/>
          <a:p>
            <a:pPr algn="r">
              <a:buNone/>
              <a:defRPr sz="900">
                <a:solidFill>
                  <a:srgbClr val="56647A"/>
                </a:solidFill>
                <a:latin typeface="Arial"/>
                <a:ea typeface="Arial"/>
                <a:cs typeface="Arial"/>
              </a:defRPr>
            </a:pPr>
            <a:r>
              <a:rPr sz="900">
                <a:solidFill>
                  <a:srgbClr val="56647A"/>
                </a:solidFill>
                <a:latin typeface="Arial"/>
                <a:ea typeface="Arial"/>
                <a:cs typeface="Arial"/>
              </a:rPr>
              <a:t>13</a:t>
            </a:r>
          </a:p>
        </p:txBody>
      </p:sp>
    </p:spTree>
    <p:extLst>
      <p:ext uri="{BB962C8B-B14F-4D97-AF65-F5344CB8AC3E}">
        <p14:creationId xmlns:p14="http://schemas.microsoft.com/office/powerpoint/2010/main" val="113947058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2205</Words>
  <Application>Microsoft Office PowerPoint</Application>
  <DocSecurity>0</DocSecurity>
  <PresentationFormat>Widescreen</PresentationFormat>
  <Paragraphs>383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Rahul Kar</cp:lastModifiedBy>
  <cp:revision>1</cp:revision>
  <dcterms:created xsi:type="dcterms:W3CDTF">2026-09-06T07:15:21Z</dcterms:created>
  <dcterms:modified xsi:type="dcterms:W3CDTF">2026-09-06T07:27:58Z</dcterms:modified>
</cp:coreProperties>
</file>