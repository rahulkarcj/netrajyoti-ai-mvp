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57d4839adf4b55" /><Relationship Type="http://schemas.openxmlformats.org/officeDocument/2006/relationships/extended-properties" Target="/docProps/app.xml" Id="R3e2588c0bcba495f" /><Relationship Type="http://schemas.openxmlformats.org/officeDocument/2006/relationships/officeDocument" Target="/ppt/presentation.xml" Id="R70d204e338994709" /></Relationships>
</file>

<file path=ppt/presentation.xml><?xml version="1.0" encoding="utf-8"?>
<p:presentation xmlns:p="http://schemas.openxmlformats.org/presentationml/2006/main">
  <p:sldMasterIdLst>
    <p:sldMasterId xmlns:r="http://schemas.openxmlformats.org/officeDocument/2006/relationships" id="2147483648" r:id="Rf75708d4ee7c40b0"/>
  </p:sldMasterIdLst>
  <p:notesMasterIdLst>
    <p:notesMasterId xmlns:r="http://schemas.openxmlformats.org/officeDocument/2006/relationships" r:id="R2aaa831b0ee548f1"/>
  </p:notesMasterIdLst>
  <p:sldIdLst>
    <p:sldId xmlns:r="http://schemas.openxmlformats.org/officeDocument/2006/relationships" id="256" r:id="R1d85e9daa84f4402"/>
    <p:sldId xmlns:r="http://schemas.openxmlformats.org/officeDocument/2006/relationships" id="257" r:id="Rfa1277a1dff34b05"/>
    <p:sldId xmlns:r="http://schemas.openxmlformats.org/officeDocument/2006/relationships" id="258" r:id="R381cd9b12f6d45f2"/>
    <p:sldId xmlns:r="http://schemas.openxmlformats.org/officeDocument/2006/relationships" id="259" r:id="Rb109f643c1d04018"/>
    <p:sldId xmlns:r="http://schemas.openxmlformats.org/officeDocument/2006/relationships" id="260" r:id="R0ed5b814fd6248c1"/>
    <p:sldId xmlns:r="http://schemas.openxmlformats.org/officeDocument/2006/relationships" id="261" r:id="R0a73cb2175884d47"/>
    <p:sldId xmlns:r="http://schemas.openxmlformats.org/officeDocument/2006/relationships" id="262" r:id="Rb58e79eec0df43b0"/>
    <p:sldId xmlns:r="http://schemas.openxmlformats.org/officeDocument/2006/relationships" id="263" r:id="R42c8ca5eeb2341a1"/>
    <p:sldId xmlns:r="http://schemas.openxmlformats.org/officeDocument/2006/relationships" id="264" r:id="R2f6c2a407c6e4abb"/>
    <p:sldId xmlns:r="http://schemas.openxmlformats.org/officeDocument/2006/relationships" id="265" r:id="Rbf5e19ddc8174c33"/>
    <p:sldId xmlns:r="http://schemas.openxmlformats.org/officeDocument/2006/relationships" id="266" r:id="R32051bcea67b468a"/>
    <p:sldId xmlns:r="http://schemas.openxmlformats.org/officeDocument/2006/relationships" id="267" r:id="R8b8fe513eb504769"/>
    <p:sldId xmlns:r="http://schemas.openxmlformats.org/officeDocument/2006/relationships" id="268" r:id="R619865c3b3e748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8ca0c097d84848" /><Relationship Type="http://schemas.openxmlformats.org/officeDocument/2006/relationships/slideMaster" Target="/ppt/slideMasters/slideMaster1.xml" Id="Rf75708d4ee7c40b0" /><Relationship Type="http://schemas.openxmlformats.org/officeDocument/2006/relationships/notesMaster" Target="/ppt/notesMasters/notesMaster1.xml" Id="R2aaa831b0ee548f1" /><Relationship Type="http://schemas.openxmlformats.org/officeDocument/2006/relationships/presProps" Target="/ppt/presProps.xml" Id="R4ee057a5bcb54928" /><Relationship Type="http://schemas.openxmlformats.org/officeDocument/2006/relationships/tableStyles" Target="/ppt/tableStyles.xml" Id="Re5a67731275b4246" /><Relationship Type="http://schemas.openxmlformats.org/officeDocument/2006/relationships/slide" Target="/ppt/slides/slide1.xml" Id="R1d85e9daa84f4402" /><Relationship Type="http://schemas.openxmlformats.org/officeDocument/2006/relationships/slide" Target="/ppt/slides/slide2.xml" Id="Rfa1277a1dff34b05" /><Relationship Type="http://schemas.openxmlformats.org/officeDocument/2006/relationships/slide" Target="/ppt/slides/slide3.xml" Id="R381cd9b12f6d45f2" /><Relationship Type="http://schemas.openxmlformats.org/officeDocument/2006/relationships/slide" Target="/ppt/slides/slide4.xml" Id="Rb109f643c1d04018" /><Relationship Type="http://schemas.openxmlformats.org/officeDocument/2006/relationships/slide" Target="/ppt/slides/slide5.xml" Id="R0ed5b814fd6248c1" /><Relationship Type="http://schemas.openxmlformats.org/officeDocument/2006/relationships/slide" Target="/ppt/slides/slide6.xml" Id="R0a73cb2175884d47" /><Relationship Type="http://schemas.openxmlformats.org/officeDocument/2006/relationships/slide" Target="/ppt/slides/slide7.xml" Id="Rb58e79eec0df43b0" /><Relationship Type="http://schemas.openxmlformats.org/officeDocument/2006/relationships/slide" Target="/ppt/slides/slide8.xml" Id="R42c8ca5eeb2341a1" /><Relationship Type="http://schemas.openxmlformats.org/officeDocument/2006/relationships/slide" Target="/ppt/slides/slide9.xml" Id="R2f6c2a407c6e4abb" /><Relationship Type="http://schemas.openxmlformats.org/officeDocument/2006/relationships/slide" Target="/ppt/slides/slide10.xml" Id="Rbf5e19ddc8174c33" /><Relationship Type="http://schemas.openxmlformats.org/officeDocument/2006/relationships/slide" Target="/ppt/slides/slide11.xml" Id="R32051bcea67b468a" /><Relationship Type="http://schemas.openxmlformats.org/officeDocument/2006/relationships/slide" Target="/ppt/slides/slide12.xml" Id="R8b8fe513eb504769" /><Relationship Type="http://schemas.openxmlformats.org/officeDocument/2006/relationships/slide" Target="/ppt/slides/slide13.xml" Id="R619865c3b3e748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a71317aa7c45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2a83e0ec014cb1" /><Relationship Type="http://schemas.openxmlformats.org/officeDocument/2006/relationships/notesMaster" Target="/ppt/notesMasters/notesMaster1.xml" Id="Rca2fa4f41e1542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108b30d4d542b0" /><Relationship Type="http://schemas.openxmlformats.org/officeDocument/2006/relationships/notesMaster" Target="/ppt/notesMasters/notesMaster1.xml" Id="R4dd3656e80dc42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1c9283fd6f4a15" /><Relationship Type="http://schemas.openxmlformats.org/officeDocument/2006/relationships/notesMaster" Target="/ppt/notesMasters/notesMaster1.xml" Id="Ra7a45cd36d2743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b980d180484156" /><Relationship Type="http://schemas.openxmlformats.org/officeDocument/2006/relationships/notesMaster" Target="/ppt/notesMasters/notesMaster1.xml" Id="R132c65a751b646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1d2c4d2bd34b55" /><Relationship Type="http://schemas.openxmlformats.org/officeDocument/2006/relationships/notesMaster" Target="/ppt/notesMasters/notesMaster1.xml" Id="R8e53407900f747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8b12c2c207444f" /><Relationship Type="http://schemas.openxmlformats.org/officeDocument/2006/relationships/notesMaster" Target="/ppt/notesMasters/notesMaster1.xml" Id="R55603082fa4445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e2da2f4eaa49e0" /><Relationship Type="http://schemas.openxmlformats.org/officeDocument/2006/relationships/notesMaster" Target="/ppt/notesMasters/notesMaster1.xml" Id="R0bd3a57b59fb49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15f1ab5bd64d31" /><Relationship Type="http://schemas.openxmlformats.org/officeDocument/2006/relationships/notesMaster" Target="/ppt/notesMasters/notesMaster1.xml" Id="Rf05281577d0548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c1b4a3970f4611" /><Relationship Type="http://schemas.openxmlformats.org/officeDocument/2006/relationships/notesMaster" Target="/ppt/notesMasters/notesMaster1.xml" Id="R29a883ec634949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cc8bc03bd040b8" /><Relationship Type="http://schemas.openxmlformats.org/officeDocument/2006/relationships/notesMaster" Target="/ppt/notesMasters/notesMaster1.xml" Id="Rf661b9adf0214f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438b7e6e2b412d" /><Relationship Type="http://schemas.openxmlformats.org/officeDocument/2006/relationships/notesMaster" Target="/ppt/notesMasters/notesMaster1.xml" Id="R12e8a3e678254a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fa6d2677674e14" /><Relationship Type="http://schemas.openxmlformats.org/officeDocument/2006/relationships/notesMaster" Target="/ppt/notesMasters/notesMaster1.xml" Id="Rb601904ef8154b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e385f54569048ff" /><Relationship Type="http://schemas.openxmlformats.org/officeDocument/2006/relationships/notesMaster" Target="/ppt/notesMasters/notesMaster1.xml" Id="R9e9356a451b949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NetraJyoti is a Bengali-first eye-care guidance MVP. I will show the user problem, the safety architecture, the live user journey, and the evidence for what is currently implemented. Time: 25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need is simple and human: a user must understand what to do next. The product addresses uncertainty about urgency, language access, and service navigation.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path determines the route. The React app sends fixed codes, PostgreSQL retrieves matching criteria, and Java locks Urgent, Human Support, or Routine. Only after that lock does PostgreSQL retrieve guidance. Optional local Ollama can explain the already selected route. Java validates it and returns fallback copy if needed. Time: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moves through a short common intake: consent, symptoms, and urgent-sign checking. Java returns one route. The result pages then provide urgent care direction, routine service direction, or visible human support. Return and restart actions stay available throughout. Time: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implementation and evidence slide. The live stack uses React, Java, PostgreSQL, and optional local Ollama. Jira records 11 resolved linked delivery stories. The current automated evidence is deliberately limited to Java unit tests for routing and output validation; full pilot validation is still required. Time: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core outcome: the capstone provides a working safety-guidance MVP. Its most important design decision is that Java, not the model, selects the route. Clinical approval, operational service data, and broader validation are the next pilot gates.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f7c90a0e5044b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449c8af4584490" /><Relationship Type="http://schemas.openxmlformats.org/officeDocument/2006/relationships/slideLayout" Target="/ppt/slideLayouts/slideLayout1.xml" Id="R0c1f2f9357024e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1f2f9357024e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f5bfe2568e14f91" /><Relationship Type="http://schemas.openxmlformats.org/officeDocument/2006/relationships/notesSlide" Target="/ppt/notesSlides/notesSlide1.xml" Id="Rc7eb2a88348d4c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608fa276574de5" /><Relationship Type="http://schemas.openxmlformats.org/officeDocument/2006/relationships/notesSlide" Target="/ppt/notesSlides/notesSlide2.xml" Id="Ref5635b8a3534f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c72fe330384c6a" /><Relationship Type="http://schemas.openxmlformats.org/officeDocument/2006/relationships/notesSlide" Target="/ppt/notesSlides/notesSlide3.xml" Id="Rc36d653317be41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259fe3d4a14b52" /><Relationship Type="http://schemas.openxmlformats.org/officeDocument/2006/relationships/notesSlide" Target="/ppt/notesSlides/notesSlide4.xml" Id="R1da0e63b8aff44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e430c1ea1d24f22" /><Relationship Type="http://schemas.openxmlformats.org/officeDocument/2006/relationships/notesSlide" Target="/ppt/notesSlides/notesSlide5.xml" Id="Rf0bf250b1d0e47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72e3ec619404b29" /><Relationship Type="http://schemas.openxmlformats.org/officeDocument/2006/relationships/notesSlide" Target="/ppt/notesSlides/notesSlide6.xml" Id="R2d6422d5f7cf40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c2df3859fc4609" /><Relationship Type="http://schemas.openxmlformats.org/officeDocument/2006/relationships/notesSlide" Target="/ppt/notesSlides/notesSlide7.xml" Id="R938fe5861f1841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be3f950e8364f8e" /><Relationship Type="http://schemas.openxmlformats.org/officeDocument/2006/relationships/notesSlide" Target="/ppt/notesSlides/notesSlide8.xml" Id="Rc15dc0add46046d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23cb6ea4fd04c7e" /><Relationship Type="http://schemas.openxmlformats.org/officeDocument/2006/relationships/notesSlide" Target="/ppt/notesSlides/notesSlide9.xml" Id="Rc5af0be8ebff47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5f8e96d26a84890" /><Relationship Type="http://schemas.openxmlformats.org/officeDocument/2006/relationships/notesSlide" Target="/ppt/notesSlides/notesSlide10.xml" Id="Rb497c15ddd024d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18812478e694e52" /><Relationship Type="http://schemas.openxmlformats.org/officeDocument/2006/relationships/notesSlide" Target="/ppt/notesSlides/notesSlide11.xml" Id="R7ff6a0b3fd33416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cc56c62848b4875" /><Relationship Type="http://schemas.openxmlformats.org/officeDocument/2006/relationships/notesSlide" Target="/ppt/notesSlides/notesSlide12.xml" Id="R960671a246dc44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a14e72ea394747" /><Relationship Type="http://schemas.openxmlformats.org/officeDocument/2006/relationships/notesSlide" Target="/ppt/notesSlides/notesSlide13.xml" Id="Ra7e4bdcf54e64371" /></Relationships>
</file>

<file path=ppt/slides/slide1.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3AE934-30F0-41DA-8EBA-FBF987258E8B}"/>
              </a:ext>
            </a:extLst>
          </p:cNvPr>
          <p:cNvSpPr>
            <a:spLocks xmlns:a="http://schemas.openxmlformats.org/drawingml/2006/main" noGrp="1"/>
          </p:cNvSpPr>
          <p:nvPr/>
        </p:nvSpPr>
        <p:spPr>
          <a:xfrm xmlns:a="http://schemas.openxmlformats.org/drawingml/2006/main">
            <a:off x="742950" y="866775"/>
            <a:ext cx="952500" cy="571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 name="">
            <a:extLst xmlns:a="http://schemas.openxmlformats.org/drawingml/2006/main">
              <a:ext uri="{FF2B5EF4-FFF2-40B4-BE49-F238E27FC236}">
                <a16:creationId xmlns:a16="http://schemas.microsoft.com/office/drawing/2014/main" id="{C3CF3C36-3CF5-4B83-AD10-28F75EE9162F}"/>
              </a:ext>
            </a:extLst>
          </p:cNvPr>
          <p:cNvSpPr>
            <a:spLocks xmlns:a="http://schemas.openxmlformats.org/drawingml/2006/main" noGrp="1"/>
          </p:cNvSpPr>
          <p:nvPr/>
        </p:nvSpPr>
        <p:spPr>
          <a:xfrm xmlns:a="http://schemas.openxmlformats.org/drawingml/2006/main">
            <a:off x="742950" y="120015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A26DD914-328F-4695-A959-01DD7BD28B61}"/>
              </a:ext>
            </a:extLst>
          </p:cNvPr>
          <p:cNvSpPr>
            <a:spLocks xmlns:a="http://schemas.openxmlformats.org/drawingml/2006/main" noGrp="1"/>
          </p:cNvSpPr>
          <p:nvPr/>
        </p:nvSpPr>
        <p:spPr>
          <a:xfrm xmlns:a="http://schemas.openxmlformats.org/drawingml/2006/main">
            <a:off x="752475" y="2143125"/>
            <a:ext cx="4857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Bengali-first eye-care guidance</a:t>
            </a:r>
          </a:p>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for safer next steps</a:t>
            </a:r>
          </a:p>
        </p:txBody>
      </p:sp>
      <p:sp>
        <p:nvSpPr>
          <p:cNvPr id="4" name="">
            <a:extLst xmlns:a="http://schemas.openxmlformats.org/drawingml/2006/main">
              <a:ext uri="{FF2B5EF4-FFF2-40B4-BE49-F238E27FC236}">
                <a16:creationId xmlns:a16="http://schemas.microsoft.com/office/drawing/2014/main" id="{98E6B39D-6233-415D-A7CE-5E30011975CA}"/>
              </a:ext>
            </a:extLst>
          </p:cNvPr>
          <p:cNvSpPr>
            <a:spLocks xmlns:a="http://schemas.openxmlformats.org/drawingml/2006/main" noGrp="1"/>
          </p:cNvSpPr>
          <p:nvPr/>
        </p:nvSpPr>
        <p:spPr>
          <a:xfrm xmlns:a="http://schemas.openxmlformats.org/drawingml/2006/main">
            <a:off x="762000" y="58102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0">
                <a:solidFill>
                  <a:srgbClr val="A5C6C2"/>
                </a:solidFill>
                <a:latin typeface="Arial"/>
                <a:ea typeface="Arial"/>
                <a:cs typeface="Arial"/>
              </a:defRPr>
            </a:pPr>
            <a:r>
              <a:rPr sz="1050" b="0">
                <a:solidFill>
                  <a:srgbClr val="A5C6C2"/>
                </a:solidFill>
                <a:latin typeface="Arial"/>
                <a:ea typeface="Arial"/>
                <a:cs typeface="Arial"/>
              </a:rPr>
              <a:t>Capstone presentation</a:t>
            </a:r>
          </a:p>
        </p:txBody>
      </p:sp>
      <p:sp>
        <p:nvSpPr>
          <p:cNvPr id="5" name="">
            <a:extLst xmlns:a="http://schemas.openxmlformats.org/drawingml/2006/main">
              <a:ext uri="{FF2B5EF4-FFF2-40B4-BE49-F238E27FC236}">
                <a16:creationId xmlns:a16="http://schemas.microsoft.com/office/drawing/2014/main" id="{315828C0-C0A6-42B1-82CD-517BC41DE834}"/>
              </a:ext>
            </a:extLst>
          </p:cNvPr>
          <p:cNvSpPr>
            <a:spLocks xmlns:a="http://schemas.openxmlformats.org/drawingml/2006/main" noGrp="1"/>
          </p:cNvSpPr>
          <p:nvPr/>
        </p:nvSpPr>
        <p:spPr>
          <a:xfrm xmlns:a="http://schemas.openxmlformats.org/drawingml/2006/main">
            <a:off x="6772275" y="933450"/>
            <a:ext cx="3867150" cy="4819650"/>
          </a:xfrm>
          <a:prstGeom xmlns:a="http://schemas.openxmlformats.org/drawingml/2006/main" prst="roundRect">
            <a:avLst>
              <a:gd name="adj" fmla="val 1970"/>
            </a:avLst>
          </a:prstGeom>
          <a:solidFill xmlns:a="http://schemas.openxmlformats.org/drawingml/2006/main">
            <a:srgbClr val="0B3A4A"/>
          </a:solidFill>
          <a:ln xmlns:a="http://schemas.openxmlformats.org/drawingml/2006/main" w="9525">
            <a:solidFill>
              <a:srgbClr val="0B3A4A"/>
            </a:solidFill>
          </a:ln>
        </p:spPr>
      </p:sp>
      <p:sp>
        <p:nvSpPr>
          <p:cNvPr id="6" name="">
            <a:extLst xmlns:a="http://schemas.openxmlformats.org/drawingml/2006/main">
              <a:ext uri="{FF2B5EF4-FFF2-40B4-BE49-F238E27FC236}">
                <a16:creationId xmlns:a16="http://schemas.microsoft.com/office/drawing/2014/main" id="{2791AE37-9DE3-4440-9B67-3A083AABD639}"/>
              </a:ext>
            </a:extLst>
          </p:cNvPr>
          <p:cNvSpPr>
            <a:spLocks xmlns:a="http://schemas.openxmlformats.org/drawingml/2006/main" noGrp="1"/>
          </p:cNvSpPr>
          <p:nvPr/>
        </p:nvSpPr>
        <p:spPr>
          <a:xfrm xmlns:a="http://schemas.openxmlformats.org/drawingml/2006/main">
            <a:off x="7258050" y="1514475"/>
            <a:ext cx="2857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GUIDANCE</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WITHOUT</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DIAGNOSIS</a:t>
            </a:r>
          </a:p>
        </p:txBody>
      </p:sp>
      <p:sp>
        <p:nvSpPr>
          <p:cNvPr id="7" name="">
            <a:extLst xmlns:a="http://schemas.openxmlformats.org/drawingml/2006/main">
              <a:ext uri="{FF2B5EF4-FFF2-40B4-BE49-F238E27FC236}">
                <a16:creationId xmlns:a16="http://schemas.microsoft.com/office/drawing/2014/main" id="{81772D4F-572F-495E-883A-63122DB9C7BF}"/>
              </a:ext>
            </a:extLst>
          </p:cNvPr>
          <p:cNvSpPr>
            <a:spLocks xmlns:a="http://schemas.openxmlformats.org/drawingml/2006/main" noGrp="1"/>
          </p:cNvSpPr>
          <p:nvPr/>
        </p:nvSpPr>
        <p:spPr>
          <a:xfrm xmlns:a="http://schemas.openxmlformats.org/drawingml/2006/main">
            <a:off x="7486650" y="3305175"/>
            <a:ext cx="2381250" cy="3810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8" name="">
            <a:extLst xmlns:a="http://schemas.openxmlformats.org/drawingml/2006/main">
              <a:ext uri="{FF2B5EF4-FFF2-40B4-BE49-F238E27FC236}">
                <a16:creationId xmlns:a16="http://schemas.microsoft.com/office/drawing/2014/main" id="{D174E303-2C4B-49E0-9B9C-D56FD2F1263B}"/>
              </a:ext>
            </a:extLst>
          </p:cNvPr>
          <p:cNvSpPr>
            <a:spLocks xmlns:a="http://schemas.openxmlformats.org/drawingml/2006/main" noGrp="1"/>
          </p:cNvSpPr>
          <p:nvPr/>
        </p:nvSpPr>
        <p:spPr>
          <a:xfrm xmlns:a="http://schemas.openxmlformats.org/drawingml/2006/main">
            <a:off x="7381875" y="3714750"/>
            <a:ext cx="26574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125"/>
          </a:bodyPr>
          <a:lstStyle xmlns:a="http://schemas.openxmlformats.org/drawingml/2006/main"/>
          <a:p xmlns:a="http://schemas.openxmlformats.org/drawingml/2006/main">
            <a:pPr>
              <a:buNone/>
              <a:defRPr sz="1350" b="0">
                <a:solidFill>
                  <a:srgbClr val="D5EBE8"/>
                </a:solidFill>
                <a:latin typeface="Arial"/>
                <a:ea typeface="Arial"/>
                <a:cs typeface="Arial"/>
              </a:defRPr>
            </a:pPr>
            <a:r>
              <a:rPr sz="1350" b="0">
                <a:solidFill>
                  <a:srgbClr val="D5EBE8"/>
                </a:solidFill>
                <a:latin typeface="Arial"/>
                <a:ea typeface="Arial"/>
                <a:cs typeface="Arial"/>
              </a:rPr>
              <a:t>A deterministic Java engine selects the safe route. PostgreSQL supplies approved demo context. Local Ollama explains only the route that Java has locked.</a:t>
            </a:r>
          </a:p>
        </p:txBody>
      </p:sp>
      <p:sp>
        <p:nvSpPr>
          <p:cNvPr id="9" name="">
            <a:extLst xmlns:a="http://schemas.openxmlformats.org/drawingml/2006/main">
              <a:ext uri="{FF2B5EF4-FFF2-40B4-BE49-F238E27FC236}">
                <a16:creationId xmlns:a16="http://schemas.microsoft.com/office/drawing/2014/main" id="{90EB5F28-5E01-41B7-BEF1-A35DA4D9C13F}"/>
              </a:ext>
            </a:extLst>
          </p:cNvPr>
          <p:cNvSpPr>
            <a:spLocks xmlns:a="http://schemas.openxmlformats.org/drawingml/2006/main" noGrp="1"/>
          </p:cNvSpPr>
          <p:nvPr/>
        </p:nvSpPr>
        <p:spPr>
          <a:xfrm xmlns:a="http://schemas.openxmlformats.org/drawingml/2006/main">
            <a:off x="7010400" y="5133975"/>
            <a:ext cx="3390900" cy="323850"/>
          </a:xfrm>
          <a:prstGeom xmlns:a="http://schemas.openxmlformats.org/drawingml/2006/main" prst="roundRect">
            <a:avLst>
              <a:gd name="adj" fmla="val 23529"/>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9A05A3D5-2BAA-4650-918C-795EDBBCCFC1}"/>
              </a:ext>
            </a:extLst>
          </p:cNvPr>
          <p:cNvSpPr>
            <a:spLocks xmlns:a="http://schemas.openxmlformats.org/drawingml/2006/main" noGrp="1"/>
          </p:cNvSpPr>
          <p:nvPr/>
        </p:nvSpPr>
        <p:spPr>
          <a:xfrm xmlns:a="http://schemas.openxmlformats.org/drawingml/2006/main">
            <a:off x="7162800" y="5219700"/>
            <a:ext cx="30861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FFFFFF"/>
                </a:solidFill>
                <a:latin typeface="Arial"/>
                <a:ea typeface="Arial"/>
                <a:cs typeface="Arial"/>
              </a:defRPr>
            </a:pPr>
            <a:r>
              <a:rPr sz="825" b="1">
                <a:solidFill>
                  <a:srgbClr val="FFFFFF"/>
                </a:solidFill>
                <a:latin typeface="Arial"/>
                <a:ea typeface="Arial"/>
                <a:cs typeface="Arial"/>
              </a:rPr>
              <a:t>SAFE ROUTING  ·  BENGALI-FIRST UX</a:t>
            </a:r>
          </a:p>
        </p:txBody>
      </p:sp>
      <p:sp>
        <p:nvSpPr>
          <p:cNvPr id="12" name="">
            <a:extLst xmlns:a="http://schemas.openxmlformats.org/drawingml/2006/main">
              <a:ext uri="{FF2B5EF4-FFF2-40B4-BE49-F238E27FC236}">
                <a16:creationId xmlns:a16="http://schemas.microsoft.com/office/drawing/2014/main" id="{3EC45FE9-929E-4369-BC72-E13F633B42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733FBF3-6E07-4412-B202-6E884FD0EC64}"/>
              </a:ext>
            </a:extLst>
          </p:cNvPr>
          <p:cNvSpPr>
            <a:spLocks xmlns:a="http://schemas.openxmlformats.org/drawingml/2006/main" noGrp="1"/>
          </p:cNvSpPr>
          <p:nvPr/>
        </p:nvSpPr>
        <p:spPr>
          <a:xfrm xmlns:a="http://schemas.openxmlformats.org/drawingml/2006/main">
            <a:off x="0" y="0"/>
            <a:ext cx="4191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2DD5855-FE6D-4166-8F8A-0A5B7E4CC85E}"/>
              </a:ext>
            </a:extLst>
          </p:cNvPr>
          <p:cNvSpPr>
            <a:spLocks xmlns:a="http://schemas.openxmlformats.org/drawingml/2006/main" noGrp="1"/>
          </p:cNvSpPr>
          <p:nvPr/>
        </p:nvSpPr>
        <p:spPr>
          <a:xfrm xmlns:a="http://schemas.openxmlformats.org/drawingml/2006/main">
            <a:off x="4191000" y="0"/>
            <a:ext cx="133350" cy="6858000"/>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E45BAFA-1F15-45B2-A800-3A948E5B5722}"/>
              </a:ext>
            </a:extLst>
          </p:cNvPr>
          <p:cNvSpPr>
            <a:spLocks xmlns:a="http://schemas.openxmlformats.org/drawingml/2006/main" noGrp="1"/>
          </p:cNvSpPr>
          <p:nvPr/>
        </p:nvSpPr>
        <p:spPr>
          <a:xfrm xmlns:a="http://schemas.openxmlformats.org/drawingml/2006/main">
            <a:off x="704850" y="68580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7A048"/>
                </a:solidFill>
                <a:latin typeface="Arial"/>
                <a:ea typeface="Arial"/>
                <a:cs typeface="Arial"/>
              </a:defRPr>
            </a:pPr>
            <a:r>
              <a:rPr sz="1275" b="1">
                <a:solidFill>
                  <a:srgbClr val="E7A048"/>
                </a:solidFill>
                <a:latin typeface="Arial"/>
                <a:ea typeface="Arial"/>
                <a:cs typeface="Arial"/>
              </a:rPr>
              <a:t>NETRAJYOTI AI</a:t>
            </a:r>
          </a:p>
        </p:txBody>
      </p:sp>
      <p:sp>
        <p:nvSpPr>
          <p:cNvPr id="16" name="">
            <a:extLst xmlns:a="http://schemas.openxmlformats.org/drawingml/2006/main">
              <a:ext uri="{FF2B5EF4-FFF2-40B4-BE49-F238E27FC236}">
                <a16:creationId xmlns:a16="http://schemas.microsoft.com/office/drawing/2014/main" id="{43C2B640-615D-4B55-88EA-E64A9E0B736C}"/>
              </a:ext>
            </a:extLst>
          </p:cNvPr>
          <p:cNvSpPr>
            <a:spLocks xmlns:a="http://schemas.openxmlformats.org/drawingml/2006/main" noGrp="1"/>
          </p:cNvSpPr>
          <p:nvPr/>
        </p:nvSpPr>
        <p:spPr>
          <a:xfrm xmlns:a="http://schemas.openxmlformats.org/drawingml/2006/main">
            <a:off x="704850" y="1352550"/>
            <a:ext cx="3238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Reliable Bengali</a:t>
            </a:r>
          </a:p>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eye-care guidance</a:t>
            </a:r>
          </a:p>
        </p:txBody>
      </p:sp>
      <p:sp>
        <p:nvSpPr>
          <p:cNvPr id="17" name="">
            <a:extLst xmlns:a="http://schemas.openxmlformats.org/drawingml/2006/main">
              <a:ext uri="{FF2B5EF4-FFF2-40B4-BE49-F238E27FC236}">
                <a16:creationId xmlns:a16="http://schemas.microsoft.com/office/drawing/2014/main" id="{82A9AB05-00EB-4167-A9DD-0D01E974FA04}"/>
              </a:ext>
            </a:extLst>
          </p:cNvPr>
          <p:cNvSpPr>
            <a:spLocks xmlns:a="http://schemas.openxmlformats.org/drawingml/2006/main" noGrp="1"/>
          </p:cNvSpPr>
          <p:nvPr/>
        </p:nvSpPr>
        <p:spPr>
          <a:xfrm xmlns:a="http://schemas.openxmlformats.org/drawingml/2006/main">
            <a:off x="704850" y="3048000"/>
            <a:ext cx="20002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47D6B2A-0413-48E1-AFFB-C08918341641}"/>
              </a:ext>
            </a:extLst>
          </p:cNvPr>
          <p:cNvSpPr>
            <a:spLocks xmlns:a="http://schemas.openxmlformats.org/drawingml/2006/main" noGrp="1"/>
          </p:cNvSpPr>
          <p:nvPr/>
        </p:nvSpPr>
        <p:spPr>
          <a:xfrm xmlns:a="http://schemas.openxmlformats.org/drawingml/2006/main">
            <a:off x="704850" y="3352800"/>
            <a:ext cx="266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Voice and text access</a:t>
            </a:r>
          </a:p>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with a fixed safety route</a:t>
            </a:r>
          </a:p>
        </p:txBody>
      </p:sp>
      <p:sp>
        <p:nvSpPr>
          <p:cNvPr id="19" name="">
            <a:extLst xmlns:a="http://schemas.openxmlformats.org/drawingml/2006/main">
              <a:ext uri="{FF2B5EF4-FFF2-40B4-BE49-F238E27FC236}">
                <a16:creationId xmlns:a16="http://schemas.microsoft.com/office/drawing/2014/main" id="{53764A19-B9E1-4404-9E62-22AF753EE05F}"/>
              </a:ext>
            </a:extLst>
          </p:cNvPr>
          <p:cNvSpPr>
            <a:spLocks xmlns:a="http://schemas.openxmlformats.org/drawingml/2006/main" noGrp="1"/>
          </p:cNvSpPr>
          <p:nvPr/>
        </p:nvSpPr>
        <p:spPr>
          <a:xfrm xmlns:a="http://schemas.openxmlformats.org/drawingml/2006/main">
            <a:off x="704850" y="5715000"/>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Bengali-first interaction</a:t>
            </a:r>
          </a:p>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for rural West Bengal</a:t>
            </a:r>
          </a:p>
        </p:txBody>
      </p:sp>
      <p:sp>
        <p:nvSpPr>
          <p:cNvPr id="20" name="">
            <a:extLst xmlns:a="http://schemas.openxmlformats.org/drawingml/2006/main">
              <a:ext uri="{FF2B5EF4-FFF2-40B4-BE49-F238E27FC236}">
                <a16:creationId xmlns:a16="http://schemas.microsoft.com/office/drawing/2014/main" id="{39FB8633-CFF7-41C0-AC7A-C7698BBA9F95}"/>
              </a:ext>
            </a:extLst>
          </p:cNvPr>
          <p:cNvSpPr>
            <a:spLocks xmlns:a="http://schemas.openxmlformats.org/drawingml/2006/main" noGrp="1"/>
          </p:cNvSpPr>
          <p:nvPr/>
        </p:nvSpPr>
        <p:spPr>
          <a:xfrm xmlns:a="http://schemas.openxmlformats.org/drawingml/2006/main">
            <a:off x="4905375" y="1200150"/>
            <a:ext cx="61912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02A44"/>
                </a:solidFill>
                <a:latin typeface="Arial"/>
                <a:ea typeface="Arial"/>
                <a:cs typeface="Arial"/>
              </a:defRPr>
            </a:pPr>
            <a:r>
              <a:rPr sz="2475" b="1">
                <a:solidFill>
                  <a:srgbClr val="202A44"/>
                </a:solidFill>
                <a:latin typeface="Arial"/>
                <a:ea typeface="Arial"/>
                <a:cs typeface="Arial"/>
              </a:rPr>
              <a:t>How can reliable health information reach people who do not use English or have limited digital access?</a:t>
            </a:r>
          </a:p>
        </p:txBody>
      </p:sp>
      <p:sp>
        <p:nvSpPr>
          <p:cNvPr id="21" name="">
            <a:extLst xmlns:a="http://schemas.openxmlformats.org/drawingml/2006/main">
              <a:ext uri="{FF2B5EF4-FFF2-40B4-BE49-F238E27FC236}">
                <a16:creationId xmlns:a16="http://schemas.microsoft.com/office/drawing/2014/main" id="{07A4D393-200C-486E-8BEF-6D329C3AD57D}"/>
              </a:ext>
            </a:extLst>
          </p:cNvPr>
          <p:cNvSpPr>
            <a:spLocks xmlns:a="http://schemas.openxmlformats.org/drawingml/2006/main" noGrp="1"/>
          </p:cNvSpPr>
          <p:nvPr/>
        </p:nvSpPr>
        <p:spPr>
          <a:xfrm xmlns:a="http://schemas.openxmlformats.org/drawingml/2006/main">
            <a:off x="4933950" y="3467100"/>
            <a:ext cx="590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56647A"/>
                </a:solidFill>
                <a:latin typeface="Arial"/>
                <a:ea typeface="Arial"/>
                <a:cs typeface="Arial"/>
              </a:defRPr>
            </a:pPr>
            <a:r>
              <a:rPr sz="1500">
                <a:solidFill>
                  <a:srgbClr val="56647A"/>
                </a:solidFill>
                <a:latin typeface="Arial"/>
                <a:ea typeface="Arial"/>
                <a:cs typeface="Arial"/>
              </a:rPr>
              <a:t>NetraJyoti helps people identify a safe next step without diagnosing or replacing clinical care.</a:t>
            </a:r>
          </a:p>
        </p:txBody>
      </p:sp>
      <p:sp>
        <p:nvSpPr>
          <p:cNvPr id="22" name="">
            <a:extLst xmlns:a="http://schemas.openxmlformats.org/drawingml/2006/main">
              <a:ext uri="{FF2B5EF4-FFF2-40B4-BE49-F238E27FC236}">
                <a16:creationId xmlns:a16="http://schemas.microsoft.com/office/drawing/2014/main" id="{589D2D31-11F1-4568-A40B-C1AF6963E729}"/>
              </a:ext>
            </a:extLst>
          </p:cNvPr>
          <p:cNvSpPr>
            <a:spLocks xmlns:a="http://schemas.openxmlformats.org/drawingml/2006/main" noGrp="1"/>
          </p:cNvSpPr>
          <p:nvPr/>
        </p:nvSpPr>
        <p:spPr>
          <a:xfrm xmlns:a="http://schemas.openxmlformats.org/drawingml/2006/main">
            <a:off x="49720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Bengali voice or text</a:t>
            </a:r>
          </a:p>
        </p:txBody>
      </p:sp>
      <p:sp>
        <p:nvSpPr>
          <p:cNvPr id="23" name="">
            <a:extLst xmlns:a="http://schemas.openxmlformats.org/drawingml/2006/main">
              <a:ext uri="{FF2B5EF4-FFF2-40B4-BE49-F238E27FC236}">
                <a16:creationId xmlns:a16="http://schemas.microsoft.com/office/drawing/2014/main" id="{CBEE1D33-BF5D-4CAA-A035-0AAEAA7C3EFA}"/>
              </a:ext>
            </a:extLst>
          </p:cNvPr>
          <p:cNvSpPr>
            <a:spLocks xmlns:a="http://schemas.openxmlformats.org/drawingml/2006/main" noGrp="1"/>
          </p:cNvSpPr>
          <p:nvPr/>
        </p:nvSpPr>
        <p:spPr>
          <a:xfrm xmlns:a="http://schemas.openxmlformats.org/drawingml/2006/main">
            <a:off x="685800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F4D1115-108B-4A13-A4A2-644416BA2173}"/>
              </a:ext>
            </a:extLst>
          </p:cNvPr>
          <p:cNvSpPr>
            <a:spLocks xmlns:a="http://schemas.openxmlformats.org/drawingml/2006/main" noGrp="1"/>
          </p:cNvSpPr>
          <p:nvPr/>
        </p:nvSpPr>
        <p:spPr>
          <a:xfrm xmlns:a="http://schemas.openxmlformats.org/drawingml/2006/main">
            <a:off x="735330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Deterministic route</a:t>
            </a:r>
          </a:p>
        </p:txBody>
      </p:sp>
      <p:sp>
        <p:nvSpPr>
          <p:cNvPr id="25" name="">
            <a:extLst xmlns:a="http://schemas.openxmlformats.org/drawingml/2006/main">
              <a:ext uri="{FF2B5EF4-FFF2-40B4-BE49-F238E27FC236}">
                <a16:creationId xmlns:a16="http://schemas.microsoft.com/office/drawing/2014/main" id="{684A5E74-13C4-483E-B1A8-09E2C98BAF22}"/>
              </a:ext>
            </a:extLst>
          </p:cNvPr>
          <p:cNvSpPr>
            <a:spLocks xmlns:a="http://schemas.openxmlformats.org/drawingml/2006/main" noGrp="1"/>
          </p:cNvSpPr>
          <p:nvPr/>
        </p:nvSpPr>
        <p:spPr>
          <a:xfrm xmlns:a="http://schemas.openxmlformats.org/drawingml/2006/main">
            <a:off x="923925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C778DD6-3F2C-4CDE-BB63-7B117307920A}"/>
              </a:ext>
            </a:extLst>
          </p:cNvPr>
          <p:cNvSpPr>
            <a:spLocks xmlns:a="http://schemas.openxmlformats.org/drawingml/2006/main" noGrp="1"/>
          </p:cNvSpPr>
          <p:nvPr/>
        </p:nvSpPr>
        <p:spPr>
          <a:xfrm xmlns:a="http://schemas.openxmlformats.org/drawingml/2006/main">
            <a:off x="97345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02A44"/>
                </a:solidFill>
                <a:latin typeface="Arial"/>
                <a:ea typeface="Arial"/>
                <a:cs typeface="Arial"/>
              </a:defRPr>
            </a:pPr>
            <a:r>
              <a:rPr sz="1275" b="1">
                <a:solidFill>
                  <a:srgbClr val="202A44"/>
                </a:solidFill>
                <a:latin typeface="Arial"/>
                <a:ea typeface="Arial"/>
                <a:cs typeface="Arial"/>
              </a:rPr>
              <a:t>Clear next action</a:t>
            </a:r>
          </a:p>
        </p:txBody>
      </p:sp>
    </p:spTree>
    <p:extLst>
      <p:ext uri="{BB962C8B-B14F-4D97-AF65-F5344CB8AC3E}">
        <p14:creationId xmlns:p14="http://schemas.microsoft.com/office/powerpoint/2010/main" val="1934723639"/>
      </p:ext>
    </p:extLst>
  </p:cSld>
</p:sld>
</file>

<file path=ppt/slides/slide2.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5486E1-F15D-4D65-BD1B-0799475F5C6F}"/>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B4A2C28-2BD5-4B60-9118-5F7811900845}"/>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The user problem</a:t>
            </a:r>
          </a:p>
        </p:txBody>
      </p:sp>
      <p:sp>
        <p:nvSpPr>
          <p:cNvPr id="3" name="">
            <a:extLst xmlns:a="http://schemas.openxmlformats.org/drawingml/2006/main">
              <a:ext uri="{FF2B5EF4-FFF2-40B4-BE49-F238E27FC236}">
                <a16:creationId xmlns:a16="http://schemas.microsoft.com/office/drawing/2014/main" id="{3EBE3258-BC76-4829-AA10-15EAF54A06EF}"/>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Uncertainty can delay appropriate eye care before a person reaches a trusted service</a:t>
            </a:r>
          </a:p>
        </p:txBody>
      </p:sp>
      <p:sp>
        <p:nvSpPr>
          <p:cNvPr id="4" name="">
            <a:extLst xmlns:a="http://schemas.openxmlformats.org/drawingml/2006/main">
              <a:ext uri="{FF2B5EF4-FFF2-40B4-BE49-F238E27FC236}">
                <a16:creationId xmlns:a16="http://schemas.microsoft.com/office/drawing/2014/main" id="{86D63BCD-3654-4B23-9A4F-B4F9AA67F473}"/>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ED049EB7-FD3C-4667-A6A6-5B08B4E4AD2F}"/>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7442B85D-B684-4020-B8EB-3C77B943DF0F}"/>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33604F27-A9C3-4C5A-B582-493560AFCE50}"/>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066A282-51F4-4C6E-ABF7-B9EF3FE6E229}"/>
              </a:ext>
            </a:extLst>
          </p:cNvPr>
          <p:cNvSpPr>
            <a:spLocks xmlns:a="http://schemas.openxmlformats.org/drawingml/2006/main" noGrp="1"/>
          </p:cNvSpPr>
          <p:nvPr/>
        </p:nvSpPr>
        <p:spPr>
          <a:xfrm xmlns:a="http://schemas.openxmlformats.org/drawingml/2006/main">
            <a:off x="723900" y="2276475"/>
            <a:ext cx="781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889"/>
          </a:bodyPr>
          <a:lstStyle xmlns:a="http://schemas.openxmlformats.org/drawingml/2006/main"/>
          <a:p xmlns:a="http://schemas.openxmlformats.org/drawingml/2006/main">
            <a:pPr>
              <a:buNone/>
              <a:defRPr sz="1575" b="0">
                <a:solidFill>
                  <a:srgbClr val="5B7180"/>
                </a:solidFill>
                <a:latin typeface="Arial"/>
                <a:ea typeface="Arial"/>
                <a:cs typeface="Arial"/>
              </a:defRPr>
            </a:pPr>
            <a:r>
              <a:rPr sz="1575" b="0">
                <a:solidFill>
                  <a:srgbClr val="5B7180"/>
                </a:solidFill>
                <a:latin typeface="Arial"/>
                <a:ea typeface="Arial"/>
                <a:cs typeface="Arial"/>
              </a:rPr>
              <a:t>A person with an eye concern often needs one simple answer:</a:t>
            </a:r>
          </a:p>
        </p:txBody>
      </p:sp>
      <p:sp>
        <p:nvSpPr>
          <p:cNvPr id="9" name="">
            <a:extLst xmlns:a="http://schemas.openxmlformats.org/drawingml/2006/main">
              <a:ext uri="{FF2B5EF4-FFF2-40B4-BE49-F238E27FC236}">
                <a16:creationId xmlns:a16="http://schemas.microsoft.com/office/drawing/2014/main" id="{231EA09C-74AF-4219-889E-43C4A4F31FEA}"/>
              </a:ext>
            </a:extLst>
          </p:cNvPr>
          <p:cNvSpPr>
            <a:spLocks xmlns:a="http://schemas.openxmlformats.org/drawingml/2006/main" noGrp="1"/>
          </p:cNvSpPr>
          <p:nvPr/>
        </p:nvSpPr>
        <p:spPr>
          <a:xfrm xmlns:a="http://schemas.openxmlformats.org/drawingml/2006/main">
            <a:off x="723900" y="2667000"/>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748"/>
          </a:bodyPr>
          <a:lstStyle xmlns:a="http://schemas.openxmlformats.org/drawingml/2006/main"/>
          <a:p xmlns:a="http://schemas.openxmlformats.org/drawingml/2006/main">
            <a:pPr>
              <a:buNone/>
              <a:defRPr sz="2775" b="1">
                <a:solidFill>
                  <a:srgbClr val="092F3E"/>
                </a:solidFill>
                <a:latin typeface="Arial"/>
                <a:ea typeface="Arial"/>
                <a:cs typeface="Arial"/>
              </a:defRPr>
            </a:pPr>
            <a:r>
              <a:rPr sz="2775" b="1">
                <a:solidFill>
                  <a:srgbClr val="092F3E"/>
                </a:solidFill>
                <a:latin typeface="Arial"/>
                <a:ea typeface="Arial"/>
                <a:cs typeface="Arial"/>
              </a:rPr>
              <a:t>What should I do next?</a:t>
            </a:r>
          </a:p>
        </p:txBody>
      </p:sp>
      <p:sp>
        <p:nvSpPr>
          <p:cNvPr id="10" name="">
            <a:extLst xmlns:a="http://schemas.openxmlformats.org/drawingml/2006/main">
              <a:ext uri="{FF2B5EF4-FFF2-40B4-BE49-F238E27FC236}">
                <a16:creationId xmlns:a16="http://schemas.microsoft.com/office/drawing/2014/main" id="{0B4BE655-A3F4-4A2B-AE06-B3B30A327B17}"/>
              </a:ext>
            </a:extLst>
          </p:cNvPr>
          <p:cNvSpPr>
            <a:spLocks xmlns:a="http://schemas.openxmlformats.org/drawingml/2006/main" noGrp="1"/>
          </p:cNvSpPr>
          <p:nvPr/>
        </p:nvSpPr>
        <p:spPr>
          <a:xfrm xmlns:a="http://schemas.openxmlformats.org/drawingml/2006/main">
            <a:off x="781050" y="3695700"/>
            <a:ext cx="3143250" cy="2857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11" name="">
            <a:extLst xmlns:a="http://schemas.openxmlformats.org/drawingml/2006/main">
              <a:ext uri="{FF2B5EF4-FFF2-40B4-BE49-F238E27FC236}">
                <a16:creationId xmlns:a16="http://schemas.microsoft.com/office/drawing/2014/main" id="{0F520709-F50C-4E05-A686-A93100701E8B}"/>
              </a:ext>
            </a:extLst>
          </p:cNvPr>
          <p:cNvSpPr>
            <a:spLocks xmlns:a="http://schemas.openxmlformats.org/drawingml/2006/main" noGrp="1"/>
          </p:cNvSpPr>
          <p:nvPr/>
        </p:nvSpPr>
        <p:spPr>
          <a:xfrm xmlns:a="http://schemas.openxmlformats.org/drawingml/2006/main">
            <a:off x="78105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E2524B"/>
                </a:solidFill>
                <a:latin typeface="Arial"/>
                <a:ea typeface="Arial"/>
                <a:cs typeface="Arial"/>
              </a:defRPr>
            </a:pPr>
            <a:r>
              <a:rPr sz="975" b="1">
                <a:solidFill>
                  <a:srgbClr val="E2524B"/>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6CCE2207-7CB2-4D79-ADD2-22704C915655}"/>
              </a:ext>
            </a:extLst>
          </p:cNvPr>
          <p:cNvSpPr>
            <a:spLocks xmlns:a="http://schemas.openxmlformats.org/drawingml/2006/main" noGrp="1"/>
          </p:cNvSpPr>
          <p:nvPr/>
        </p:nvSpPr>
        <p:spPr>
          <a:xfrm xmlns:a="http://schemas.openxmlformats.org/drawingml/2006/main">
            <a:off x="123825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Urgency is unclear</a:t>
            </a:r>
          </a:p>
        </p:txBody>
      </p:sp>
      <p:sp>
        <p:nvSpPr>
          <p:cNvPr id="13" name="">
            <a:extLst xmlns:a="http://schemas.openxmlformats.org/drawingml/2006/main">
              <a:ext uri="{FF2B5EF4-FFF2-40B4-BE49-F238E27FC236}">
                <a16:creationId xmlns:a16="http://schemas.microsoft.com/office/drawing/2014/main" id="{465B43EE-74FF-465F-AA28-58BDB6645B00}"/>
              </a:ext>
            </a:extLst>
          </p:cNvPr>
          <p:cNvSpPr>
            <a:spLocks xmlns:a="http://schemas.openxmlformats.org/drawingml/2006/main" noGrp="1"/>
          </p:cNvSpPr>
          <p:nvPr/>
        </p:nvSpPr>
        <p:spPr>
          <a:xfrm xmlns:a="http://schemas.openxmlformats.org/drawingml/2006/main">
            <a:off x="123825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1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Symptoms may feel serious, but the user may not know whether today requires urgent care.</a:t>
            </a:r>
          </a:p>
        </p:txBody>
      </p:sp>
      <p:sp>
        <p:nvSpPr>
          <p:cNvPr id="14" name="">
            <a:extLst xmlns:a="http://schemas.openxmlformats.org/drawingml/2006/main">
              <a:ext uri="{FF2B5EF4-FFF2-40B4-BE49-F238E27FC236}">
                <a16:creationId xmlns:a16="http://schemas.microsoft.com/office/drawing/2014/main" id="{ACCB9048-97D7-4C94-9620-22B3F8AA3AE4}"/>
              </a:ext>
            </a:extLst>
          </p:cNvPr>
          <p:cNvSpPr>
            <a:spLocks xmlns:a="http://schemas.openxmlformats.org/drawingml/2006/main" noGrp="1"/>
          </p:cNvSpPr>
          <p:nvPr/>
        </p:nvSpPr>
        <p:spPr>
          <a:xfrm xmlns:a="http://schemas.openxmlformats.org/drawingml/2006/main">
            <a:off x="4410075" y="3695700"/>
            <a:ext cx="314325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5" name="">
            <a:extLst xmlns:a="http://schemas.openxmlformats.org/drawingml/2006/main">
              <a:ext uri="{FF2B5EF4-FFF2-40B4-BE49-F238E27FC236}">
                <a16:creationId xmlns:a16="http://schemas.microsoft.com/office/drawing/2014/main" id="{77C1BFD1-DF6B-4B83-80A2-C1FBCDC374A8}"/>
              </a:ext>
            </a:extLst>
          </p:cNvPr>
          <p:cNvSpPr>
            <a:spLocks xmlns:a="http://schemas.openxmlformats.org/drawingml/2006/main" noGrp="1"/>
          </p:cNvSpPr>
          <p:nvPr/>
        </p:nvSpPr>
        <p:spPr>
          <a:xfrm xmlns:a="http://schemas.openxmlformats.org/drawingml/2006/main">
            <a:off x="4410075"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61BAD19D-47C3-4933-816E-591628701FD2}"/>
              </a:ext>
            </a:extLst>
          </p:cNvPr>
          <p:cNvSpPr>
            <a:spLocks xmlns:a="http://schemas.openxmlformats.org/drawingml/2006/main" noGrp="1"/>
          </p:cNvSpPr>
          <p:nvPr/>
        </p:nvSpPr>
        <p:spPr>
          <a:xfrm xmlns:a="http://schemas.openxmlformats.org/drawingml/2006/main">
            <a:off x="4867275"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Information is hard to use</a:t>
            </a:r>
          </a:p>
        </p:txBody>
      </p:sp>
      <p:sp>
        <p:nvSpPr>
          <p:cNvPr id="17" name="">
            <a:extLst xmlns:a="http://schemas.openxmlformats.org/drawingml/2006/main">
              <a:ext uri="{FF2B5EF4-FFF2-40B4-BE49-F238E27FC236}">
                <a16:creationId xmlns:a16="http://schemas.microsoft.com/office/drawing/2014/main" id="{7CDCAFFB-2F3F-4E00-95C0-971A528938EE}"/>
              </a:ext>
            </a:extLst>
          </p:cNvPr>
          <p:cNvSpPr>
            <a:spLocks xmlns:a="http://schemas.openxmlformats.org/drawingml/2006/main" noGrp="1"/>
          </p:cNvSpPr>
          <p:nvPr/>
        </p:nvSpPr>
        <p:spPr>
          <a:xfrm xmlns:a="http://schemas.openxmlformats.org/drawingml/2006/main">
            <a:off x="4867275"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English-heavy content and unfamiliar health pathways lower confidence.</a:t>
            </a:r>
          </a:p>
        </p:txBody>
      </p:sp>
      <p:sp>
        <p:nvSpPr>
          <p:cNvPr id="18" name="">
            <a:extLst xmlns:a="http://schemas.openxmlformats.org/drawingml/2006/main">
              <a:ext uri="{FF2B5EF4-FFF2-40B4-BE49-F238E27FC236}">
                <a16:creationId xmlns:a16="http://schemas.microsoft.com/office/drawing/2014/main" id="{DADE57EA-F94B-401E-AFD7-ECD789C46B7B}"/>
              </a:ext>
            </a:extLst>
          </p:cNvPr>
          <p:cNvSpPr>
            <a:spLocks xmlns:a="http://schemas.openxmlformats.org/drawingml/2006/main" noGrp="1"/>
          </p:cNvSpPr>
          <p:nvPr/>
        </p:nvSpPr>
        <p:spPr>
          <a:xfrm xmlns:a="http://schemas.openxmlformats.org/drawingml/2006/main">
            <a:off x="8039100" y="3695700"/>
            <a:ext cx="3143250" cy="28575"/>
          </a:xfrm>
          <a:prstGeom xmlns:a="http://schemas.openxmlformats.org/drawingml/2006/main" prst="rect">
            <a:avLst/>
          </a:prstGeom>
          <a:solidFill xmlns:a="http://schemas.openxmlformats.org/drawingml/2006/main">
            <a:srgbClr val="F0AD26"/>
          </a:solidFill>
          <a:ln xmlns:a="http://schemas.openxmlformats.org/drawingml/2006/main" w="9525">
            <a:solidFill>
              <a:srgbClr val="F0AD26"/>
            </a:solidFill>
          </a:ln>
        </p:spPr>
      </p:sp>
      <p:sp>
        <p:nvSpPr>
          <p:cNvPr id="19" name="">
            <a:extLst xmlns:a="http://schemas.openxmlformats.org/drawingml/2006/main">
              <a:ext uri="{FF2B5EF4-FFF2-40B4-BE49-F238E27FC236}">
                <a16:creationId xmlns:a16="http://schemas.microsoft.com/office/drawing/2014/main" id="{05C96ABF-7261-4795-83B7-73B8A591BADE}"/>
              </a:ext>
            </a:extLst>
          </p:cNvPr>
          <p:cNvSpPr>
            <a:spLocks xmlns:a="http://schemas.openxmlformats.org/drawingml/2006/main" noGrp="1"/>
          </p:cNvSpPr>
          <p:nvPr/>
        </p:nvSpPr>
        <p:spPr>
          <a:xfrm xmlns:a="http://schemas.openxmlformats.org/drawingml/2006/main">
            <a:off x="803910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F0AD26"/>
                </a:solidFill>
                <a:latin typeface="Arial"/>
                <a:ea typeface="Arial"/>
                <a:cs typeface="Arial"/>
              </a:defRPr>
            </a:pPr>
            <a:r>
              <a:rPr sz="975" b="1">
                <a:solidFill>
                  <a:srgbClr val="F0AD26"/>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BECA9F99-0C8C-4101-BBF9-A9F02383E1A6}"/>
              </a:ext>
            </a:extLst>
          </p:cNvPr>
          <p:cNvSpPr>
            <a:spLocks xmlns:a="http://schemas.openxmlformats.org/drawingml/2006/main" noGrp="1"/>
          </p:cNvSpPr>
          <p:nvPr/>
        </p:nvSpPr>
        <p:spPr>
          <a:xfrm xmlns:a="http://schemas.openxmlformats.org/drawingml/2006/main">
            <a:off x="849630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The next step is uncertain</a:t>
            </a:r>
          </a:p>
        </p:txBody>
      </p:sp>
      <p:sp>
        <p:nvSpPr>
          <p:cNvPr id="21" name="">
            <a:extLst xmlns:a="http://schemas.openxmlformats.org/drawingml/2006/main">
              <a:ext uri="{FF2B5EF4-FFF2-40B4-BE49-F238E27FC236}">
                <a16:creationId xmlns:a16="http://schemas.microsoft.com/office/drawing/2014/main" id="{FF8F6AD2-3F51-48E6-B358-B66E02A23C55}"/>
              </a:ext>
            </a:extLst>
          </p:cNvPr>
          <p:cNvSpPr>
            <a:spLocks xmlns:a="http://schemas.openxmlformats.org/drawingml/2006/main" noGrp="1"/>
          </p:cNvSpPr>
          <p:nvPr/>
        </p:nvSpPr>
        <p:spPr>
          <a:xfrm xmlns:a="http://schemas.openxmlformats.org/drawingml/2006/main">
            <a:off x="849630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Users need a safe route and a practical direction to support.</a:t>
            </a:r>
          </a:p>
        </p:txBody>
      </p:sp>
      <p:sp>
        <p:nvSpPr>
          <p:cNvPr id="22" name="">
            <a:extLst xmlns:a="http://schemas.openxmlformats.org/drawingml/2006/main">
              <a:ext uri="{FF2B5EF4-FFF2-40B4-BE49-F238E27FC236}">
                <a16:creationId xmlns:a16="http://schemas.microsoft.com/office/drawing/2014/main" id="{FC232CA6-AF3D-446F-9CB9-0B7D6FBE1A63}"/>
              </a:ext>
            </a:extLst>
          </p:cNvPr>
          <p:cNvSpPr>
            <a:spLocks xmlns:a="http://schemas.openxmlformats.org/drawingml/2006/main" noGrp="1"/>
          </p:cNvSpPr>
          <p:nvPr/>
        </p:nvSpPr>
        <p:spPr>
          <a:xfrm xmlns:a="http://schemas.openxmlformats.org/drawingml/2006/main">
            <a:off x="771525" y="53816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NetraJyoti responds with Bengali-first guidance, structured choices, and visible human-support options.</a:t>
            </a:r>
          </a:p>
        </p:txBody>
      </p:sp>
      <p:sp>
        <p:nvSpPr>
          <p:cNvPr id="24" name="">
            <a:extLst xmlns:a="http://schemas.openxmlformats.org/drawingml/2006/main">
              <a:ext uri="{FF2B5EF4-FFF2-40B4-BE49-F238E27FC236}">
                <a16:creationId xmlns:a16="http://schemas.microsoft.com/office/drawing/2014/main" id="{8D85BB84-1C1C-48DD-8AF9-6BF5FA68DE9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60B646C-0FB1-4E91-8443-4E023C80B1B5}"/>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02</a:t>
            </a:r>
          </a:p>
        </p:txBody>
      </p:sp>
      <p:sp>
        <p:nvSpPr>
          <p:cNvPr id="26" name="">
            <a:extLst xmlns:a="http://schemas.openxmlformats.org/drawingml/2006/main">
              <a:ext uri="{FF2B5EF4-FFF2-40B4-BE49-F238E27FC236}">
                <a16:creationId xmlns:a16="http://schemas.microsoft.com/office/drawing/2014/main" id="{9C03CE6D-A554-4FFD-A38F-8610CFEA3344}"/>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27" name="">
            <a:extLst xmlns:a="http://schemas.openxmlformats.org/drawingml/2006/main">
              <a:ext uri="{FF2B5EF4-FFF2-40B4-BE49-F238E27FC236}">
                <a16:creationId xmlns:a16="http://schemas.microsoft.com/office/drawing/2014/main" id="{CC08DA37-D4CB-4CD9-82DF-E51ECE7FD2C9}"/>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The access problem</a:t>
            </a:r>
          </a:p>
        </p:txBody>
      </p:sp>
      <p:sp>
        <p:nvSpPr>
          <p:cNvPr id="28" name="">
            <a:extLst xmlns:a="http://schemas.openxmlformats.org/drawingml/2006/main">
              <a:ext uri="{FF2B5EF4-FFF2-40B4-BE49-F238E27FC236}">
                <a16:creationId xmlns:a16="http://schemas.microsoft.com/office/drawing/2014/main" id="{77543633-B5C5-4081-8948-9F5B1C4E725C}"/>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Language and service uncertainty can delay a safe eye-care decision</a:t>
            </a:r>
          </a:p>
        </p:txBody>
      </p:sp>
      <p:sp>
        <p:nvSpPr>
          <p:cNvPr id="29" name="">
            <a:extLst xmlns:a="http://schemas.openxmlformats.org/drawingml/2006/main">
              <a:ext uri="{FF2B5EF4-FFF2-40B4-BE49-F238E27FC236}">
                <a16:creationId xmlns:a16="http://schemas.microsoft.com/office/drawing/2014/main" id="{94BBEF13-56C7-45A5-AF87-0B167B50CC6B}"/>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1416715-A47E-4A18-A5BF-FEC2019F0091}"/>
              </a:ext>
            </a:extLst>
          </p:cNvPr>
          <p:cNvSpPr>
            <a:spLocks xmlns:a="http://schemas.openxmlformats.org/drawingml/2006/main" noGrp="1"/>
          </p:cNvSpPr>
          <p:nvPr/>
        </p:nvSpPr>
        <p:spPr>
          <a:xfrm xmlns:a="http://schemas.openxmlformats.org/drawingml/2006/main">
            <a:off x="742950" y="222885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DE664C"/>
                </a:solidFill>
                <a:latin typeface="Arial"/>
                <a:ea typeface="Arial"/>
                <a:cs typeface="Arial"/>
              </a:defRPr>
            </a:pPr>
            <a:r>
              <a:rPr sz="1050" b="1">
                <a:solidFill>
                  <a:srgbClr val="DE664C"/>
                </a:solidFill>
                <a:latin typeface="Arial"/>
                <a:ea typeface="Arial"/>
                <a:cs typeface="Arial"/>
              </a:rPr>
              <a:t>THE DECISION GAP</a:t>
            </a:r>
          </a:p>
        </p:txBody>
      </p:sp>
      <p:sp>
        <p:nvSpPr>
          <p:cNvPr id="31" name="">
            <a:extLst xmlns:a="http://schemas.openxmlformats.org/drawingml/2006/main">
              <a:ext uri="{FF2B5EF4-FFF2-40B4-BE49-F238E27FC236}">
                <a16:creationId xmlns:a16="http://schemas.microsoft.com/office/drawing/2014/main" id="{DDBA980C-2F61-4993-9965-462218B14DA6}"/>
              </a:ext>
            </a:extLst>
          </p:cNvPr>
          <p:cNvSpPr>
            <a:spLocks xmlns:a="http://schemas.openxmlformats.org/drawingml/2006/main" noGrp="1"/>
          </p:cNvSpPr>
          <p:nvPr/>
        </p:nvSpPr>
        <p:spPr>
          <a:xfrm xmlns:a="http://schemas.openxmlformats.org/drawingml/2006/main">
            <a:off x="742950" y="2571750"/>
            <a:ext cx="3381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People need answers</a:t>
            </a:r>
          </a:p>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before they can act</a:t>
            </a:r>
          </a:p>
        </p:txBody>
      </p:sp>
      <p:sp>
        <p:nvSpPr>
          <p:cNvPr id="32" name="">
            <a:extLst xmlns:a="http://schemas.openxmlformats.org/drawingml/2006/main">
              <a:ext uri="{FF2B5EF4-FFF2-40B4-BE49-F238E27FC236}">
                <a16:creationId xmlns:a16="http://schemas.microsoft.com/office/drawing/2014/main" id="{BB48A905-AB85-40D0-95B4-1FB5EBBE37F6}"/>
              </a:ext>
            </a:extLst>
          </p:cNvPr>
          <p:cNvSpPr>
            <a:spLocks xmlns:a="http://schemas.openxmlformats.org/drawingml/2006/main" noGrp="1"/>
          </p:cNvSpPr>
          <p:nvPr/>
        </p:nvSpPr>
        <p:spPr>
          <a:xfrm xmlns:a="http://schemas.openxmlformats.org/drawingml/2006/main">
            <a:off x="742950" y="3562350"/>
            <a:ext cx="338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56647A"/>
                </a:solidFill>
                <a:latin typeface="Arial"/>
                <a:ea typeface="Arial"/>
                <a:cs typeface="Arial"/>
              </a:defRPr>
            </a:pPr>
            <a:r>
              <a:rPr sz="1425">
                <a:solidFill>
                  <a:srgbClr val="56647A"/>
                </a:solidFill>
                <a:latin typeface="Arial"/>
                <a:ea typeface="Arial"/>
                <a:cs typeface="Arial"/>
              </a:rPr>
              <a:t>A Bengali-speaking user may struggle to decide whether care is urgent, which guidance is trustworthy, or where to seek help.</a:t>
            </a:r>
          </a:p>
        </p:txBody>
      </p:sp>
      <p:sp>
        <p:nvSpPr>
          <p:cNvPr id="33" name="">
            <a:extLst xmlns:a="http://schemas.openxmlformats.org/drawingml/2006/main">
              <a:ext uri="{FF2B5EF4-FFF2-40B4-BE49-F238E27FC236}">
                <a16:creationId xmlns:a16="http://schemas.microsoft.com/office/drawing/2014/main" id="{171EED52-F918-4547-B3A8-328CB6272780}"/>
              </a:ext>
            </a:extLst>
          </p:cNvPr>
          <p:cNvSpPr>
            <a:spLocks xmlns:a="http://schemas.openxmlformats.org/drawingml/2006/main" noGrp="1"/>
          </p:cNvSpPr>
          <p:nvPr/>
        </p:nvSpPr>
        <p:spPr>
          <a:xfrm xmlns:a="http://schemas.openxmlformats.org/drawingml/2006/main">
            <a:off x="4762500" y="2266950"/>
            <a:ext cx="19050" cy="285750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9D91DA50-59A9-4980-A637-1796077D70B7}"/>
              </a:ext>
            </a:extLst>
          </p:cNvPr>
          <p:cNvSpPr>
            <a:spLocks xmlns:a="http://schemas.openxmlformats.org/drawingml/2006/main" noGrp="1"/>
          </p:cNvSpPr>
          <p:nvPr/>
        </p:nvSpPr>
        <p:spPr>
          <a:xfrm xmlns:a="http://schemas.openxmlformats.org/drawingml/2006/main">
            <a:off x="5105400" y="238125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BC50F81E-19B3-47F1-85EF-29A576F7B216}"/>
              </a:ext>
            </a:extLst>
          </p:cNvPr>
          <p:cNvSpPr>
            <a:spLocks xmlns:a="http://schemas.openxmlformats.org/drawingml/2006/main" noGrp="1"/>
          </p:cNvSpPr>
          <p:nvPr/>
        </p:nvSpPr>
        <p:spPr>
          <a:xfrm xmlns:a="http://schemas.openxmlformats.org/drawingml/2006/main">
            <a:off x="5105400" y="25050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B3331B13-DCF7-42D6-8DA2-DDC3EE4AF319}"/>
              </a:ext>
            </a:extLst>
          </p:cNvPr>
          <p:cNvSpPr>
            <a:spLocks xmlns:a="http://schemas.openxmlformats.org/drawingml/2006/main" noGrp="1"/>
          </p:cNvSpPr>
          <p:nvPr/>
        </p:nvSpPr>
        <p:spPr>
          <a:xfrm xmlns:a="http://schemas.openxmlformats.org/drawingml/2006/main">
            <a:off x="5810250" y="24193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Is this urgent?</a:t>
            </a:r>
          </a:p>
        </p:txBody>
      </p:sp>
      <p:sp>
        <p:nvSpPr>
          <p:cNvPr id="37" name="">
            <a:extLst xmlns:a="http://schemas.openxmlformats.org/drawingml/2006/main">
              <a:ext uri="{FF2B5EF4-FFF2-40B4-BE49-F238E27FC236}">
                <a16:creationId xmlns:a16="http://schemas.microsoft.com/office/drawing/2014/main" id="{403A5069-9CBE-4C05-AF33-47A1C2487550}"/>
              </a:ext>
            </a:extLst>
          </p:cNvPr>
          <p:cNvSpPr>
            <a:spLocks xmlns:a="http://schemas.openxmlformats.org/drawingml/2006/main" noGrp="1"/>
          </p:cNvSpPr>
          <p:nvPr/>
        </p:nvSpPr>
        <p:spPr>
          <a:xfrm xmlns:a="http://schemas.openxmlformats.org/drawingml/2006/main">
            <a:off x="5810250" y="27336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Symptoms may feel unclear</a:t>
            </a:r>
          </a:p>
        </p:txBody>
      </p:sp>
      <p:sp>
        <p:nvSpPr>
          <p:cNvPr id="38" name="">
            <a:extLst xmlns:a="http://schemas.openxmlformats.org/drawingml/2006/main">
              <a:ext uri="{FF2B5EF4-FFF2-40B4-BE49-F238E27FC236}">
                <a16:creationId xmlns:a16="http://schemas.microsoft.com/office/drawing/2014/main" id="{4D7A409B-0845-434D-8AE1-E552D528798E}"/>
              </a:ext>
            </a:extLst>
          </p:cNvPr>
          <p:cNvSpPr>
            <a:spLocks xmlns:a="http://schemas.openxmlformats.org/drawingml/2006/main" noGrp="1"/>
          </p:cNvSpPr>
          <p:nvPr/>
        </p:nvSpPr>
        <p:spPr>
          <a:xfrm xmlns:a="http://schemas.openxmlformats.org/drawingml/2006/main">
            <a:off x="5105400" y="337185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65D0BC3B-443F-4F86-9872-0D1FB8C78752}"/>
              </a:ext>
            </a:extLst>
          </p:cNvPr>
          <p:cNvSpPr>
            <a:spLocks xmlns:a="http://schemas.openxmlformats.org/drawingml/2006/main" noGrp="1"/>
          </p:cNvSpPr>
          <p:nvPr/>
        </p:nvSpPr>
        <p:spPr>
          <a:xfrm xmlns:a="http://schemas.openxmlformats.org/drawingml/2006/main">
            <a:off x="5105400" y="34956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0" name="">
            <a:extLst xmlns:a="http://schemas.openxmlformats.org/drawingml/2006/main">
              <a:ext uri="{FF2B5EF4-FFF2-40B4-BE49-F238E27FC236}">
                <a16:creationId xmlns:a16="http://schemas.microsoft.com/office/drawing/2014/main" id="{85A6EF2B-7AF2-4786-83A3-4820C80E1C07}"/>
              </a:ext>
            </a:extLst>
          </p:cNvPr>
          <p:cNvSpPr>
            <a:spLocks xmlns:a="http://schemas.openxmlformats.org/drawingml/2006/main" noGrp="1"/>
          </p:cNvSpPr>
          <p:nvPr/>
        </p:nvSpPr>
        <p:spPr>
          <a:xfrm xmlns:a="http://schemas.openxmlformats.org/drawingml/2006/main">
            <a:off x="5810250" y="34099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Can I trust this?</a:t>
            </a:r>
          </a:p>
        </p:txBody>
      </p:sp>
      <p:sp>
        <p:nvSpPr>
          <p:cNvPr id="41" name="">
            <a:extLst xmlns:a="http://schemas.openxmlformats.org/drawingml/2006/main">
              <a:ext uri="{FF2B5EF4-FFF2-40B4-BE49-F238E27FC236}">
                <a16:creationId xmlns:a16="http://schemas.microsoft.com/office/drawing/2014/main" id="{2A879C0F-E071-47EF-96F8-3C111BFE54CB}"/>
              </a:ext>
            </a:extLst>
          </p:cNvPr>
          <p:cNvSpPr>
            <a:spLocks xmlns:a="http://schemas.openxmlformats.org/drawingml/2006/main" noGrp="1"/>
          </p:cNvSpPr>
          <p:nvPr/>
        </p:nvSpPr>
        <p:spPr>
          <a:xfrm xmlns:a="http://schemas.openxmlformats.org/drawingml/2006/main">
            <a:off x="5810250" y="37242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Information may not be Bengali</a:t>
            </a:r>
          </a:p>
        </p:txBody>
      </p:sp>
      <p:sp>
        <p:nvSpPr>
          <p:cNvPr id="42" name="">
            <a:extLst xmlns:a="http://schemas.openxmlformats.org/drawingml/2006/main">
              <a:ext uri="{FF2B5EF4-FFF2-40B4-BE49-F238E27FC236}">
                <a16:creationId xmlns:a16="http://schemas.microsoft.com/office/drawing/2014/main" id="{D031A442-CB90-46A3-89D8-265BA3AF8403}"/>
              </a:ext>
            </a:extLst>
          </p:cNvPr>
          <p:cNvSpPr>
            <a:spLocks xmlns:a="http://schemas.openxmlformats.org/drawingml/2006/main" noGrp="1"/>
          </p:cNvSpPr>
          <p:nvPr/>
        </p:nvSpPr>
        <p:spPr>
          <a:xfrm xmlns:a="http://schemas.openxmlformats.org/drawingml/2006/main">
            <a:off x="5105400" y="436245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B9676435-6B17-45C8-AD22-CAC78FEAF51F}"/>
              </a:ext>
            </a:extLst>
          </p:cNvPr>
          <p:cNvSpPr>
            <a:spLocks xmlns:a="http://schemas.openxmlformats.org/drawingml/2006/main" noGrp="1"/>
          </p:cNvSpPr>
          <p:nvPr/>
        </p:nvSpPr>
        <p:spPr>
          <a:xfrm xmlns:a="http://schemas.openxmlformats.org/drawingml/2006/main">
            <a:off x="5105400" y="44862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4" name="">
            <a:extLst xmlns:a="http://schemas.openxmlformats.org/drawingml/2006/main">
              <a:ext uri="{FF2B5EF4-FFF2-40B4-BE49-F238E27FC236}">
                <a16:creationId xmlns:a16="http://schemas.microsoft.com/office/drawing/2014/main" id="{2AAB7ECB-F1A9-4D01-A297-D6F13A8C0BF9}"/>
              </a:ext>
            </a:extLst>
          </p:cNvPr>
          <p:cNvSpPr>
            <a:spLocks xmlns:a="http://schemas.openxmlformats.org/drawingml/2006/main" noGrp="1"/>
          </p:cNvSpPr>
          <p:nvPr/>
        </p:nvSpPr>
        <p:spPr>
          <a:xfrm xmlns:a="http://schemas.openxmlformats.org/drawingml/2006/main">
            <a:off x="5810250" y="44005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Where should I go?</a:t>
            </a:r>
          </a:p>
        </p:txBody>
      </p:sp>
      <p:sp>
        <p:nvSpPr>
          <p:cNvPr id="45" name="">
            <a:extLst xmlns:a="http://schemas.openxmlformats.org/drawingml/2006/main">
              <a:ext uri="{FF2B5EF4-FFF2-40B4-BE49-F238E27FC236}">
                <a16:creationId xmlns:a16="http://schemas.microsoft.com/office/drawing/2014/main" id="{3CBA472B-8D97-4A15-978E-113BBC27B06B}"/>
              </a:ext>
            </a:extLst>
          </p:cNvPr>
          <p:cNvSpPr>
            <a:spLocks xmlns:a="http://schemas.openxmlformats.org/drawingml/2006/main" noGrp="1"/>
          </p:cNvSpPr>
          <p:nvPr/>
        </p:nvSpPr>
        <p:spPr>
          <a:xfrm xmlns:a="http://schemas.openxmlformats.org/drawingml/2006/main">
            <a:off x="5810250" y="47148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Local service direction may be unclear</a:t>
            </a:r>
          </a:p>
        </p:txBody>
      </p:sp>
      <p:sp>
        <p:nvSpPr>
          <p:cNvPr id="46" name="">
            <a:extLst xmlns:a="http://schemas.openxmlformats.org/drawingml/2006/main">
              <a:ext uri="{FF2B5EF4-FFF2-40B4-BE49-F238E27FC236}">
                <a16:creationId xmlns:a16="http://schemas.microsoft.com/office/drawing/2014/main" id="{53320DA8-1EFC-406B-B6C1-F88F77F20039}"/>
              </a:ext>
            </a:extLst>
          </p:cNvPr>
          <p:cNvSpPr>
            <a:spLocks xmlns:a="http://schemas.openxmlformats.org/drawingml/2006/main" noGrp="1"/>
          </p:cNvSpPr>
          <p:nvPr/>
        </p:nvSpPr>
        <p:spPr>
          <a:xfrm xmlns:a="http://schemas.openxmlformats.org/drawingml/2006/main">
            <a:off x="742950" y="5191125"/>
            <a:ext cx="10001250" cy="685800"/>
          </a:xfrm>
          <a:prstGeom xmlns:a="http://schemas.openxmlformats.org/drawingml/2006/main" prst="roundRect">
            <a:avLst>
              <a:gd name="adj" fmla="val 11111"/>
            </a:avLst>
          </a:prstGeom>
          <a:solidFill xmlns:a="http://schemas.openxmlformats.org/drawingml/2006/main">
            <a:srgbClr val="E9E7F5"/>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092A23C4-D89C-48EB-93FE-4B395618E26C}"/>
              </a:ext>
            </a:extLst>
          </p:cNvPr>
          <p:cNvSpPr>
            <a:spLocks xmlns:a="http://schemas.openxmlformats.org/drawingml/2006/main" noGrp="1"/>
          </p:cNvSpPr>
          <p:nvPr/>
        </p:nvSpPr>
        <p:spPr>
          <a:xfrm xmlns:a="http://schemas.openxmlformats.org/drawingml/2006/main">
            <a:off x="1009650" y="54102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202A44"/>
                </a:solidFill>
                <a:latin typeface="Arial"/>
                <a:ea typeface="Arial"/>
                <a:cs typeface="Arial"/>
              </a:defRPr>
            </a:pPr>
            <a:r>
              <a:rPr sz="1425" b="1">
                <a:solidFill>
                  <a:srgbClr val="202A44"/>
                </a:solidFill>
                <a:latin typeface="Arial"/>
                <a:ea typeface="Arial"/>
                <a:cs typeface="Arial"/>
              </a:rPr>
              <a:t>Design response: offer Bengali voice or text, then present a safe next step through a controlled route.</a:t>
            </a:r>
          </a:p>
        </p:txBody>
      </p:sp>
      <p:sp>
        <p:nvSpPr>
          <p:cNvPr id="48" name="">
            <a:extLst xmlns:a="http://schemas.openxmlformats.org/drawingml/2006/main">
              <a:ext uri="{FF2B5EF4-FFF2-40B4-BE49-F238E27FC236}">
                <a16:creationId xmlns:a16="http://schemas.microsoft.com/office/drawing/2014/main" id="{CCB46666-E96A-4D44-98DB-9E4448AC60C9}"/>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2</a:t>
            </a:r>
          </a:p>
        </p:txBody>
      </p:sp>
    </p:spTree>
    <p:extLst>
      <p:ext uri="{BB962C8B-B14F-4D97-AF65-F5344CB8AC3E}">
        <p14:creationId xmlns:p14="http://schemas.microsoft.com/office/powerpoint/2010/main" val="4014628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401559E-7EF5-4B41-A220-9ABCCBCE7C8C}"/>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9898F1F1-0D7B-4567-9E10-EF6EE4DE62DD}"/>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Safety architecture</a:t>
            </a:r>
          </a:p>
        </p:txBody>
      </p:sp>
      <p:sp>
        <p:nvSpPr>
          <p:cNvPr id="3" name="">
            <a:extLst xmlns:a="http://schemas.openxmlformats.org/drawingml/2006/main">
              <a:ext uri="{FF2B5EF4-FFF2-40B4-BE49-F238E27FC236}">
                <a16:creationId xmlns:a16="http://schemas.microsoft.com/office/drawing/2014/main" id="{256AF916-E29F-4303-8AB9-26C209B5E7CC}"/>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The route decision stays deterministic from input to final guidance</a:t>
            </a:r>
          </a:p>
        </p:txBody>
      </p:sp>
      <p:sp>
        <p:nvSpPr>
          <p:cNvPr id="4" name="">
            <a:extLst xmlns:a="http://schemas.openxmlformats.org/drawingml/2006/main">
              <a:ext uri="{FF2B5EF4-FFF2-40B4-BE49-F238E27FC236}">
                <a16:creationId xmlns:a16="http://schemas.microsoft.com/office/drawing/2014/main" id="{D421054B-82CD-44F2-9E83-ECA7B44B5716}"/>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77F9DAEF-9A45-4DBC-A744-962FE4430373}"/>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AB0FB01E-707B-4442-B5B6-E8E15C769C8B}"/>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F2FFB83D-203A-41FE-8C40-52F4A6E3F55E}"/>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DC0CC85-FCD4-4CC8-BB0D-E1B0D242235D}"/>
              </a:ext>
            </a:extLst>
          </p:cNvPr>
          <p:cNvSpPr>
            <a:spLocks xmlns:a="http://schemas.openxmlformats.org/drawingml/2006/main" noGrp="1"/>
          </p:cNvSpPr>
          <p:nvPr/>
        </p:nvSpPr>
        <p:spPr>
          <a:xfrm xmlns:a="http://schemas.openxmlformats.org/drawingml/2006/main">
            <a:off x="762000" y="2238375"/>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ROUTE SELECTION</a:t>
            </a:r>
          </a:p>
        </p:txBody>
      </p:sp>
      <p:sp>
        <p:nvSpPr>
          <p:cNvPr id="9" name="">
            <a:extLst xmlns:a="http://schemas.openxmlformats.org/drawingml/2006/main">
              <a:ext uri="{FF2B5EF4-FFF2-40B4-BE49-F238E27FC236}">
                <a16:creationId xmlns:a16="http://schemas.microsoft.com/office/drawing/2014/main" id="{643EF8F2-A911-431A-8F87-C6A4D5362805}"/>
              </a:ext>
            </a:extLst>
          </p:cNvPr>
          <p:cNvSpPr>
            <a:spLocks xmlns:a="http://schemas.openxmlformats.org/drawingml/2006/main" noGrp="1"/>
          </p:cNvSpPr>
          <p:nvPr/>
        </p:nvSpPr>
        <p:spPr>
          <a:xfrm xmlns:a="http://schemas.openxmlformats.org/drawingml/2006/main">
            <a:off x="7172325" y="2238375"/>
            <a:ext cx="247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POST-ROUTE EXPLANATION</a:t>
            </a:r>
          </a:p>
        </p:txBody>
      </p:sp>
      <p:sp>
        <p:nvSpPr>
          <p:cNvPr id="10" name="">
            <a:extLst xmlns:a="http://schemas.openxmlformats.org/drawingml/2006/main">
              <a:ext uri="{FF2B5EF4-FFF2-40B4-BE49-F238E27FC236}">
                <a16:creationId xmlns:a16="http://schemas.microsoft.com/office/drawing/2014/main" id="{A2E75E06-0BBE-47C0-ABCA-17C804C1FC9F}"/>
              </a:ext>
            </a:extLst>
          </p:cNvPr>
          <p:cNvSpPr>
            <a:spLocks xmlns:a="http://schemas.openxmlformats.org/drawingml/2006/main" noGrp="1"/>
          </p:cNvSpPr>
          <p:nvPr/>
        </p:nvSpPr>
        <p:spPr>
          <a:xfrm xmlns:a="http://schemas.openxmlformats.org/drawingml/2006/main">
            <a:off x="742950"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11" name="">
            <a:extLst xmlns:a="http://schemas.openxmlformats.org/drawingml/2006/main">
              <a:ext uri="{FF2B5EF4-FFF2-40B4-BE49-F238E27FC236}">
                <a16:creationId xmlns:a16="http://schemas.microsoft.com/office/drawing/2014/main" id="{6C2B4660-A526-49F4-96A0-C5FC1B393162}"/>
              </a:ext>
            </a:extLst>
          </p:cNvPr>
          <p:cNvSpPr>
            <a:spLocks xmlns:a="http://schemas.openxmlformats.org/drawingml/2006/main" noGrp="1"/>
          </p:cNvSpPr>
          <p:nvPr/>
        </p:nvSpPr>
        <p:spPr>
          <a:xfrm xmlns:a="http://schemas.openxmlformats.org/drawingml/2006/main">
            <a:off x="990600" y="28765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React PWA</a:t>
            </a:r>
          </a:p>
        </p:txBody>
      </p:sp>
      <p:sp>
        <p:nvSpPr>
          <p:cNvPr id="12" name="">
            <a:extLst xmlns:a="http://schemas.openxmlformats.org/drawingml/2006/main">
              <a:ext uri="{FF2B5EF4-FFF2-40B4-BE49-F238E27FC236}">
                <a16:creationId xmlns:a16="http://schemas.microsoft.com/office/drawing/2014/main" id="{0C4EDB5E-EAAF-4B72-8197-CE68EE77D487}"/>
              </a:ext>
            </a:extLst>
          </p:cNvPr>
          <p:cNvSpPr>
            <a:spLocks xmlns:a="http://schemas.openxmlformats.org/drawingml/2006/main" noGrp="1"/>
          </p:cNvSpPr>
          <p:nvPr/>
        </p:nvSpPr>
        <p:spPr>
          <a:xfrm xmlns:a="http://schemas.openxmlformats.org/drawingml/2006/main">
            <a:off x="990600" y="32670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Fixed symptom codes</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Optional details</a:t>
            </a:r>
          </a:p>
        </p:txBody>
      </p:sp>
      <p:sp>
        <p:nvSpPr>
          <p:cNvPr id="13" name="">
            <a:extLst xmlns:a="http://schemas.openxmlformats.org/drawingml/2006/main">
              <a:ext uri="{FF2B5EF4-FFF2-40B4-BE49-F238E27FC236}">
                <a16:creationId xmlns:a16="http://schemas.microsoft.com/office/drawing/2014/main" id="{9432310E-8114-49BA-A27C-1F20B48B94B7}"/>
              </a:ext>
            </a:extLst>
          </p:cNvPr>
          <p:cNvSpPr>
            <a:spLocks xmlns:a="http://schemas.openxmlformats.org/drawingml/2006/main" noGrp="1"/>
          </p:cNvSpPr>
          <p:nvPr/>
        </p:nvSpPr>
        <p:spPr>
          <a:xfrm xmlns:a="http://schemas.openxmlformats.org/drawingml/2006/main">
            <a:off x="2943225"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1CC2EF4-38DA-4375-8B2E-875E8D667EF1}"/>
              </a:ext>
            </a:extLst>
          </p:cNvPr>
          <p:cNvSpPr>
            <a:spLocks xmlns:a="http://schemas.openxmlformats.org/drawingml/2006/main" noGrp="1"/>
          </p:cNvSpPr>
          <p:nvPr/>
        </p:nvSpPr>
        <p:spPr>
          <a:xfrm xmlns:a="http://schemas.openxmlformats.org/drawingml/2006/main">
            <a:off x="3381375" y="2638425"/>
            <a:ext cx="2095500" cy="1162050"/>
          </a:xfrm>
          <a:prstGeom xmlns:a="http://schemas.openxmlformats.org/drawingml/2006/main" prst="roundRect">
            <a:avLst>
              <a:gd name="adj" fmla="val 6557"/>
            </a:avLst>
          </a:prstGeom>
          <a:solidFill xmlns:a="http://schemas.openxmlformats.org/drawingml/2006/main">
            <a:srgbClr val="DDF3EE"/>
          </a:solidFill>
          <a:ln xmlns:a="http://schemas.openxmlformats.org/drawingml/2006/main" w="9525">
            <a:solidFill>
              <a:srgbClr val="DDF3EE"/>
            </a:solidFill>
          </a:ln>
        </p:spPr>
      </p:sp>
      <p:sp>
        <p:nvSpPr>
          <p:cNvPr id="15" name="">
            <a:extLst xmlns:a="http://schemas.openxmlformats.org/drawingml/2006/main">
              <a:ext uri="{FF2B5EF4-FFF2-40B4-BE49-F238E27FC236}">
                <a16:creationId xmlns:a16="http://schemas.microsoft.com/office/drawing/2014/main" id="{88F0F015-C24F-4D38-8D07-321D505D4D74}"/>
              </a:ext>
            </a:extLst>
          </p:cNvPr>
          <p:cNvSpPr>
            <a:spLocks xmlns:a="http://schemas.openxmlformats.org/drawingml/2006/main" noGrp="1"/>
          </p:cNvSpPr>
          <p:nvPr/>
        </p:nvSpPr>
        <p:spPr>
          <a:xfrm xmlns:a="http://schemas.openxmlformats.org/drawingml/2006/main">
            <a:off x="3648075" y="28765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PostgreSQL</a:t>
            </a:r>
          </a:p>
        </p:txBody>
      </p:sp>
      <p:sp>
        <p:nvSpPr>
          <p:cNvPr id="16" name="">
            <a:extLst xmlns:a="http://schemas.openxmlformats.org/drawingml/2006/main">
              <a:ext uri="{FF2B5EF4-FFF2-40B4-BE49-F238E27FC236}">
                <a16:creationId xmlns:a16="http://schemas.microsoft.com/office/drawing/2014/main" id="{87A0D70F-C064-4BF8-B645-AC8397D85AD8}"/>
              </a:ext>
            </a:extLst>
          </p:cNvPr>
          <p:cNvSpPr>
            <a:spLocks xmlns:a="http://schemas.openxmlformats.org/drawingml/2006/main" noGrp="1"/>
          </p:cNvSpPr>
          <p:nvPr/>
        </p:nvSpPr>
        <p:spPr>
          <a:xfrm xmlns:a="http://schemas.openxmlformats.org/drawingml/2006/main">
            <a:off x="3648075" y="3267075"/>
            <a:ext cx="158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Matching criteria</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by input code</a:t>
            </a:r>
          </a:p>
        </p:txBody>
      </p:sp>
      <p:sp>
        <p:nvSpPr>
          <p:cNvPr id="17" name="">
            <a:extLst xmlns:a="http://schemas.openxmlformats.org/drawingml/2006/main">
              <a:ext uri="{FF2B5EF4-FFF2-40B4-BE49-F238E27FC236}">
                <a16:creationId xmlns:a16="http://schemas.microsoft.com/office/drawing/2014/main" id="{CBE82ECF-8593-4CC8-B97B-AC3475EA52A7}"/>
              </a:ext>
            </a:extLst>
          </p:cNvPr>
          <p:cNvSpPr>
            <a:spLocks xmlns:a="http://schemas.openxmlformats.org/drawingml/2006/main" noGrp="1"/>
          </p:cNvSpPr>
          <p:nvPr/>
        </p:nvSpPr>
        <p:spPr>
          <a:xfrm xmlns:a="http://schemas.openxmlformats.org/drawingml/2006/main">
            <a:off x="560070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34F16CE7-5140-4B47-97BB-E52F12DF4C24}"/>
              </a:ext>
            </a:extLst>
          </p:cNvPr>
          <p:cNvSpPr>
            <a:spLocks xmlns:a="http://schemas.openxmlformats.org/drawingml/2006/main" noGrp="1"/>
          </p:cNvSpPr>
          <p:nvPr/>
        </p:nvSpPr>
        <p:spPr>
          <a:xfrm xmlns:a="http://schemas.openxmlformats.org/drawingml/2006/main">
            <a:off x="6048375" y="2457450"/>
            <a:ext cx="2228850" cy="1524000"/>
          </a:xfrm>
          <a:prstGeom xmlns:a="http://schemas.openxmlformats.org/drawingml/2006/main" prst="roundRect">
            <a:avLst>
              <a:gd name="adj" fmla="val 5000"/>
            </a:avLst>
          </a:prstGeom>
          <a:solidFill xmlns:a="http://schemas.openxmlformats.org/drawingml/2006/main">
            <a:srgbClr val="FFF2D8"/>
          </a:solidFill>
          <a:ln xmlns:a="http://schemas.openxmlformats.org/drawingml/2006/main" w="9525">
            <a:solidFill>
              <a:srgbClr val="FFF2D8"/>
            </a:solidFill>
          </a:ln>
        </p:spPr>
      </p:sp>
      <p:sp>
        <p:nvSpPr>
          <p:cNvPr id="19" name="">
            <a:extLst xmlns:a="http://schemas.openxmlformats.org/drawingml/2006/main">
              <a:ext uri="{FF2B5EF4-FFF2-40B4-BE49-F238E27FC236}">
                <a16:creationId xmlns:a16="http://schemas.microsoft.com/office/drawing/2014/main" id="{ACDC138B-7F1F-4AF6-B43B-4611B3A44663}"/>
              </a:ext>
            </a:extLst>
          </p:cNvPr>
          <p:cNvSpPr>
            <a:spLocks xmlns:a="http://schemas.openxmlformats.org/drawingml/2006/main" noGrp="1"/>
          </p:cNvSpPr>
          <p:nvPr/>
        </p:nvSpPr>
        <p:spPr>
          <a:xfrm xmlns:a="http://schemas.openxmlformats.org/drawingml/2006/main">
            <a:off x="6324600" y="27241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JAVA ROUTE LOCK</a:t>
            </a:r>
          </a:p>
        </p:txBody>
      </p:sp>
      <p:sp>
        <p:nvSpPr>
          <p:cNvPr id="20" name="">
            <a:extLst xmlns:a="http://schemas.openxmlformats.org/drawingml/2006/main">
              <a:ext uri="{FF2B5EF4-FFF2-40B4-BE49-F238E27FC236}">
                <a16:creationId xmlns:a16="http://schemas.microsoft.com/office/drawing/2014/main" id="{36A45CC1-4CB2-4F2B-B422-D588709B9BC3}"/>
              </a:ext>
            </a:extLst>
          </p:cNvPr>
          <p:cNvSpPr>
            <a:spLocks xmlns:a="http://schemas.openxmlformats.org/drawingml/2006/main" noGrp="1"/>
          </p:cNvSpPr>
          <p:nvPr/>
        </p:nvSpPr>
        <p:spPr>
          <a:xfrm xmlns:a="http://schemas.openxmlformats.org/drawingml/2006/main">
            <a:off x="6324600" y="3095625"/>
            <a:ext cx="1676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889"/>
          </a:bodyPr>
          <a:lstStyle xmlns:a="http://schemas.openxmlformats.org/drawingml/2006/main"/>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URGENT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HUMAN SUPPORT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ROUTINE</a:t>
            </a:r>
          </a:p>
        </p:txBody>
      </p:sp>
      <p:sp>
        <p:nvSpPr>
          <p:cNvPr id="21" name="">
            <a:extLst xmlns:a="http://schemas.openxmlformats.org/drawingml/2006/main">
              <a:ext uri="{FF2B5EF4-FFF2-40B4-BE49-F238E27FC236}">
                <a16:creationId xmlns:a16="http://schemas.microsoft.com/office/drawing/2014/main" id="{39AB00C8-2B55-4733-8A13-05819B2F4EA0}"/>
              </a:ext>
            </a:extLst>
          </p:cNvPr>
          <p:cNvSpPr>
            <a:spLocks xmlns:a="http://schemas.openxmlformats.org/drawingml/2006/main" noGrp="1"/>
          </p:cNvSpPr>
          <p:nvPr/>
        </p:nvSpPr>
        <p:spPr>
          <a:xfrm xmlns:a="http://schemas.openxmlformats.org/drawingml/2006/main">
            <a:off x="840105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BCABD309-AE0D-4CA9-94BE-3005D21FDCA2}"/>
              </a:ext>
            </a:extLst>
          </p:cNvPr>
          <p:cNvSpPr>
            <a:spLocks xmlns:a="http://schemas.openxmlformats.org/drawingml/2006/main" noGrp="1"/>
          </p:cNvSpPr>
          <p:nvPr/>
        </p:nvSpPr>
        <p:spPr>
          <a:xfrm xmlns:a="http://schemas.openxmlformats.org/drawingml/2006/main">
            <a:off x="8848725"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23" name="">
            <a:extLst xmlns:a="http://schemas.openxmlformats.org/drawingml/2006/main">
              <a:ext uri="{FF2B5EF4-FFF2-40B4-BE49-F238E27FC236}">
                <a16:creationId xmlns:a16="http://schemas.microsoft.com/office/drawing/2014/main" id="{8B887FE1-0848-4648-B29C-D09F35A66F5D}"/>
              </a:ext>
            </a:extLst>
          </p:cNvPr>
          <p:cNvSpPr>
            <a:spLocks xmlns:a="http://schemas.openxmlformats.org/drawingml/2006/main" noGrp="1"/>
          </p:cNvSpPr>
          <p:nvPr/>
        </p:nvSpPr>
        <p:spPr>
          <a:xfrm xmlns:a="http://schemas.openxmlformats.org/drawingml/2006/main">
            <a:off x="9077325" y="2876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PostgreSQL RAG</a:t>
            </a:r>
          </a:p>
        </p:txBody>
      </p:sp>
      <p:sp>
        <p:nvSpPr>
          <p:cNvPr id="24" name="">
            <a:extLst xmlns:a="http://schemas.openxmlformats.org/drawingml/2006/main">
              <a:ext uri="{FF2B5EF4-FFF2-40B4-BE49-F238E27FC236}">
                <a16:creationId xmlns:a16="http://schemas.microsoft.com/office/drawing/2014/main" id="{0400CA9E-EE9A-4742-9CFE-808343463CB3}"/>
              </a:ext>
            </a:extLst>
          </p:cNvPr>
          <p:cNvSpPr>
            <a:spLocks xmlns:a="http://schemas.openxmlformats.org/drawingml/2006/main" noGrp="1"/>
          </p:cNvSpPr>
          <p:nvPr/>
        </p:nvSpPr>
        <p:spPr>
          <a:xfrm xmlns:a="http://schemas.openxmlformats.org/drawingml/2006/main">
            <a:off x="9077325" y="3267075"/>
            <a:ext cx="1638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Route guidance</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and source</a:t>
            </a:r>
          </a:p>
        </p:txBody>
      </p:sp>
      <p:sp>
        <p:nvSpPr>
          <p:cNvPr id="25" name="">
            <a:extLst xmlns:a="http://schemas.openxmlformats.org/drawingml/2006/main">
              <a:ext uri="{FF2B5EF4-FFF2-40B4-BE49-F238E27FC236}">
                <a16:creationId xmlns:a16="http://schemas.microsoft.com/office/drawing/2014/main" id="{6A63BF2A-845E-4285-ACA3-EBEEA7D1E762}"/>
              </a:ext>
            </a:extLst>
          </p:cNvPr>
          <p:cNvSpPr>
            <a:spLocks xmlns:a="http://schemas.openxmlformats.org/drawingml/2006/main" noGrp="1"/>
          </p:cNvSpPr>
          <p:nvPr/>
        </p:nvSpPr>
        <p:spPr>
          <a:xfrm xmlns:a="http://schemas.openxmlformats.org/drawingml/2006/main">
            <a:off x="1676400" y="46291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Local Ollama may produce a plain-Bengali explanation. Java validates the response or returns fixed fallback copy.</a:t>
            </a:r>
          </a:p>
        </p:txBody>
      </p:sp>
      <p:sp>
        <p:nvSpPr>
          <p:cNvPr id="26" name="">
            <a:extLst xmlns:a="http://schemas.openxmlformats.org/drawingml/2006/main">
              <a:ext uri="{FF2B5EF4-FFF2-40B4-BE49-F238E27FC236}">
                <a16:creationId xmlns:a16="http://schemas.microsoft.com/office/drawing/2014/main" id="{519A7AF2-A401-4CCF-90DE-D5776A53C380}"/>
              </a:ext>
            </a:extLst>
          </p:cNvPr>
          <p:cNvSpPr>
            <a:spLocks xmlns:a="http://schemas.openxmlformats.org/drawingml/2006/main" noGrp="1"/>
          </p:cNvSpPr>
          <p:nvPr/>
        </p:nvSpPr>
        <p:spPr>
          <a:xfrm xmlns:a="http://schemas.openxmlformats.org/drawingml/2006/main">
            <a:off x="1981200" y="5095875"/>
            <a:ext cx="822960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7" name="">
            <a:extLst xmlns:a="http://schemas.openxmlformats.org/drawingml/2006/main">
              <a:ext uri="{FF2B5EF4-FFF2-40B4-BE49-F238E27FC236}">
                <a16:creationId xmlns:a16="http://schemas.microsoft.com/office/drawing/2014/main" id="{9B1BBD45-3262-47F2-B811-443FBC93CA30}"/>
              </a:ext>
            </a:extLst>
          </p:cNvPr>
          <p:cNvSpPr>
            <a:spLocks xmlns:a="http://schemas.openxmlformats.org/drawingml/2006/main" noGrp="1"/>
          </p:cNvSpPr>
          <p:nvPr/>
        </p:nvSpPr>
        <p:spPr>
          <a:xfrm xmlns:a="http://schemas.openxmlformats.org/drawingml/2006/main">
            <a:off x="1981200" y="5238750"/>
            <a:ext cx="822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Safety boundary: the model cannot diagnose, prescribe, change urgency, or select a service.</a:t>
            </a:r>
          </a:p>
        </p:txBody>
      </p:sp>
      <p:sp>
        <p:nvSpPr>
          <p:cNvPr id="29" name="">
            <a:extLst xmlns:a="http://schemas.openxmlformats.org/drawingml/2006/main">
              <a:ext uri="{FF2B5EF4-FFF2-40B4-BE49-F238E27FC236}">
                <a16:creationId xmlns:a16="http://schemas.microsoft.com/office/drawing/2014/main" id="{83B1E89E-CD29-41A0-91B0-2DBE02268B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D7F704E7-CEFB-4D75-AC2E-04E67637378D}"/>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03</a:t>
            </a:r>
          </a:p>
        </p:txBody>
      </p:sp>
      <p:sp>
        <p:nvSpPr>
          <p:cNvPr id="31" name="">
            <a:extLst xmlns:a="http://schemas.openxmlformats.org/drawingml/2006/main">
              <a:ext uri="{FF2B5EF4-FFF2-40B4-BE49-F238E27FC236}">
                <a16:creationId xmlns:a16="http://schemas.microsoft.com/office/drawing/2014/main" id="{6D3CEF02-D8BA-4B25-99AE-07167BC4FEA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32" name="">
            <a:extLst xmlns:a="http://schemas.openxmlformats.org/drawingml/2006/main">
              <a:ext uri="{FF2B5EF4-FFF2-40B4-BE49-F238E27FC236}">
                <a16:creationId xmlns:a16="http://schemas.microsoft.com/office/drawing/2014/main" id="{DED72694-6430-4840-B2B9-B262090846E1}"/>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Route selection and Bengali explanation</a:t>
            </a:r>
          </a:p>
        </p:txBody>
      </p:sp>
      <p:sp>
        <p:nvSpPr>
          <p:cNvPr id="33" name="">
            <a:extLst xmlns:a="http://schemas.openxmlformats.org/drawingml/2006/main">
              <a:ext uri="{FF2B5EF4-FFF2-40B4-BE49-F238E27FC236}">
                <a16:creationId xmlns:a16="http://schemas.microsoft.com/office/drawing/2014/main" id="{00929C0A-836A-4730-A0EE-A3435A5CB8E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Java deterministic engine selects the care route with PostgreSQL. Ollama explains only after the route lock.</a:t>
            </a:r>
          </a:p>
        </p:txBody>
      </p:sp>
      <p:sp>
        <p:nvSpPr>
          <p:cNvPr id="34" name="">
            <a:extLst xmlns:a="http://schemas.openxmlformats.org/drawingml/2006/main">
              <a:ext uri="{FF2B5EF4-FFF2-40B4-BE49-F238E27FC236}">
                <a16:creationId xmlns:a16="http://schemas.microsoft.com/office/drawing/2014/main" id="{EF0210E1-0951-4854-B7D8-06A3578840D7}"/>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092867C-328C-4B59-A9D8-CABABD4B622E}"/>
              </a:ext>
            </a:extLst>
          </p:cNvPr>
          <p:cNvSpPr>
            <a:spLocks xmlns:a="http://schemas.openxmlformats.org/drawingml/2006/main" noGrp="1"/>
          </p:cNvSpPr>
          <p:nvPr/>
        </p:nvSpPr>
        <p:spPr>
          <a:xfrm xmlns:a="http://schemas.openxmlformats.org/drawingml/2006/main">
            <a:off x="723900" y="210502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ROUTE SELECTION</a:t>
            </a:r>
          </a:p>
        </p:txBody>
      </p:sp>
      <p:sp>
        <p:nvSpPr>
          <p:cNvPr id="36" name="">
            <a:extLst xmlns:a="http://schemas.openxmlformats.org/drawingml/2006/main">
              <a:ext uri="{FF2B5EF4-FFF2-40B4-BE49-F238E27FC236}">
                <a16:creationId xmlns:a16="http://schemas.microsoft.com/office/drawing/2014/main" id="{1F91E083-3B1A-415B-9665-881AA30ACFEA}"/>
              </a:ext>
            </a:extLst>
          </p:cNvPr>
          <p:cNvSpPr>
            <a:spLocks xmlns:a="http://schemas.openxmlformats.org/drawingml/2006/main" noGrp="1"/>
          </p:cNvSpPr>
          <p:nvPr/>
        </p:nvSpPr>
        <p:spPr>
          <a:xfrm xmlns:a="http://schemas.openxmlformats.org/drawingml/2006/main">
            <a:off x="7239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C063A936-5116-434B-AF0E-FCE225CC2E81}"/>
              </a:ext>
            </a:extLst>
          </p:cNvPr>
          <p:cNvSpPr>
            <a:spLocks xmlns:a="http://schemas.openxmlformats.org/drawingml/2006/main" noGrp="1"/>
          </p:cNvSpPr>
          <p:nvPr/>
        </p:nvSpPr>
        <p:spPr>
          <a:xfrm xmlns:a="http://schemas.openxmlformats.org/drawingml/2006/main">
            <a:off x="8953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Bengali UI</a:t>
            </a:r>
          </a:p>
        </p:txBody>
      </p:sp>
      <p:sp>
        <p:nvSpPr>
          <p:cNvPr id="38" name="">
            <a:extLst xmlns:a="http://schemas.openxmlformats.org/drawingml/2006/main">
              <a:ext uri="{FF2B5EF4-FFF2-40B4-BE49-F238E27FC236}">
                <a16:creationId xmlns:a16="http://schemas.microsoft.com/office/drawing/2014/main" id="{CA5EAC38-B612-405C-990C-D0C3EFFF881D}"/>
              </a:ext>
            </a:extLst>
          </p:cNvPr>
          <p:cNvSpPr>
            <a:spLocks xmlns:a="http://schemas.openxmlformats.org/drawingml/2006/main" noGrp="1"/>
          </p:cNvSpPr>
          <p:nvPr/>
        </p:nvSpPr>
        <p:spPr>
          <a:xfrm xmlns:a="http://schemas.openxmlformats.org/drawingml/2006/main">
            <a:off x="8953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Fixed voice or text input</a:t>
            </a:r>
          </a:p>
        </p:txBody>
      </p:sp>
      <p:sp>
        <p:nvSpPr>
          <p:cNvPr id="39" name="">
            <a:extLst xmlns:a="http://schemas.openxmlformats.org/drawingml/2006/main">
              <a:ext uri="{FF2B5EF4-FFF2-40B4-BE49-F238E27FC236}">
                <a16:creationId xmlns:a16="http://schemas.microsoft.com/office/drawing/2014/main" id="{5019003D-58BD-420D-8251-B12BBA6249A5}"/>
              </a:ext>
            </a:extLst>
          </p:cNvPr>
          <p:cNvSpPr>
            <a:spLocks xmlns:a="http://schemas.openxmlformats.org/drawingml/2006/main" noGrp="1"/>
          </p:cNvSpPr>
          <p:nvPr/>
        </p:nvSpPr>
        <p:spPr>
          <a:xfrm xmlns:a="http://schemas.openxmlformats.org/drawingml/2006/main">
            <a:off x="28384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C652051E-9238-47FD-8FAE-05E71D5D81CD}"/>
              </a:ext>
            </a:extLst>
          </p:cNvPr>
          <p:cNvSpPr>
            <a:spLocks xmlns:a="http://schemas.openxmlformats.org/drawingml/2006/main" noGrp="1"/>
          </p:cNvSpPr>
          <p:nvPr/>
        </p:nvSpPr>
        <p:spPr>
          <a:xfrm xmlns:a="http://schemas.openxmlformats.org/drawingml/2006/main">
            <a:off x="3314700" y="2419350"/>
            <a:ext cx="2019300" cy="990600"/>
          </a:xfrm>
          <a:prstGeom xmlns:a="http://schemas.openxmlformats.org/drawingml/2006/main" prst="roundRect">
            <a:avLst>
              <a:gd name="adj" fmla="val 7692"/>
            </a:avLst>
          </a:prstGeom>
          <a:solidFill xmlns:a="http://schemas.openxmlformats.org/drawingml/2006/main">
            <a:srgbClr val="4656A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34E1AFA-6FD2-4B88-BF18-E9EDEF5FBE34}"/>
              </a:ext>
            </a:extLst>
          </p:cNvPr>
          <p:cNvSpPr>
            <a:spLocks xmlns:a="http://schemas.openxmlformats.org/drawingml/2006/main" noGrp="1"/>
          </p:cNvSpPr>
          <p:nvPr/>
        </p:nvSpPr>
        <p:spPr>
          <a:xfrm xmlns:a="http://schemas.openxmlformats.org/drawingml/2006/main">
            <a:off x="34861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Java deterministic</a:t>
            </a:r>
          </a:p>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engine</a:t>
            </a:r>
          </a:p>
        </p:txBody>
      </p:sp>
      <p:sp>
        <p:nvSpPr>
          <p:cNvPr id="42" name="">
            <a:extLst xmlns:a="http://schemas.openxmlformats.org/drawingml/2006/main">
              <a:ext uri="{FF2B5EF4-FFF2-40B4-BE49-F238E27FC236}">
                <a16:creationId xmlns:a16="http://schemas.microsoft.com/office/drawing/2014/main" id="{3CFFDAF4-6250-4012-9219-0651A90A0308}"/>
              </a:ext>
            </a:extLst>
          </p:cNvPr>
          <p:cNvSpPr>
            <a:spLocks xmlns:a="http://schemas.openxmlformats.org/drawingml/2006/main" noGrp="1"/>
          </p:cNvSpPr>
          <p:nvPr/>
        </p:nvSpPr>
        <p:spPr>
          <a:xfrm xmlns:a="http://schemas.openxmlformats.org/drawingml/2006/main">
            <a:off x="34861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Validates submitted codes</a:t>
            </a:r>
          </a:p>
        </p:txBody>
      </p:sp>
      <p:sp>
        <p:nvSpPr>
          <p:cNvPr id="43" name="">
            <a:extLst xmlns:a="http://schemas.openxmlformats.org/drawingml/2006/main">
              <a:ext uri="{FF2B5EF4-FFF2-40B4-BE49-F238E27FC236}">
                <a16:creationId xmlns:a16="http://schemas.microsoft.com/office/drawing/2014/main" id="{A7483D9A-F24A-4F0A-A130-7144D3F3F365}"/>
              </a:ext>
            </a:extLst>
          </p:cNvPr>
          <p:cNvSpPr>
            <a:spLocks xmlns:a="http://schemas.openxmlformats.org/drawingml/2006/main" noGrp="1"/>
          </p:cNvSpPr>
          <p:nvPr/>
        </p:nvSpPr>
        <p:spPr>
          <a:xfrm xmlns:a="http://schemas.openxmlformats.org/drawingml/2006/main">
            <a:off x="54292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25574400-EB29-490A-8DF9-A2C7A41B216B}"/>
              </a:ext>
            </a:extLst>
          </p:cNvPr>
          <p:cNvSpPr>
            <a:spLocks xmlns:a="http://schemas.openxmlformats.org/drawingml/2006/main" noGrp="1"/>
          </p:cNvSpPr>
          <p:nvPr/>
        </p:nvSpPr>
        <p:spPr>
          <a:xfrm xmlns:a="http://schemas.openxmlformats.org/drawingml/2006/main">
            <a:off x="59055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EEFD2D4-27D2-46BE-98E7-7A87FDE68246}"/>
              </a:ext>
            </a:extLst>
          </p:cNvPr>
          <p:cNvSpPr>
            <a:spLocks xmlns:a="http://schemas.openxmlformats.org/drawingml/2006/main" noGrp="1"/>
          </p:cNvSpPr>
          <p:nvPr/>
        </p:nvSpPr>
        <p:spPr>
          <a:xfrm xmlns:a="http://schemas.openxmlformats.org/drawingml/2006/main">
            <a:off x="60769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a:t>
            </a:r>
          </a:p>
        </p:txBody>
      </p:sp>
      <p:sp>
        <p:nvSpPr>
          <p:cNvPr id="46" name="">
            <a:extLst xmlns:a="http://schemas.openxmlformats.org/drawingml/2006/main">
              <a:ext uri="{FF2B5EF4-FFF2-40B4-BE49-F238E27FC236}">
                <a16:creationId xmlns:a16="http://schemas.microsoft.com/office/drawing/2014/main" id="{8428BCC8-85FA-4337-AFE8-F78C8C51B979}"/>
              </a:ext>
            </a:extLst>
          </p:cNvPr>
          <p:cNvSpPr>
            <a:spLocks xmlns:a="http://schemas.openxmlformats.org/drawingml/2006/main" noGrp="1"/>
          </p:cNvSpPr>
          <p:nvPr/>
        </p:nvSpPr>
        <p:spPr>
          <a:xfrm xmlns:a="http://schemas.openxmlformats.org/drawingml/2006/main">
            <a:off x="60769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Matches approved routing criteria</a:t>
            </a:r>
          </a:p>
        </p:txBody>
      </p:sp>
      <p:sp>
        <p:nvSpPr>
          <p:cNvPr id="47" name="">
            <a:extLst xmlns:a="http://schemas.openxmlformats.org/drawingml/2006/main">
              <a:ext uri="{FF2B5EF4-FFF2-40B4-BE49-F238E27FC236}">
                <a16:creationId xmlns:a16="http://schemas.microsoft.com/office/drawing/2014/main" id="{BA670724-3D79-42AB-8620-E197B34E98DD}"/>
              </a:ext>
            </a:extLst>
          </p:cNvPr>
          <p:cNvSpPr>
            <a:spLocks xmlns:a="http://schemas.openxmlformats.org/drawingml/2006/main" noGrp="1"/>
          </p:cNvSpPr>
          <p:nvPr/>
        </p:nvSpPr>
        <p:spPr>
          <a:xfrm xmlns:a="http://schemas.openxmlformats.org/drawingml/2006/main">
            <a:off x="80200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158A0721-8F7F-483B-BA4C-078FD9489AEA}"/>
              </a:ext>
            </a:extLst>
          </p:cNvPr>
          <p:cNvSpPr>
            <a:spLocks xmlns:a="http://schemas.openxmlformats.org/drawingml/2006/main" noGrp="1"/>
          </p:cNvSpPr>
          <p:nvPr/>
        </p:nvSpPr>
        <p:spPr>
          <a:xfrm xmlns:a="http://schemas.openxmlformats.org/drawingml/2006/main">
            <a:off x="8496300" y="2419350"/>
            <a:ext cx="2019300" cy="990600"/>
          </a:xfrm>
          <a:prstGeom xmlns:a="http://schemas.openxmlformats.org/drawingml/2006/main" prst="roundRect">
            <a:avLst>
              <a:gd name="adj" fmla="val 7692"/>
            </a:avLst>
          </a:prstGeom>
          <a:solidFill xmlns:a="http://schemas.openxmlformats.org/drawingml/2006/main">
            <a:srgbClr val="DE664C"/>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61CF34A7-8AA0-4770-9401-0615D075D50C}"/>
              </a:ext>
            </a:extLst>
          </p:cNvPr>
          <p:cNvSpPr>
            <a:spLocks xmlns:a="http://schemas.openxmlformats.org/drawingml/2006/main" noGrp="1"/>
          </p:cNvSpPr>
          <p:nvPr/>
        </p:nvSpPr>
        <p:spPr>
          <a:xfrm xmlns:a="http://schemas.openxmlformats.org/drawingml/2006/main">
            <a:off x="86677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Route lock</a:t>
            </a:r>
          </a:p>
        </p:txBody>
      </p:sp>
      <p:sp>
        <p:nvSpPr>
          <p:cNvPr id="50" name="">
            <a:extLst xmlns:a="http://schemas.openxmlformats.org/drawingml/2006/main">
              <a:ext uri="{FF2B5EF4-FFF2-40B4-BE49-F238E27FC236}">
                <a16:creationId xmlns:a16="http://schemas.microsoft.com/office/drawing/2014/main" id="{17146716-4BED-47C7-87A3-6CA2F46F558D}"/>
              </a:ext>
            </a:extLst>
          </p:cNvPr>
          <p:cNvSpPr>
            <a:spLocks xmlns:a="http://schemas.openxmlformats.org/drawingml/2006/main" noGrp="1"/>
          </p:cNvSpPr>
          <p:nvPr/>
        </p:nvSpPr>
        <p:spPr>
          <a:xfrm xmlns:a="http://schemas.openxmlformats.org/drawingml/2006/main">
            <a:off x="86677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Urgent, routine, or human support</a:t>
            </a:r>
          </a:p>
        </p:txBody>
      </p:sp>
      <p:sp>
        <p:nvSpPr>
          <p:cNvPr id="51" name="">
            <a:extLst xmlns:a="http://schemas.openxmlformats.org/drawingml/2006/main">
              <a:ext uri="{FF2B5EF4-FFF2-40B4-BE49-F238E27FC236}">
                <a16:creationId xmlns:a16="http://schemas.microsoft.com/office/drawing/2014/main" id="{F843CD03-563D-43C2-8158-18476BA215A3}"/>
              </a:ext>
            </a:extLst>
          </p:cNvPr>
          <p:cNvSpPr>
            <a:spLocks xmlns:a="http://schemas.openxmlformats.org/drawingml/2006/main" noGrp="1"/>
          </p:cNvSpPr>
          <p:nvPr/>
        </p:nvSpPr>
        <p:spPr>
          <a:xfrm xmlns:a="http://schemas.openxmlformats.org/drawingml/2006/main">
            <a:off x="723900" y="3724275"/>
            <a:ext cx="10058400" cy="342900"/>
          </a:xfrm>
          <a:prstGeom xmlns:a="http://schemas.openxmlformats.org/drawingml/2006/main" prst="roundRect">
            <a:avLst>
              <a:gd name="adj" fmla="val 22222"/>
            </a:avLst>
          </a:prstGeom>
          <a:solidFill xmlns:a="http://schemas.openxmlformats.org/drawingml/2006/main">
            <a:srgbClr val="F9E4DE"/>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7F2C559-B056-41EA-B2FD-BEEEFA19F480}"/>
              </a:ext>
            </a:extLst>
          </p:cNvPr>
          <p:cNvSpPr>
            <a:spLocks xmlns:a="http://schemas.openxmlformats.org/drawingml/2006/main" noGrp="1"/>
          </p:cNvSpPr>
          <p:nvPr/>
        </p:nvSpPr>
        <p:spPr>
          <a:xfrm xmlns:a="http://schemas.openxmlformats.org/drawingml/2006/main">
            <a:off x="914400" y="3810000"/>
            <a:ext cx="9677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ROUTE LOCK  |  Guidance and model output cannot change the selected care route</a:t>
            </a:r>
          </a:p>
        </p:txBody>
      </p:sp>
      <p:sp>
        <p:nvSpPr>
          <p:cNvPr id="53" name="">
            <a:extLst xmlns:a="http://schemas.openxmlformats.org/drawingml/2006/main">
              <a:ext uri="{FF2B5EF4-FFF2-40B4-BE49-F238E27FC236}">
                <a16:creationId xmlns:a16="http://schemas.microsoft.com/office/drawing/2014/main" id="{34EE8E1E-F950-4B0B-8121-69A60195F911}"/>
              </a:ext>
            </a:extLst>
          </p:cNvPr>
          <p:cNvSpPr>
            <a:spLocks xmlns:a="http://schemas.openxmlformats.org/drawingml/2006/main" noGrp="1"/>
          </p:cNvSpPr>
          <p:nvPr/>
        </p:nvSpPr>
        <p:spPr>
          <a:xfrm xmlns:a="http://schemas.openxmlformats.org/drawingml/2006/main">
            <a:off x="723900" y="43624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POST-ROUTE EXPLANATION</a:t>
            </a:r>
          </a:p>
        </p:txBody>
      </p:sp>
      <p:sp>
        <p:nvSpPr>
          <p:cNvPr id="54" name="">
            <a:extLst xmlns:a="http://schemas.openxmlformats.org/drawingml/2006/main">
              <a:ext uri="{FF2B5EF4-FFF2-40B4-BE49-F238E27FC236}">
                <a16:creationId xmlns:a16="http://schemas.microsoft.com/office/drawing/2014/main" id="{A8B3EC93-6066-4382-9A44-32DE56F0B011}"/>
              </a:ext>
            </a:extLst>
          </p:cNvPr>
          <p:cNvSpPr>
            <a:spLocks xmlns:a="http://schemas.openxmlformats.org/drawingml/2006/main" noGrp="1"/>
          </p:cNvSpPr>
          <p:nvPr/>
        </p:nvSpPr>
        <p:spPr>
          <a:xfrm xmlns:a="http://schemas.openxmlformats.org/drawingml/2006/main">
            <a:off x="723900" y="4695825"/>
            <a:ext cx="2476500" cy="1009650"/>
          </a:xfrm>
          <a:prstGeom xmlns:a="http://schemas.openxmlformats.org/drawingml/2006/main" prst="roundRect">
            <a:avLst>
              <a:gd name="adj" fmla="val 7547"/>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25F76C5A-ABF3-4F2F-85FE-A677DBCF125D}"/>
              </a:ext>
            </a:extLst>
          </p:cNvPr>
          <p:cNvSpPr>
            <a:spLocks xmlns:a="http://schemas.openxmlformats.org/drawingml/2006/main" noGrp="1"/>
          </p:cNvSpPr>
          <p:nvPr/>
        </p:nvSpPr>
        <p:spPr>
          <a:xfrm xmlns:a="http://schemas.openxmlformats.org/drawingml/2006/main">
            <a:off x="8953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 RAG</a:t>
            </a:r>
          </a:p>
        </p:txBody>
      </p:sp>
      <p:sp>
        <p:nvSpPr>
          <p:cNvPr id="56" name="">
            <a:extLst xmlns:a="http://schemas.openxmlformats.org/drawingml/2006/main">
              <a:ext uri="{FF2B5EF4-FFF2-40B4-BE49-F238E27FC236}">
                <a16:creationId xmlns:a16="http://schemas.microsoft.com/office/drawing/2014/main" id="{AA75B2B0-F0B1-4EDB-8CEE-77C5D200536A}"/>
              </a:ext>
            </a:extLst>
          </p:cNvPr>
          <p:cNvSpPr>
            <a:spLocks xmlns:a="http://schemas.openxmlformats.org/drawingml/2006/main" noGrp="1"/>
          </p:cNvSpPr>
          <p:nvPr/>
        </p:nvSpPr>
        <p:spPr>
          <a:xfrm xmlns:a="http://schemas.openxmlformats.org/drawingml/2006/main">
            <a:off x="8953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Approved guidance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for the locked route</a:t>
            </a:r>
          </a:p>
        </p:txBody>
      </p:sp>
      <p:sp>
        <p:nvSpPr>
          <p:cNvPr id="57" name="">
            <a:extLst xmlns:a="http://schemas.openxmlformats.org/drawingml/2006/main">
              <a:ext uri="{FF2B5EF4-FFF2-40B4-BE49-F238E27FC236}">
                <a16:creationId xmlns:a16="http://schemas.microsoft.com/office/drawing/2014/main" id="{3E33E262-109D-4097-AA24-4DC77A69299A}"/>
              </a:ext>
            </a:extLst>
          </p:cNvPr>
          <p:cNvSpPr>
            <a:spLocks xmlns:a="http://schemas.openxmlformats.org/drawingml/2006/main" noGrp="1"/>
          </p:cNvSpPr>
          <p:nvPr/>
        </p:nvSpPr>
        <p:spPr>
          <a:xfrm xmlns:a="http://schemas.openxmlformats.org/drawingml/2006/main">
            <a:off x="33718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58" name="">
            <a:extLst xmlns:a="http://schemas.openxmlformats.org/drawingml/2006/main">
              <a:ext uri="{FF2B5EF4-FFF2-40B4-BE49-F238E27FC236}">
                <a16:creationId xmlns:a16="http://schemas.microsoft.com/office/drawing/2014/main" id="{1455884A-04E3-48A1-83F9-9A8B74D79B92}"/>
              </a:ext>
            </a:extLst>
          </p:cNvPr>
          <p:cNvSpPr>
            <a:spLocks xmlns:a="http://schemas.openxmlformats.org/drawingml/2006/main" noGrp="1"/>
          </p:cNvSpPr>
          <p:nvPr/>
        </p:nvSpPr>
        <p:spPr>
          <a:xfrm xmlns:a="http://schemas.openxmlformats.org/drawingml/2006/main">
            <a:off x="4038600" y="4695825"/>
            <a:ext cx="2476500" cy="1009650"/>
          </a:xfrm>
          <a:prstGeom xmlns:a="http://schemas.openxmlformats.org/drawingml/2006/main" prst="roundRect">
            <a:avLst>
              <a:gd name="adj" fmla="val 7547"/>
            </a:avLst>
          </a:prstGeom>
          <a:solidFill xmlns:a="http://schemas.openxmlformats.org/drawingml/2006/main">
            <a:srgbClr val="4656A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D049A514-4036-4171-B7EE-E5C26C4697D3}"/>
              </a:ext>
            </a:extLst>
          </p:cNvPr>
          <p:cNvSpPr>
            <a:spLocks xmlns:a="http://schemas.openxmlformats.org/drawingml/2006/main" noGrp="1"/>
          </p:cNvSpPr>
          <p:nvPr/>
        </p:nvSpPr>
        <p:spPr>
          <a:xfrm xmlns:a="http://schemas.openxmlformats.org/drawingml/2006/main">
            <a:off x="42100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Local Ollama</a:t>
            </a:r>
          </a:p>
        </p:txBody>
      </p:sp>
      <p:sp>
        <p:nvSpPr>
          <p:cNvPr id="60" name="">
            <a:extLst xmlns:a="http://schemas.openxmlformats.org/drawingml/2006/main">
              <a:ext uri="{FF2B5EF4-FFF2-40B4-BE49-F238E27FC236}">
                <a16:creationId xmlns:a16="http://schemas.microsoft.com/office/drawing/2014/main" id="{47C19ACC-A01F-4895-9E9A-89DF6B7455A5}"/>
              </a:ext>
            </a:extLst>
          </p:cNvPr>
          <p:cNvSpPr>
            <a:spLocks xmlns:a="http://schemas.openxmlformats.org/drawingml/2006/main" noGrp="1"/>
          </p:cNvSpPr>
          <p:nvPr/>
        </p:nvSpPr>
        <p:spPr>
          <a:xfrm xmlns:a="http://schemas.openxmlformats.org/drawingml/2006/main">
            <a:off x="42100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If enabled and available,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creates a Bengali explanation</a:t>
            </a:r>
          </a:p>
        </p:txBody>
      </p:sp>
      <p:sp>
        <p:nvSpPr>
          <p:cNvPr id="61" name="">
            <a:extLst xmlns:a="http://schemas.openxmlformats.org/drawingml/2006/main">
              <a:ext uri="{FF2B5EF4-FFF2-40B4-BE49-F238E27FC236}">
                <a16:creationId xmlns:a16="http://schemas.microsoft.com/office/drawing/2014/main" id="{2EA59DF8-75DB-43E8-92AF-5BEBB42DB3EF}"/>
              </a:ext>
            </a:extLst>
          </p:cNvPr>
          <p:cNvSpPr>
            <a:spLocks xmlns:a="http://schemas.openxmlformats.org/drawingml/2006/main" noGrp="1"/>
          </p:cNvSpPr>
          <p:nvPr/>
        </p:nvSpPr>
        <p:spPr>
          <a:xfrm xmlns:a="http://schemas.openxmlformats.org/drawingml/2006/main">
            <a:off x="66865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62" name="">
            <a:extLst xmlns:a="http://schemas.openxmlformats.org/drawingml/2006/main">
              <a:ext uri="{FF2B5EF4-FFF2-40B4-BE49-F238E27FC236}">
                <a16:creationId xmlns:a16="http://schemas.microsoft.com/office/drawing/2014/main" id="{95B9EA50-3F69-4847-ADD8-0ABFE322A0F6}"/>
              </a:ext>
            </a:extLst>
          </p:cNvPr>
          <p:cNvSpPr>
            <a:spLocks xmlns:a="http://schemas.openxmlformats.org/drawingml/2006/main" noGrp="1"/>
          </p:cNvSpPr>
          <p:nvPr/>
        </p:nvSpPr>
        <p:spPr>
          <a:xfrm xmlns:a="http://schemas.openxmlformats.org/drawingml/2006/main">
            <a:off x="7353300" y="4695825"/>
            <a:ext cx="3429000" cy="1009650"/>
          </a:xfrm>
          <a:prstGeom xmlns:a="http://schemas.openxmlformats.org/drawingml/2006/main" prst="roundRect">
            <a:avLst>
              <a:gd name="adj" fmla="val 7547"/>
            </a:avLst>
          </a:prstGeom>
          <a:solidFill xmlns:a="http://schemas.openxmlformats.org/drawingml/2006/main">
            <a:srgbClr val="E7A048"/>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017E0BAB-DE79-4282-A007-C0F2C41E07BB}"/>
              </a:ext>
            </a:extLst>
          </p:cNvPr>
          <p:cNvSpPr>
            <a:spLocks xmlns:a="http://schemas.openxmlformats.org/drawingml/2006/main" noGrp="1"/>
          </p:cNvSpPr>
          <p:nvPr/>
        </p:nvSpPr>
        <p:spPr>
          <a:xfrm xmlns:a="http://schemas.openxmlformats.org/drawingml/2006/main">
            <a:off x="7524750" y="4905375"/>
            <a:ext cx="3086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Java deterministic engine</a:t>
            </a:r>
          </a:p>
        </p:txBody>
      </p:sp>
      <p:sp>
        <p:nvSpPr>
          <p:cNvPr id="64" name="">
            <a:extLst xmlns:a="http://schemas.openxmlformats.org/drawingml/2006/main">
              <a:ext uri="{FF2B5EF4-FFF2-40B4-BE49-F238E27FC236}">
                <a16:creationId xmlns:a16="http://schemas.microsoft.com/office/drawing/2014/main" id="{88C24DE4-7E7F-4625-A8A4-13A3A58507F5}"/>
              </a:ext>
            </a:extLst>
          </p:cNvPr>
          <p:cNvSpPr>
            <a:spLocks xmlns:a="http://schemas.openxmlformats.org/drawingml/2006/main" noGrp="1"/>
          </p:cNvSpPr>
          <p:nvPr/>
        </p:nvSpPr>
        <p:spPr>
          <a:xfrm xmlns:a="http://schemas.openxmlformats.org/drawingml/2006/main">
            <a:off x="7524750" y="52197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Safe explanation or approved fallback</a:t>
            </a:r>
          </a:p>
        </p:txBody>
      </p:sp>
      <p:sp>
        <p:nvSpPr>
          <p:cNvPr id="65" name="">
            <a:extLst xmlns:a="http://schemas.openxmlformats.org/drawingml/2006/main">
              <a:ext uri="{FF2B5EF4-FFF2-40B4-BE49-F238E27FC236}">
                <a16:creationId xmlns:a16="http://schemas.microsoft.com/office/drawing/2014/main" id="{1B8DDF0D-9929-43AE-A44D-8596A867638F}"/>
              </a:ext>
            </a:extLst>
          </p:cNvPr>
          <p:cNvSpPr>
            <a:spLocks xmlns:a="http://schemas.openxmlformats.org/drawingml/2006/main" noGrp="1"/>
          </p:cNvSpPr>
          <p:nvPr/>
        </p:nvSpPr>
        <p:spPr>
          <a:xfrm xmlns:a="http://schemas.openxmlformats.org/drawingml/2006/main">
            <a:off x="1619250" y="6096000"/>
            <a:ext cx="895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DCE4F3"/>
                </a:solidFill>
                <a:latin typeface="Arial"/>
                <a:ea typeface="Arial"/>
                <a:cs typeface="Arial"/>
              </a:defRPr>
            </a:pPr>
            <a:r>
              <a:rPr sz="1350" b="1">
                <a:solidFill>
                  <a:srgbClr val="DCE4F3"/>
                </a:solidFill>
                <a:latin typeface="Arial"/>
                <a:ea typeface="Arial"/>
                <a:cs typeface="Arial"/>
              </a:rPr>
              <a:t>Ollama receives approved guidance and never decides, changes, or diagnoses the route.</a:t>
            </a:r>
          </a:p>
        </p:txBody>
      </p:sp>
      <p:sp>
        <p:nvSpPr>
          <p:cNvPr id="66" name="">
            <a:extLst xmlns:a="http://schemas.openxmlformats.org/drawingml/2006/main">
              <a:ext uri="{FF2B5EF4-FFF2-40B4-BE49-F238E27FC236}">
                <a16:creationId xmlns:a16="http://schemas.microsoft.com/office/drawing/2014/main" id="{FCA94C60-BEB0-404A-B2A5-71D7244726E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3</a:t>
            </a:r>
          </a:p>
        </p:txBody>
      </p:sp>
    </p:spTree>
    <p:extLst>
      <p:ext uri="{BB962C8B-B14F-4D97-AF65-F5344CB8AC3E}">
        <p14:creationId xmlns:p14="http://schemas.microsoft.com/office/powerpoint/2010/main" val="185001439"/>
      </p:ext>
    </p:extLst>
  </p:cSld>
</p:sld>
</file>

<file path=ppt/slides/slide4.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0ABD0F25-75C8-4380-B8D5-B8D86CC99C53}"/>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DB3BBFC2-39A3-4F45-BCB7-C33F2A2C389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Live user journey</a:t>
            </a:r>
          </a:p>
        </p:txBody>
      </p:sp>
      <p:sp>
        <p:nvSpPr>
          <p:cNvPr id="3" name="">
            <a:extLst xmlns:a="http://schemas.openxmlformats.org/drawingml/2006/main">
              <a:ext uri="{FF2B5EF4-FFF2-40B4-BE49-F238E27FC236}">
                <a16:creationId xmlns:a16="http://schemas.microsoft.com/office/drawing/2014/main" id="{C73F853F-83B9-4FD5-B9AA-4B09816B7951}"/>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One intake flow, then a clear route to an appropriate next action</a:t>
            </a:r>
          </a:p>
        </p:txBody>
      </p:sp>
      <p:sp>
        <p:nvSpPr>
          <p:cNvPr id="4" name="">
            <a:extLst xmlns:a="http://schemas.openxmlformats.org/drawingml/2006/main">
              <a:ext uri="{FF2B5EF4-FFF2-40B4-BE49-F238E27FC236}">
                <a16:creationId xmlns:a16="http://schemas.microsoft.com/office/drawing/2014/main" id="{61F99B2C-29B3-4D27-B7DD-26F591B15355}"/>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96E86DE7-2B0C-40EE-94F6-5415A39D74D7}"/>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03BA477B-84D0-45B1-A788-565265E7452C}"/>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535E19D1-7BEE-4A6C-9D7D-876940B5200F}"/>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04</a:t>
            </a:r>
          </a:p>
        </p:txBody>
      </p:sp>
      <p:sp>
        <p:nvSpPr>
          <p:cNvPr id="8" name="">
            <a:extLst xmlns:a="http://schemas.openxmlformats.org/drawingml/2006/main">
              <a:ext uri="{FF2B5EF4-FFF2-40B4-BE49-F238E27FC236}">
                <a16:creationId xmlns:a16="http://schemas.microsoft.com/office/drawing/2014/main" id="{B0BDE83E-70C4-4CB8-812D-0E85775CE8B7}"/>
              </a:ext>
            </a:extLst>
          </p:cNvPr>
          <p:cNvSpPr>
            <a:spLocks xmlns:a="http://schemas.openxmlformats.org/drawingml/2006/main" noGrp="1"/>
          </p:cNvSpPr>
          <p:nvPr/>
        </p:nvSpPr>
        <p:spPr>
          <a:xfrm xmlns:a="http://schemas.openxmlformats.org/drawingml/2006/main">
            <a:off x="762000" y="21812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COMMON INTAKE</a:t>
            </a:r>
          </a:p>
        </p:txBody>
      </p:sp>
      <p:sp>
        <p:nvSpPr>
          <p:cNvPr id="9" name="">
            <a:extLst xmlns:a="http://schemas.openxmlformats.org/drawingml/2006/main">
              <a:ext uri="{FF2B5EF4-FFF2-40B4-BE49-F238E27FC236}">
                <a16:creationId xmlns:a16="http://schemas.microsoft.com/office/drawing/2014/main" id="{7CEA6CEE-9D0C-492C-A446-5CC071E08CF9}"/>
              </a:ext>
            </a:extLst>
          </p:cNvPr>
          <p:cNvSpPr>
            <a:spLocks xmlns:a="http://schemas.openxmlformats.org/drawingml/2006/main" noGrp="1"/>
          </p:cNvSpPr>
          <p:nvPr/>
        </p:nvSpPr>
        <p:spPr>
          <a:xfrm xmlns:a="http://schemas.openxmlformats.org/drawingml/2006/main">
            <a:off x="7810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0" name="">
            <a:extLst xmlns:a="http://schemas.openxmlformats.org/drawingml/2006/main">
              <a:ext uri="{FF2B5EF4-FFF2-40B4-BE49-F238E27FC236}">
                <a16:creationId xmlns:a16="http://schemas.microsoft.com/office/drawing/2014/main" id="{9CFC9E74-9567-4B3E-9BED-3AB6EB9ED26C}"/>
              </a:ext>
            </a:extLst>
          </p:cNvPr>
          <p:cNvSpPr>
            <a:spLocks xmlns:a="http://schemas.openxmlformats.org/drawingml/2006/main" noGrp="1"/>
          </p:cNvSpPr>
          <p:nvPr/>
        </p:nvSpPr>
        <p:spPr>
          <a:xfrm xmlns:a="http://schemas.openxmlformats.org/drawingml/2006/main">
            <a:off x="9525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5FAEF527-8910-4E69-8125-C59A5FF777FA}"/>
              </a:ext>
            </a:extLst>
          </p:cNvPr>
          <p:cNvSpPr>
            <a:spLocks xmlns:a="http://schemas.openxmlformats.org/drawingml/2006/main" noGrp="1"/>
          </p:cNvSpPr>
          <p:nvPr/>
        </p:nvSpPr>
        <p:spPr>
          <a:xfrm xmlns:a="http://schemas.openxmlformats.org/drawingml/2006/main">
            <a:off x="9525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Consent</a:t>
            </a:r>
          </a:p>
        </p:txBody>
      </p:sp>
      <p:sp>
        <p:nvSpPr>
          <p:cNvPr id="12" name="">
            <a:extLst xmlns:a="http://schemas.openxmlformats.org/drawingml/2006/main">
              <a:ext uri="{FF2B5EF4-FFF2-40B4-BE49-F238E27FC236}">
                <a16:creationId xmlns:a16="http://schemas.microsoft.com/office/drawing/2014/main" id="{164C18FB-0EB0-4435-8182-BE6F796DA269}"/>
              </a:ext>
            </a:extLst>
          </p:cNvPr>
          <p:cNvSpPr>
            <a:spLocks xmlns:a="http://schemas.openxmlformats.org/drawingml/2006/main" noGrp="1"/>
          </p:cNvSpPr>
          <p:nvPr/>
        </p:nvSpPr>
        <p:spPr>
          <a:xfrm xmlns:a="http://schemas.openxmlformats.org/drawingml/2006/main">
            <a:off x="9525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User agrees to begin</a:t>
            </a:r>
          </a:p>
        </p:txBody>
      </p:sp>
      <p:sp>
        <p:nvSpPr>
          <p:cNvPr id="13" name="">
            <a:extLst xmlns:a="http://schemas.openxmlformats.org/drawingml/2006/main">
              <a:ext uri="{FF2B5EF4-FFF2-40B4-BE49-F238E27FC236}">
                <a16:creationId xmlns:a16="http://schemas.microsoft.com/office/drawing/2014/main" id="{6FDCF42E-D127-4F42-B0EB-E5F72B7345F5}"/>
              </a:ext>
            </a:extLst>
          </p:cNvPr>
          <p:cNvSpPr>
            <a:spLocks xmlns:a="http://schemas.openxmlformats.org/drawingml/2006/main" noGrp="1"/>
          </p:cNvSpPr>
          <p:nvPr/>
        </p:nvSpPr>
        <p:spPr>
          <a:xfrm xmlns:a="http://schemas.openxmlformats.org/drawingml/2006/main">
            <a:off x="26289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108F51DA-797E-47E4-8044-3AC7E7A48A42}"/>
              </a:ext>
            </a:extLst>
          </p:cNvPr>
          <p:cNvSpPr>
            <a:spLocks xmlns:a="http://schemas.openxmlformats.org/drawingml/2006/main" noGrp="1"/>
          </p:cNvSpPr>
          <p:nvPr/>
        </p:nvSpPr>
        <p:spPr>
          <a:xfrm xmlns:a="http://schemas.openxmlformats.org/drawingml/2006/main">
            <a:off x="29908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5" name="">
            <a:extLst xmlns:a="http://schemas.openxmlformats.org/drawingml/2006/main">
              <a:ext uri="{FF2B5EF4-FFF2-40B4-BE49-F238E27FC236}">
                <a16:creationId xmlns:a16="http://schemas.microsoft.com/office/drawing/2014/main" id="{03C18C48-B890-4507-829E-3AB8BC9311B6}"/>
              </a:ext>
            </a:extLst>
          </p:cNvPr>
          <p:cNvSpPr>
            <a:spLocks xmlns:a="http://schemas.openxmlformats.org/drawingml/2006/main" noGrp="1"/>
          </p:cNvSpPr>
          <p:nvPr/>
        </p:nvSpPr>
        <p:spPr>
          <a:xfrm xmlns:a="http://schemas.openxmlformats.org/drawingml/2006/main">
            <a:off x="31623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286EF276-1243-413B-B421-EF6FE5ED9EB6}"/>
              </a:ext>
            </a:extLst>
          </p:cNvPr>
          <p:cNvSpPr>
            <a:spLocks xmlns:a="http://schemas.openxmlformats.org/drawingml/2006/main" noGrp="1"/>
          </p:cNvSpPr>
          <p:nvPr/>
        </p:nvSpPr>
        <p:spPr>
          <a:xfrm xmlns:a="http://schemas.openxmlformats.org/drawingml/2006/main">
            <a:off x="31623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Symptoms</a:t>
            </a:r>
          </a:p>
        </p:txBody>
      </p:sp>
      <p:sp>
        <p:nvSpPr>
          <p:cNvPr id="17" name="">
            <a:extLst xmlns:a="http://schemas.openxmlformats.org/drawingml/2006/main">
              <a:ext uri="{FF2B5EF4-FFF2-40B4-BE49-F238E27FC236}">
                <a16:creationId xmlns:a16="http://schemas.microsoft.com/office/drawing/2014/main" id="{601751A8-7C2D-4ADE-AB48-25C1B4210C73}"/>
              </a:ext>
            </a:extLst>
          </p:cNvPr>
          <p:cNvSpPr>
            <a:spLocks xmlns:a="http://schemas.openxmlformats.org/drawingml/2006/main" noGrp="1"/>
          </p:cNvSpPr>
          <p:nvPr/>
        </p:nvSpPr>
        <p:spPr>
          <a:xfrm xmlns:a="http://schemas.openxmlformats.org/drawingml/2006/main">
            <a:off x="31623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Fixed Bengali choices</a:t>
            </a:r>
          </a:p>
        </p:txBody>
      </p:sp>
      <p:sp>
        <p:nvSpPr>
          <p:cNvPr id="18" name="">
            <a:extLst xmlns:a="http://schemas.openxmlformats.org/drawingml/2006/main">
              <a:ext uri="{FF2B5EF4-FFF2-40B4-BE49-F238E27FC236}">
                <a16:creationId xmlns:a16="http://schemas.microsoft.com/office/drawing/2014/main" id="{34141C45-F851-442A-BCFB-58750AE4AFC0}"/>
              </a:ext>
            </a:extLst>
          </p:cNvPr>
          <p:cNvSpPr>
            <a:spLocks xmlns:a="http://schemas.openxmlformats.org/drawingml/2006/main" noGrp="1"/>
          </p:cNvSpPr>
          <p:nvPr/>
        </p:nvSpPr>
        <p:spPr>
          <a:xfrm xmlns:a="http://schemas.openxmlformats.org/drawingml/2006/main">
            <a:off x="48387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A12AC08-B728-44BC-A0CF-87C16E5B15E2}"/>
              </a:ext>
            </a:extLst>
          </p:cNvPr>
          <p:cNvSpPr>
            <a:spLocks xmlns:a="http://schemas.openxmlformats.org/drawingml/2006/main" noGrp="1"/>
          </p:cNvSpPr>
          <p:nvPr/>
        </p:nvSpPr>
        <p:spPr>
          <a:xfrm xmlns:a="http://schemas.openxmlformats.org/drawingml/2006/main">
            <a:off x="52006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20" name="">
            <a:extLst xmlns:a="http://schemas.openxmlformats.org/drawingml/2006/main">
              <a:ext uri="{FF2B5EF4-FFF2-40B4-BE49-F238E27FC236}">
                <a16:creationId xmlns:a16="http://schemas.microsoft.com/office/drawing/2014/main" id="{0C33BCE5-4ED5-4B38-90F3-9F73B2263B15}"/>
              </a:ext>
            </a:extLst>
          </p:cNvPr>
          <p:cNvSpPr>
            <a:spLocks xmlns:a="http://schemas.openxmlformats.org/drawingml/2006/main" noGrp="1"/>
          </p:cNvSpPr>
          <p:nvPr/>
        </p:nvSpPr>
        <p:spPr>
          <a:xfrm xmlns:a="http://schemas.openxmlformats.org/drawingml/2006/main">
            <a:off x="53721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03</a:t>
            </a:r>
          </a:p>
        </p:txBody>
      </p:sp>
      <p:sp>
        <p:nvSpPr>
          <p:cNvPr id="21" name="">
            <a:extLst xmlns:a="http://schemas.openxmlformats.org/drawingml/2006/main">
              <a:ext uri="{FF2B5EF4-FFF2-40B4-BE49-F238E27FC236}">
                <a16:creationId xmlns:a16="http://schemas.microsoft.com/office/drawing/2014/main" id="{D218BCE0-75F5-4378-86FC-BF1FFE6B19CA}"/>
              </a:ext>
            </a:extLst>
          </p:cNvPr>
          <p:cNvSpPr>
            <a:spLocks xmlns:a="http://schemas.openxmlformats.org/drawingml/2006/main" noGrp="1"/>
          </p:cNvSpPr>
          <p:nvPr/>
        </p:nvSpPr>
        <p:spPr>
          <a:xfrm xmlns:a="http://schemas.openxmlformats.org/drawingml/2006/main">
            <a:off x="53721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Urgent check</a:t>
            </a:r>
          </a:p>
        </p:txBody>
      </p:sp>
      <p:sp>
        <p:nvSpPr>
          <p:cNvPr id="22" name="">
            <a:extLst xmlns:a="http://schemas.openxmlformats.org/drawingml/2006/main">
              <a:ext uri="{FF2B5EF4-FFF2-40B4-BE49-F238E27FC236}">
                <a16:creationId xmlns:a16="http://schemas.microsoft.com/office/drawing/2014/main" id="{0D561312-232B-4F3B-B62F-93CE4B879B99}"/>
              </a:ext>
            </a:extLst>
          </p:cNvPr>
          <p:cNvSpPr>
            <a:spLocks xmlns:a="http://schemas.openxmlformats.org/drawingml/2006/main" noGrp="1"/>
          </p:cNvSpPr>
          <p:nvPr/>
        </p:nvSpPr>
        <p:spPr>
          <a:xfrm xmlns:a="http://schemas.openxmlformats.org/drawingml/2006/main">
            <a:off x="53721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Current warning signs</a:t>
            </a:r>
          </a:p>
        </p:txBody>
      </p:sp>
      <p:sp>
        <p:nvSpPr>
          <p:cNvPr id="23" name="">
            <a:extLst xmlns:a="http://schemas.openxmlformats.org/drawingml/2006/main">
              <a:ext uri="{FF2B5EF4-FFF2-40B4-BE49-F238E27FC236}">
                <a16:creationId xmlns:a16="http://schemas.microsoft.com/office/drawing/2014/main" id="{0255C798-4EF7-46E6-84CC-60DEA379709B}"/>
              </a:ext>
            </a:extLst>
          </p:cNvPr>
          <p:cNvSpPr>
            <a:spLocks xmlns:a="http://schemas.openxmlformats.org/drawingml/2006/main" noGrp="1"/>
          </p:cNvSpPr>
          <p:nvPr/>
        </p:nvSpPr>
        <p:spPr>
          <a:xfrm xmlns:a="http://schemas.openxmlformats.org/drawingml/2006/main">
            <a:off x="7534275" y="2343150"/>
            <a:ext cx="2457450" cy="1447800"/>
          </a:xfrm>
          <a:prstGeom xmlns:a="http://schemas.openxmlformats.org/drawingml/2006/main" prst="roundRect">
            <a:avLst>
              <a:gd name="adj" fmla="val 5263"/>
            </a:avLst>
          </a:prstGeom>
          <a:solidFill xmlns:a="http://schemas.openxmlformats.org/drawingml/2006/main">
            <a:srgbClr val="0B3A4A"/>
          </a:solidFill>
          <a:ln xmlns:a="http://schemas.openxmlformats.org/drawingml/2006/main" w="9525">
            <a:solidFill>
              <a:srgbClr val="0B3A4A"/>
            </a:solidFill>
          </a:ln>
        </p:spPr>
      </p:sp>
      <p:sp>
        <p:nvSpPr>
          <p:cNvPr id="24" name="">
            <a:extLst xmlns:a="http://schemas.openxmlformats.org/drawingml/2006/main">
              <a:ext uri="{FF2B5EF4-FFF2-40B4-BE49-F238E27FC236}">
                <a16:creationId xmlns:a16="http://schemas.microsoft.com/office/drawing/2014/main" id="{12667886-C98B-4C88-9E66-E68044FC4F3E}"/>
              </a:ext>
            </a:extLst>
          </p:cNvPr>
          <p:cNvSpPr>
            <a:spLocks xmlns:a="http://schemas.openxmlformats.org/drawingml/2006/main" noGrp="1"/>
          </p:cNvSpPr>
          <p:nvPr/>
        </p:nvSpPr>
        <p:spPr>
          <a:xfrm xmlns:a="http://schemas.openxmlformats.org/drawingml/2006/main">
            <a:off x="7848600" y="2647950"/>
            <a:ext cx="18192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417"/>
          </a:bodyPr>
          <a:lstStyle xmlns:a="http://schemas.openxmlformats.org/drawingml/2006/main"/>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JAVA SELECTS</a:t>
            </a:r>
          </a:p>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ONE SAFE ROUTE</a:t>
            </a:r>
          </a:p>
        </p:txBody>
      </p:sp>
      <p:sp>
        <p:nvSpPr>
          <p:cNvPr id="25" name="">
            <a:extLst xmlns:a="http://schemas.openxmlformats.org/drawingml/2006/main">
              <a:ext uri="{FF2B5EF4-FFF2-40B4-BE49-F238E27FC236}">
                <a16:creationId xmlns:a16="http://schemas.microsoft.com/office/drawing/2014/main" id="{4F3E38D9-1112-462C-9A0A-3B181CEE3B3A}"/>
              </a:ext>
            </a:extLst>
          </p:cNvPr>
          <p:cNvSpPr>
            <a:spLocks xmlns:a="http://schemas.openxmlformats.org/drawingml/2006/main" noGrp="1"/>
          </p:cNvSpPr>
          <p:nvPr/>
        </p:nvSpPr>
        <p:spPr>
          <a:xfrm xmlns:a="http://schemas.openxmlformats.org/drawingml/2006/main">
            <a:off x="7810500" y="3314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611"/>
          </a:bodyPr>
          <a:lstStyle xmlns:a="http://schemas.openxmlformats.org/drawingml/2006/main"/>
          <a:p xmlns:a="http://schemas.openxmlformats.org/drawingml/2006/main">
            <a:pPr>
              <a:buNone/>
              <a:defRPr sz="975" b="0">
                <a:solidFill>
                  <a:srgbClr val="CDE5E1"/>
                </a:solidFill>
                <a:latin typeface="Arial"/>
                <a:ea typeface="Arial"/>
                <a:cs typeface="Arial"/>
              </a:defRPr>
            </a:pPr>
            <a:r>
              <a:rPr sz="975" b="0">
                <a:solidFill>
                  <a:srgbClr val="CDE5E1"/>
                </a:solidFill>
                <a:latin typeface="Arial"/>
                <a:ea typeface="Arial"/>
                <a:cs typeface="Arial"/>
              </a:rPr>
              <a:t>The selected route drives the next screen</a:t>
            </a:r>
          </a:p>
        </p:txBody>
      </p:sp>
      <p:sp>
        <p:nvSpPr>
          <p:cNvPr id="26" name="">
            <a:extLst xmlns:a="http://schemas.openxmlformats.org/drawingml/2006/main">
              <a:ext uri="{FF2B5EF4-FFF2-40B4-BE49-F238E27FC236}">
                <a16:creationId xmlns:a16="http://schemas.microsoft.com/office/drawing/2014/main" id="{6D77BAA4-1B0A-4698-8DA6-44BE2A62CE89}"/>
              </a:ext>
            </a:extLst>
          </p:cNvPr>
          <p:cNvSpPr>
            <a:spLocks xmlns:a="http://schemas.openxmlformats.org/drawingml/2006/main" noGrp="1"/>
          </p:cNvSpPr>
          <p:nvPr/>
        </p:nvSpPr>
        <p:spPr>
          <a:xfrm xmlns:a="http://schemas.openxmlformats.org/drawingml/2006/main">
            <a:off x="10048875"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81CA566C-AA2E-4B90-B070-88EC15B80AB9}"/>
              </a:ext>
            </a:extLst>
          </p:cNvPr>
          <p:cNvSpPr>
            <a:spLocks xmlns:a="http://schemas.openxmlformats.org/drawingml/2006/main" noGrp="1"/>
          </p:cNvSpPr>
          <p:nvPr/>
        </p:nvSpPr>
        <p:spPr>
          <a:xfrm xmlns:a="http://schemas.openxmlformats.org/drawingml/2006/main">
            <a:off x="762000" y="43529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RESULT PATHS</a:t>
            </a:r>
          </a:p>
        </p:txBody>
      </p:sp>
      <p:sp>
        <p:nvSpPr>
          <p:cNvPr id="28" name="">
            <a:extLst xmlns:a="http://schemas.openxmlformats.org/drawingml/2006/main">
              <a:ext uri="{FF2B5EF4-FFF2-40B4-BE49-F238E27FC236}">
                <a16:creationId xmlns:a16="http://schemas.microsoft.com/office/drawing/2014/main" id="{52B519BB-0243-4337-B133-4173BB228D30}"/>
              </a:ext>
            </a:extLst>
          </p:cNvPr>
          <p:cNvSpPr>
            <a:spLocks xmlns:a="http://schemas.openxmlformats.org/drawingml/2006/main" noGrp="1"/>
          </p:cNvSpPr>
          <p:nvPr/>
        </p:nvSpPr>
        <p:spPr>
          <a:xfrm xmlns:a="http://schemas.openxmlformats.org/drawingml/2006/main">
            <a:off x="781050" y="4829175"/>
            <a:ext cx="3162300" cy="4762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29" name="">
            <a:extLst xmlns:a="http://schemas.openxmlformats.org/drawingml/2006/main">
              <a:ext uri="{FF2B5EF4-FFF2-40B4-BE49-F238E27FC236}">
                <a16:creationId xmlns:a16="http://schemas.microsoft.com/office/drawing/2014/main" id="{4E440626-F1B2-46CD-8503-C18BFAB59928}"/>
              </a:ext>
            </a:extLst>
          </p:cNvPr>
          <p:cNvSpPr>
            <a:spLocks xmlns:a="http://schemas.openxmlformats.org/drawingml/2006/main" noGrp="1"/>
          </p:cNvSpPr>
          <p:nvPr/>
        </p:nvSpPr>
        <p:spPr>
          <a:xfrm xmlns:a="http://schemas.openxmlformats.org/drawingml/2006/main">
            <a:off x="7810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E2524B"/>
                </a:solidFill>
                <a:latin typeface="Arial"/>
                <a:ea typeface="Arial"/>
                <a:cs typeface="Arial"/>
              </a:defRPr>
            </a:pPr>
            <a:r>
              <a:rPr sz="1500" b="1">
                <a:solidFill>
                  <a:srgbClr val="E2524B"/>
                </a:solidFill>
                <a:latin typeface="Arial"/>
                <a:ea typeface="Arial"/>
                <a:cs typeface="Arial"/>
              </a:rPr>
              <a:t>Urgent</a:t>
            </a:r>
          </a:p>
        </p:txBody>
      </p:sp>
      <p:sp>
        <p:nvSpPr>
          <p:cNvPr id="30" name="">
            <a:extLst xmlns:a="http://schemas.openxmlformats.org/drawingml/2006/main">
              <a:ext uri="{FF2B5EF4-FFF2-40B4-BE49-F238E27FC236}">
                <a16:creationId xmlns:a16="http://schemas.microsoft.com/office/drawing/2014/main" id="{4B835AD0-4F70-4D29-AD5A-1DC18E583B47}"/>
              </a:ext>
            </a:extLst>
          </p:cNvPr>
          <p:cNvSpPr>
            <a:spLocks xmlns:a="http://schemas.openxmlformats.org/drawingml/2006/main" noGrp="1"/>
          </p:cNvSpPr>
          <p:nvPr/>
        </p:nvSpPr>
        <p:spPr>
          <a:xfrm xmlns:a="http://schemas.openxmlformats.org/drawingml/2006/main">
            <a:off x="7810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Seek eye care without delay</a:t>
            </a:r>
          </a:p>
        </p:txBody>
      </p:sp>
      <p:sp>
        <p:nvSpPr>
          <p:cNvPr id="31" name="">
            <a:extLst xmlns:a="http://schemas.openxmlformats.org/drawingml/2006/main">
              <a:ext uri="{FF2B5EF4-FFF2-40B4-BE49-F238E27FC236}">
                <a16:creationId xmlns:a16="http://schemas.microsoft.com/office/drawing/2014/main" id="{43BE8753-9FA6-47D1-90BD-50D2AFF3BDDB}"/>
              </a:ext>
            </a:extLst>
          </p:cNvPr>
          <p:cNvSpPr>
            <a:spLocks xmlns:a="http://schemas.openxmlformats.org/drawingml/2006/main" noGrp="1"/>
          </p:cNvSpPr>
          <p:nvPr/>
        </p:nvSpPr>
        <p:spPr>
          <a:xfrm xmlns:a="http://schemas.openxmlformats.org/drawingml/2006/main">
            <a:off x="7810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Urgent care direction</a:t>
            </a:r>
          </a:p>
        </p:txBody>
      </p:sp>
      <p:sp>
        <p:nvSpPr>
          <p:cNvPr id="32" name="">
            <a:extLst xmlns:a="http://schemas.openxmlformats.org/drawingml/2006/main">
              <a:ext uri="{FF2B5EF4-FFF2-40B4-BE49-F238E27FC236}">
                <a16:creationId xmlns:a16="http://schemas.microsoft.com/office/drawing/2014/main" id="{941120F0-2FD0-4083-813D-9D7321119C84}"/>
              </a:ext>
            </a:extLst>
          </p:cNvPr>
          <p:cNvSpPr>
            <a:spLocks xmlns:a="http://schemas.openxmlformats.org/drawingml/2006/main" noGrp="1"/>
          </p:cNvSpPr>
          <p:nvPr/>
        </p:nvSpPr>
        <p:spPr>
          <a:xfrm xmlns:a="http://schemas.openxmlformats.org/drawingml/2006/main">
            <a:off x="4419600" y="4829175"/>
            <a:ext cx="31623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33" name="">
            <a:extLst xmlns:a="http://schemas.openxmlformats.org/drawingml/2006/main">
              <a:ext uri="{FF2B5EF4-FFF2-40B4-BE49-F238E27FC236}">
                <a16:creationId xmlns:a16="http://schemas.microsoft.com/office/drawing/2014/main" id="{137CFB41-4263-4324-B3A3-14995C1A0715}"/>
              </a:ext>
            </a:extLst>
          </p:cNvPr>
          <p:cNvSpPr>
            <a:spLocks xmlns:a="http://schemas.openxmlformats.org/drawingml/2006/main" noGrp="1"/>
          </p:cNvSpPr>
          <p:nvPr/>
        </p:nvSpPr>
        <p:spPr>
          <a:xfrm xmlns:a="http://schemas.openxmlformats.org/drawingml/2006/main">
            <a:off x="441960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Routine</a:t>
            </a:r>
          </a:p>
        </p:txBody>
      </p:sp>
      <p:sp>
        <p:nvSpPr>
          <p:cNvPr id="34" name="">
            <a:extLst xmlns:a="http://schemas.openxmlformats.org/drawingml/2006/main">
              <a:ext uri="{FF2B5EF4-FFF2-40B4-BE49-F238E27FC236}">
                <a16:creationId xmlns:a16="http://schemas.microsoft.com/office/drawing/2014/main" id="{CF2C4FD8-1DAE-4B4C-891C-BB0D89A8D776}"/>
              </a:ext>
            </a:extLst>
          </p:cNvPr>
          <p:cNvSpPr>
            <a:spLocks xmlns:a="http://schemas.openxmlformats.org/drawingml/2006/main" noGrp="1"/>
          </p:cNvSpPr>
          <p:nvPr/>
        </p:nvSpPr>
        <p:spPr>
          <a:xfrm xmlns:a="http://schemas.openxmlformats.org/drawingml/2006/main">
            <a:off x="441960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Plan an eye-care next step</a:t>
            </a:r>
          </a:p>
        </p:txBody>
      </p:sp>
      <p:sp>
        <p:nvSpPr>
          <p:cNvPr id="35" name="">
            <a:extLst xmlns:a="http://schemas.openxmlformats.org/drawingml/2006/main">
              <a:ext uri="{FF2B5EF4-FFF2-40B4-BE49-F238E27FC236}">
                <a16:creationId xmlns:a16="http://schemas.microsoft.com/office/drawing/2014/main" id="{D5FDE2A4-6DD2-45C2-894F-A8A0FDA17C88}"/>
              </a:ext>
            </a:extLst>
          </p:cNvPr>
          <p:cNvSpPr>
            <a:spLocks xmlns:a="http://schemas.openxmlformats.org/drawingml/2006/main" noGrp="1"/>
          </p:cNvSpPr>
          <p:nvPr/>
        </p:nvSpPr>
        <p:spPr>
          <a:xfrm xmlns:a="http://schemas.openxmlformats.org/drawingml/2006/main">
            <a:off x="441960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Service direction and share</a:t>
            </a:r>
          </a:p>
        </p:txBody>
      </p:sp>
      <p:sp>
        <p:nvSpPr>
          <p:cNvPr id="36" name="">
            <a:extLst xmlns:a="http://schemas.openxmlformats.org/drawingml/2006/main">
              <a:ext uri="{FF2B5EF4-FFF2-40B4-BE49-F238E27FC236}">
                <a16:creationId xmlns:a16="http://schemas.microsoft.com/office/drawing/2014/main" id="{FC81892E-CD22-4962-AFEB-80EAFCE1ACD3}"/>
              </a:ext>
            </a:extLst>
          </p:cNvPr>
          <p:cNvSpPr>
            <a:spLocks xmlns:a="http://schemas.openxmlformats.org/drawingml/2006/main" noGrp="1"/>
          </p:cNvSpPr>
          <p:nvPr/>
        </p:nvSpPr>
        <p:spPr>
          <a:xfrm xmlns:a="http://schemas.openxmlformats.org/drawingml/2006/main">
            <a:off x="8058150" y="4829175"/>
            <a:ext cx="3162300" cy="47625"/>
          </a:xfrm>
          <a:prstGeom xmlns:a="http://schemas.openxmlformats.org/drawingml/2006/main" prst="rect">
            <a:avLst/>
          </a:prstGeom>
          <a:solidFill xmlns:a="http://schemas.openxmlformats.org/drawingml/2006/main">
            <a:srgbClr val="0B3A4A"/>
          </a:solidFill>
          <a:ln xmlns:a="http://schemas.openxmlformats.org/drawingml/2006/main" w="9525">
            <a:solidFill>
              <a:srgbClr val="0B3A4A"/>
            </a:solidFill>
          </a:ln>
        </p:spPr>
      </p:sp>
      <p:sp>
        <p:nvSpPr>
          <p:cNvPr id="37" name="">
            <a:extLst xmlns:a="http://schemas.openxmlformats.org/drawingml/2006/main">
              <a:ext uri="{FF2B5EF4-FFF2-40B4-BE49-F238E27FC236}">
                <a16:creationId xmlns:a16="http://schemas.microsoft.com/office/drawing/2014/main" id="{DF7C9A43-91C6-45B1-97EB-58CBCA0E99A1}"/>
              </a:ext>
            </a:extLst>
          </p:cNvPr>
          <p:cNvSpPr>
            <a:spLocks xmlns:a="http://schemas.openxmlformats.org/drawingml/2006/main" noGrp="1"/>
          </p:cNvSpPr>
          <p:nvPr/>
        </p:nvSpPr>
        <p:spPr>
          <a:xfrm xmlns:a="http://schemas.openxmlformats.org/drawingml/2006/main">
            <a:off x="80581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Human support</a:t>
            </a:r>
          </a:p>
        </p:txBody>
      </p:sp>
      <p:sp>
        <p:nvSpPr>
          <p:cNvPr id="38" name="">
            <a:extLst xmlns:a="http://schemas.openxmlformats.org/drawingml/2006/main">
              <a:ext uri="{FF2B5EF4-FFF2-40B4-BE49-F238E27FC236}">
                <a16:creationId xmlns:a16="http://schemas.microsoft.com/office/drawing/2014/main" id="{A16BEEB3-7B68-4BF6-839E-C13191FF0D86}"/>
              </a:ext>
            </a:extLst>
          </p:cNvPr>
          <p:cNvSpPr>
            <a:spLocks xmlns:a="http://schemas.openxmlformats.org/drawingml/2006/main" noGrp="1"/>
          </p:cNvSpPr>
          <p:nvPr/>
        </p:nvSpPr>
        <p:spPr>
          <a:xfrm xmlns:a="http://schemas.openxmlformats.org/drawingml/2006/main">
            <a:off x="80581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Find nearby trusted support</a:t>
            </a:r>
          </a:p>
        </p:txBody>
      </p:sp>
      <p:sp>
        <p:nvSpPr>
          <p:cNvPr id="39" name="">
            <a:extLst xmlns:a="http://schemas.openxmlformats.org/drawingml/2006/main">
              <a:ext uri="{FF2B5EF4-FFF2-40B4-BE49-F238E27FC236}">
                <a16:creationId xmlns:a16="http://schemas.microsoft.com/office/drawing/2014/main" id="{9FA51EAF-BF09-487E-A3DD-36695085F55E}"/>
              </a:ext>
            </a:extLst>
          </p:cNvPr>
          <p:cNvSpPr>
            <a:spLocks xmlns:a="http://schemas.openxmlformats.org/drawingml/2006/main" noGrp="1"/>
          </p:cNvSpPr>
          <p:nvPr/>
        </p:nvSpPr>
        <p:spPr>
          <a:xfrm xmlns:a="http://schemas.openxmlformats.org/drawingml/2006/main">
            <a:off x="80581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ASHA, PHC, clinic, or family</a:t>
            </a:r>
          </a:p>
        </p:txBody>
      </p:sp>
      <p:sp>
        <p:nvSpPr>
          <p:cNvPr id="41" name="">
            <a:extLst xmlns:a="http://schemas.openxmlformats.org/drawingml/2006/main">
              <a:ext uri="{FF2B5EF4-FFF2-40B4-BE49-F238E27FC236}">
                <a16:creationId xmlns:a16="http://schemas.microsoft.com/office/drawing/2014/main" id="{E3A693FD-74AB-4CF9-8EBF-65A0DF3C96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9FC56A02-F138-4E31-92E4-D0F5A795F143}"/>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04</a:t>
            </a:r>
          </a:p>
        </p:txBody>
      </p:sp>
      <p:sp>
        <p:nvSpPr>
          <p:cNvPr id="43" name="">
            <a:extLst xmlns:a="http://schemas.openxmlformats.org/drawingml/2006/main">
              <a:ext uri="{FF2B5EF4-FFF2-40B4-BE49-F238E27FC236}">
                <a16:creationId xmlns:a16="http://schemas.microsoft.com/office/drawing/2014/main" id="{EAEF0BF3-988E-416F-B2C9-E317716FC549}"/>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4" name="">
            <a:extLst xmlns:a="http://schemas.openxmlformats.org/drawingml/2006/main">
              <a:ext uri="{FF2B5EF4-FFF2-40B4-BE49-F238E27FC236}">
                <a16:creationId xmlns:a16="http://schemas.microsoft.com/office/drawing/2014/main" id="{B9E5C05B-6BC3-4413-8064-7364BF29C119}"/>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Application technology stack</a:t>
            </a:r>
          </a:p>
        </p:txBody>
      </p:sp>
      <p:sp>
        <p:nvSpPr>
          <p:cNvPr id="45" name="">
            <a:extLst xmlns:a="http://schemas.openxmlformats.org/drawingml/2006/main">
              <a:ext uri="{FF2B5EF4-FFF2-40B4-BE49-F238E27FC236}">
                <a16:creationId xmlns:a16="http://schemas.microsoft.com/office/drawing/2014/main" id="{E0E72B31-ADCE-4D2C-8FDC-657287049C89}"/>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lightweight web client, Java deterministic engine, PostgreSQL data layer, and local Ollama model</a:t>
            </a:r>
          </a:p>
        </p:txBody>
      </p:sp>
      <p:sp>
        <p:nvSpPr>
          <p:cNvPr id="46" name="">
            <a:extLst xmlns:a="http://schemas.openxmlformats.org/drawingml/2006/main">
              <a:ext uri="{FF2B5EF4-FFF2-40B4-BE49-F238E27FC236}">
                <a16:creationId xmlns:a16="http://schemas.microsoft.com/office/drawing/2014/main" id="{CEE03F19-5AE5-43DA-84D3-4FE7F4BA3CE2}"/>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4E6248F6-B6F0-473B-9C7D-1265BAB2EDF8}"/>
              </a:ext>
            </a:extLst>
          </p:cNvPr>
          <p:cNvSpPr>
            <a:spLocks xmlns:a="http://schemas.openxmlformats.org/drawingml/2006/main" noGrp="1"/>
          </p:cNvSpPr>
          <p:nvPr/>
        </p:nvSpPr>
        <p:spPr>
          <a:xfrm xmlns:a="http://schemas.openxmlformats.org/drawingml/2006/main">
            <a:off x="723900" y="24003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48" name="">
            <a:extLst xmlns:a="http://schemas.openxmlformats.org/drawingml/2006/main">
              <a:ext uri="{FF2B5EF4-FFF2-40B4-BE49-F238E27FC236}">
                <a16:creationId xmlns:a16="http://schemas.microsoft.com/office/drawing/2014/main" id="{6B14125A-6F3A-425F-8EA7-57349C8FFBC3}"/>
              </a:ext>
            </a:extLst>
          </p:cNvPr>
          <p:cNvSpPr>
            <a:spLocks xmlns:a="http://schemas.openxmlformats.org/drawingml/2006/main" noGrp="1"/>
          </p:cNvSpPr>
          <p:nvPr/>
        </p:nvSpPr>
        <p:spPr>
          <a:xfrm xmlns:a="http://schemas.openxmlformats.org/drawingml/2006/main">
            <a:off x="723900" y="24003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E3BD7B36-BBCC-4A54-9CD8-07C30AF49D55}"/>
              </a:ext>
            </a:extLst>
          </p:cNvPr>
          <p:cNvSpPr>
            <a:spLocks xmlns:a="http://schemas.openxmlformats.org/drawingml/2006/main" noGrp="1"/>
          </p:cNvSpPr>
          <p:nvPr/>
        </p:nvSpPr>
        <p:spPr>
          <a:xfrm xmlns:a="http://schemas.openxmlformats.org/drawingml/2006/main">
            <a:off x="104775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Experience layer</a:t>
            </a:r>
          </a:p>
        </p:txBody>
      </p:sp>
      <p:sp>
        <p:nvSpPr>
          <p:cNvPr id="50" name="">
            <a:extLst xmlns:a="http://schemas.openxmlformats.org/drawingml/2006/main">
              <a:ext uri="{FF2B5EF4-FFF2-40B4-BE49-F238E27FC236}">
                <a16:creationId xmlns:a16="http://schemas.microsoft.com/office/drawing/2014/main" id="{6F2A9A5A-32BB-4EBD-B698-EF90EA40E1B9}"/>
              </a:ext>
            </a:extLst>
          </p:cNvPr>
          <p:cNvSpPr>
            <a:spLocks xmlns:a="http://schemas.openxmlformats.org/drawingml/2006/main" noGrp="1"/>
          </p:cNvSpPr>
          <p:nvPr/>
        </p:nvSpPr>
        <p:spPr>
          <a:xfrm xmlns:a="http://schemas.openxmlformats.org/drawingml/2006/main">
            <a:off x="104775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React PWA</a:t>
            </a:r>
          </a:p>
        </p:txBody>
      </p:sp>
      <p:sp>
        <p:nvSpPr>
          <p:cNvPr id="51" name="">
            <a:extLst xmlns:a="http://schemas.openxmlformats.org/drawingml/2006/main">
              <a:ext uri="{FF2B5EF4-FFF2-40B4-BE49-F238E27FC236}">
                <a16:creationId xmlns:a16="http://schemas.microsoft.com/office/drawing/2014/main" id="{6D8A062A-BC49-4E36-8505-476446988357}"/>
              </a:ext>
            </a:extLst>
          </p:cNvPr>
          <p:cNvSpPr>
            <a:spLocks xmlns:a="http://schemas.openxmlformats.org/drawingml/2006/main" noGrp="1"/>
          </p:cNvSpPr>
          <p:nvPr/>
        </p:nvSpPr>
        <p:spPr>
          <a:xfrm xmlns:a="http://schemas.openxmlformats.org/drawingml/2006/main">
            <a:off x="104775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TypeScript, Vite, Tailwind CSS</a:t>
            </a:r>
          </a:p>
        </p:txBody>
      </p:sp>
      <p:sp>
        <p:nvSpPr>
          <p:cNvPr id="52" name="">
            <a:extLst xmlns:a="http://schemas.openxmlformats.org/drawingml/2006/main">
              <a:ext uri="{FF2B5EF4-FFF2-40B4-BE49-F238E27FC236}">
                <a16:creationId xmlns:a16="http://schemas.microsoft.com/office/drawing/2014/main" id="{9CBE23EB-65E8-491F-A65E-A6BBCD3852D2}"/>
              </a:ext>
            </a:extLst>
          </p:cNvPr>
          <p:cNvSpPr>
            <a:spLocks xmlns:a="http://schemas.openxmlformats.org/drawingml/2006/main" noGrp="1"/>
          </p:cNvSpPr>
          <p:nvPr/>
        </p:nvSpPr>
        <p:spPr>
          <a:xfrm xmlns:a="http://schemas.openxmlformats.org/drawingml/2006/main">
            <a:off x="6076950" y="2400300"/>
            <a:ext cx="4762500" cy="1257300"/>
          </a:xfrm>
          <a:prstGeom xmlns:a="http://schemas.openxmlformats.org/drawingml/2006/main" prst="roundRect">
            <a:avLst>
              <a:gd name="adj" fmla="val 6061"/>
            </a:avLst>
          </a:prstGeom>
          <a:solidFill xmlns:a="http://schemas.openxmlformats.org/drawingml/2006/main">
            <a:srgbClr val="DDF0EC"/>
          </a:solidFill>
          <a:ln xmlns:a="http://schemas.openxmlformats.org/drawingml/2006/main" w="9525">
            <a:solidFill>
              <a:srgbClr val="D7D0C7"/>
            </a:solidFill>
          </a:ln>
        </p:spPr>
      </p:sp>
      <p:sp>
        <p:nvSpPr>
          <p:cNvPr id="53" name="">
            <a:extLst xmlns:a="http://schemas.openxmlformats.org/drawingml/2006/main">
              <a:ext uri="{FF2B5EF4-FFF2-40B4-BE49-F238E27FC236}">
                <a16:creationId xmlns:a16="http://schemas.microsoft.com/office/drawing/2014/main" id="{B0D33192-5F9F-4E85-8522-5E8CC2FCC108}"/>
              </a:ext>
            </a:extLst>
          </p:cNvPr>
          <p:cNvSpPr>
            <a:spLocks xmlns:a="http://schemas.openxmlformats.org/drawingml/2006/main" noGrp="1"/>
          </p:cNvSpPr>
          <p:nvPr/>
        </p:nvSpPr>
        <p:spPr>
          <a:xfrm xmlns:a="http://schemas.openxmlformats.org/drawingml/2006/main">
            <a:off x="6076950" y="2400300"/>
            <a:ext cx="114300" cy="125730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4D6B43F3-9A9B-4802-AADE-A55010C74D1C}"/>
              </a:ext>
            </a:extLst>
          </p:cNvPr>
          <p:cNvSpPr>
            <a:spLocks xmlns:a="http://schemas.openxmlformats.org/drawingml/2006/main" noGrp="1"/>
          </p:cNvSpPr>
          <p:nvPr/>
        </p:nvSpPr>
        <p:spPr>
          <a:xfrm xmlns:a="http://schemas.openxmlformats.org/drawingml/2006/main">
            <a:off x="640080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API and route engine</a:t>
            </a:r>
          </a:p>
        </p:txBody>
      </p:sp>
      <p:sp>
        <p:nvSpPr>
          <p:cNvPr id="55" name="">
            <a:extLst xmlns:a="http://schemas.openxmlformats.org/drawingml/2006/main">
              <a:ext uri="{FF2B5EF4-FFF2-40B4-BE49-F238E27FC236}">
                <a16:creationId xmlns:a16="http://schemas.microsoft.com/office/drawing/2014/main" id="{91DCBB4D-7B8A-494A-A725-3825A4502F5A}"/>
              </a:ext>
            </a:extLst>
          </p:cNvPr>
          <p:cNvSpPr>
            <a:spLocks xmlns:a="http://schemas.openxmlformats.org/drawingml/2006/main" noGrp="1"/>
          </p:cNvSpPr>
          <p:nvPr/>
        </p:nvSpPr>
        <p:spPr>
          <a:xfrm xmlns:a="http://schemas.openxmlformats.org/drawingml/2006/main">
            <a:off x="640080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Java deterministic engine</a:t>
            </a:r>
          </a:p>
        </p:txBody>
      </p:sp>
      <p:sp>
        <p:nvSpPr>
          <p:cNvPr id="56" name="">
            <a:extLst xmlns:a="http://schemas.openxmlformats.org/drawingml/2006/main">
              <a:ext uri="{FF2B5EF4-FFF2-40B4-BE49-F238E27FC236}">
                <a16:creationId xmlns:a16="http://schemas.microsoft.com/office/drawing/2014/main" id="{76F8FD65-3416-42A2-94A2-02BBE426F25E}"/>
              </a:ext>
            </a:extLst>
          </p:cNvPr>
          <p:cNvSpPr>
            <a:spLocks xmlns:a="http://schemas.openxmlformats.org/drawingml/2006/main" noGrp="1"/>
          </p:cNvSpPr>
          <p:nvPr/>
        </p:nvSpPr>
        <p:spPr>
          <a:xfrm xmlns:a="http://schemas.openxmlformats.org/drawingml/2006/main">
            <a:off x="640080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Java 21, Spring Boot 3, REST API</a:t>
            </a:r>
          </a:p>
        </p:txBody>
      </p:sp>
      <p:sp>
        <p:nvSpPr>
          <p:cNvPr id="57" name="">
            <a:extLst xmlns:a="http://schemas.openxmlformats.org/drawingml/2006/main">
              <a:ext uri="{FF2B5EF4-FFF2-40B4-BE49-F238E27FC236}">
                <a16:creationId xmlns:a16="http://schemas.microsoft.com/office/drawing/2014/main" id="{67AAF4CB-286B-481E-BE19-910226C1F926}"/>
              </a:ext>
            </a:extLst>
          </p:cNvPr>
          <p:cNvSpPr>
            <a:spLocks xmlns:a="http://schemas.openxmlformats.org/drawingml/2006/main" noGrp="1"/>
          </p:cNvSpPr>
          <p:nvPr/>
        </p:nvSpPr>
        <p:spPr>
          <a:xfrm xmlns:a="http://schemas.openxmlformats.org/drawingml/2006/main">
            <a:off x="723900" y="4114800"/>
            <a:ext cx="4762500" cy="1257300"/>
          </a:xfrm>
          <a:prstGeom xmlns:a="http://schemas.openxmlformats.org/drawingml/2006/main" prst="roundRect">
            <a:avLst>
              <a:gd name="adj" fmla="val 6061"/>
            </a:avLst>
          </a:prstGeom>
          <a:solidFill xmlns:a="http://schemas.openxmlformats.org/drawingml/2006/main">
            <a:srgbClr val="F9EDDB"/>
          </a:solidFill>
          <a:ln xmlns:a="http://schemas.openxmlformats.org/drawingml/2006/main" w="9525">
            <a:solidFill>
              <a:srgbClr val="D7D0C7"/>
            </a:solidFill>
          </a:ln>
        </p:spPr>
      </p:sp>
      <p:sp>
        <p:nvSpPr>
          <p:cNvPr id="58" name="">
            <a:extLst xmlns:a="http://schemas.openxmlformats.org/drawingml/2006/main">
              <a:ext uri="{FF2B5EF4-FFF2-40B4-BE49-F238E27FC236}">
                <a16:creationId xmlns:a16="http://schemas.microsoft.com/office/drawing/2014/main" id="{16E616E1-6960-4107-9762-2A241FE7E226}"/>
              </a:ext>
            </a:extLst>
          </p:cNvPr>
          <p:cNvSpPr>
            <a:spLocks xmlns:a="http://schemas.openxmlformats.org/drawingml/2006/main" noGrp="1"/>
          </p:cNvSpPr>
          <p:nvPr/>
        </p:nvSpPr>
        <p:spPr>
          <a:xfrm xmlns:a="http://schemas.openxmlformats.org/drawingml/2006/main">
            <a:off x="723900" y="4114800"/>
            <a:ext cx="114300" cy="125730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47D8A961-A864-46D4-AA80-B5033BB53ED7}"/>
              </a:ext>
            </a:extLst>
          </p:cNvPr>
          <p:cNvSpPr>
            <a:spLocks xmlns:a="http://schemas.openxmlformats.org/drawingml/2006/main" noGrp="1"/>
          </p:cNvSpPr>
          <p:nvPr/>
        </p:nvSpPr>
        <p:spPr>
          <a:xfrm xmlns:a="http://schemas.openxmlformats.org/drawingml/2006/main">
            <a:off x="104775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Clinical data and RAG</a:t>
            </a:r>
          </a:p>
        </p:txBody>
      </p:sp>
      <p:sp>
        <p:nvSpPr>
          <p:cNvPr id="60" name="">
            <a:extLst xmlns:a="http://schemas.openxmlformats.org/drawingml/2006/main">
              <a:ext uri="{FF2B5EF4-FFF2-40B4-BE49-F238E27FC236}">
                <a16:creationId xmlns:a16="http://schemas.microsoft.com/office/drawing/2014/main" id="{BF22A76C-1C10-4BFC-9494-2557B36B859A}"/>
              </a:ext>
            </a:extLst>
          </p:cNvPr>
          <p:cNvSpPr>
            <a:spLocks xmlns:a="http://schemas.openxmlformats.org/drawingml/2006/main" noGrp="1"/>
          </p:cNvSpPr>
          <p:nvPr/>
        </p:nvSpPr>
        <p:spPr>
          <a:xfrm xmlns:a="http://schemas.openxmlformats.org/drawingml/2006/main">
            <a:off x="104775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PostgreSQL</a:t>
            </a:r>
          </a:p>
        </p:txBody>
      </p:sp>
      <p:sp>
        <p:nvSpPr>
          <p:cNvPr id="61" name="">
            <a:extLst xmlns:a="http://schemas.openxmlformats.org/drawingml/2006/main">
              <a:ext uri="{FF2B5EF4-FFF2-40B4-BE49-F238E27FC236}">
                <a16:creationId xmlns:a16="http://schemas.microsoft.com/office/drawing/2014/main" id="{4A037959-B642-488F-9250-D3935AE6C135}"/>
              </a:ext>
            </a:extLst>
          </p:cNvPr>
          <p:cNvSpPr>
            <a:spLocks xmlns:a="http://schemas.openxmlformats.org/drawingml/2006/main" noGrp="1"/>
          </p:cNvSpPr>
          <p:nvPr/>
        </p:nvSpPr>
        <p:spPr>
          <a:xfrm xmlns:a="http://schemas.openxmlformats.org/drawingml/2006/main">
            <a:off x="104775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Approved criteria, guidance, pathways, and source links</a:t>
            </a:r>
          </a:p>
        </p:txBody>
      </p:sp>
      <p:sp>
        <p:nvSpPr>
          <p:cNvPr id="62" name="">
            <a:extLst xmlns:a="http://schemas.openxmlformats.org/drawingml/2006/main">
              <a:ext uri="{FF2B5EF4-FFF2-40B4-BE49-F238E27FC236}">
                <a16:creationId xmlns:a16="http://schemas.microsoft.com/office/drawing/2014/main" id="{1AC2AABA-7767-4101-984A-4F8ED33DE62A}"/>
              </a:ext>
            </a:extLst>
          </p:cNvPr>
          <p:cNvSpPr>
            <a:spLocks xmlns:a="http://schemas.openxmlformats.org/drawingml/2006/main" noGrp="1"/>
          </p:cNvSpPr>
          <p:nvPr/>
        </p:nvSpPr>
        <p:spPr>
          <a:xfrm xmlns:a="http://schemas.openxmlformats.org/drawingml/2006/main">
            <a:off x="6076950" y="41148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63" name="">
            <a:extLst xmlns:a="http://schemas.openxmlformats.org/drawingml/2006/main">
              <a:ext uri="{FF2B5EF4-FFF2-40B4-BE49-F238E27FC236}">
                <a16:creationId xmlns:a16="http://schemas.microsoft.com/office/drawing/2014/main" id="{DC8F574E-729F-4DB2-8D4B-7D99D4BDC031}"/>
              </a:ext>
            </a:extLst>
          </p:cNvPr>
          <p:cNvSpPr>
            <a:spLocks xmlns:a="http://schemas.openxmlformats.org/drawingml/2006/main" noGrp="1"/>
          </p:cNvSpPr>
          <p:nvPr/>
        </p:nvSpPr>
        <p:spPr>
          <a:xfrm xmlns:a="http://schemas.openxmlformats.org/drawingml/2006/main">
            <a:off x="6076950" y="41148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DFA8C6C5-2DB1-4615-8149-01131A0B15E0}"/>
              </a:ext>
            </a:extLst>
          </p:cNvPr>
          <p:cNvSpPr>
            <a:spLocks xmlns:a="http://schemas.openxmlformats.org/drawingml/2006/main" noGrp="1"/>
          </p:cNvSpPr>
          <p:nvPr/>
        </p:nvSpPr>
        <p:spPr>
          <a:xfrm xmlns:a="http://schemas.openxmlformats.org/drawingml/2006/main">
            <a:off x="640080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Language explanation</a:t>
            </a:r>
          </a:p>
        </p:txBody>
      </p:sp>
      <p:sp>
        <p:nvSpPr>
          <p:cNvPr id="65" name="">
            <a:extLst xmlns:a="http://schemas.openxmlformats.org/drawingml/2006/main">
              <a:ext uri="{FF2B5EF4-FFF2-40B4-BE49-F238E27FC236}">
                <a16:creationId xmlns:a16="http://schemas.microsoft.com/office/drawing/2014/main" id="{2E032E2B-4E27-448A-BB3B-93A70B126D61}"/>
              </a:ext>
            </a:extLst>
          </p:cNvPr>
          <p:cNvSpPr>
            <a:spLocks xmlns:a="http://schemas.openxmlformats.org/drawingml/2006/main" noGrp="1"/>
          </p:cNvSpPr>
          <p:nvPr/>
        </p:nvSpPr>
        <p:spPr>
          <a:xfrm xmlns:a="http://schemas.openxmlformats.org/drawingml/2006/main">
            <a:off x="640080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Local Ollama</a:t>
            </a:r>
          </a:p>
        </p:txBody>
      </p:sp>
      <p:sp>
        <p:nvSpPr>
          <p:cNvPr id="66" name="">
            <a:extLst xmlns:a="http://schemas.openxmlformats.org/drawingml/2006/main">
              <a:ext uri="{FF2B5EF4-FFF2-40B4-BE49-F238E27FC236}">
                <a16:creationId xmlns:a16="http://schemas.microsoft.com/office/drawing/2014/main" id="{1E9DC06A-F10B-4E4D-8284-61C75EF38D19}"/>
              </a:ext>
            </a:extLst>
          </p:cNvPr>
          <p:cNvSpPr>
            <a:spLocks xmlns:a="http://schemas.openxmlformats.org/drawingml/2006/main" noGrp="1"/>
          </p:cNvSpPr>
          <p:nvPr/>
        </p:nvSpPr>
        <p:spPr>
          <a:xfrm xmlns:a="http://schemas.openxmlformats.org/drawingml/2006/main">
            <a:off x="640080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Default model: llama3.2:3b</a:t>
            </a:r>
          </a:p>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Bengali explanation or approved fallback</a:t>
            </a:r>
          </a:p>
        </p:txBody>
      </p:sp>
      <p:sp>
        <p:nvSpPr>
          <p:cNvPr id="67" name="">
            <a:extLst xmlns:a="http://schemas.openxmlformats.org/drawingml/2006/main">
              <a:ext uri="{FF2B5EF4-FFF2-40B4-BE49-F238E27FC236}">
                <a16:creationId xmlns:a16="http://schemas.microsoft.com/office/drawing/2014/main" id="{B6B325B3-7423-4ACC-9A5E-23F1CF86F791}"/>
              </a:ext>
            </a:extLst>
          </p:cNvPr>
          <p:cNvSpPr>
            <a:spLocks xmlns:a="http://schemas.openxmlformats.org/drawingml/2006/main" noGrp="1"/>
          </p:cNvSpPr>
          <p:nvPr/>
        </p:nvSpPr>
        <p:spPr>
          <a:xfrm xmlns:a="http://schemas.openxmlformats.org/drawingml/2006/main">
            <a:off x="723900" y="5886450"/>
            <a:ext cx="1011555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68" name="">
            <a:extLst xmlns:a="http://schemas.openxmlformats.org/drawingml/2006/main">
              <a:ext uri="{FF2B5EF4-FFF2-40B4-BE49-F238E27FC236}">
                <a16:creationId xmlns:a16="http://schemas.microsoft.com/office/drawing/2014/main" id="{BFA0A1F2-513E-409C-B6A6-4B655EFC37E1}"/>
              </a:ext>
            </a:extLst>
          </p:cNvPr>
          <p:cNvSpPr>
            <a:spLocks xmlns:a="http://schemas.openxmlformats.org/drawingml/2006/main" noGrp="1"/>
          </p:cNvSpPr>
          <p:nvPr/>
        </p:nvSpPr>
        <p:spPr>
          <a:xfrm xmlns:a="http://schemas.openxmlformats.org/drawingml/2006/main">
            <a:off x="990600" y="6010275"/>
            <a:ext cx="9582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202A44"/>
                </a:solidFill>
                <a:latin typeface="Arial"/>
                <a:ea typeface="Arial"/>
                <a:cs typeface="Arial"/>
              </a:defRPr>
            </a:pPr>
            <a:r>
              <a:rPr sz="1125" b="1">
                <a:solidFill>
                  <a:srgbClr val="202A44"/>
                </a:solidFill>
                <a:latin typeface="Arial"/>
                <a:ea typeface="Arial"/>
                <a:cs typeface="Arial"/>
              </a:rPr>
              <a:t>Docker Desktop runs the PostgreSQL and Ollama services for the local demonstration environment.</a:t>
            </a:r>
          </a:p>
        </p:txBody>
      </p:sp>
      <p:sp>
        <p:nvSpPr>
          <p:cNvPr id="69" name="">
            <a:extLst xmlns:a="http://schemas.openxmlformats.org/drawingml/2006/main">
              <a:ext uri="{FF2B5EF4-FFF2-40B4-BE49-F238E27FC236}">
                <a16:creationId xmlns:a16="http://schemas.microsoft.com/office/drawing/2014/main" id="{B4E27626-76C9-43B3-A391-358EB756212C}"/>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4</a:t>
            </a:r>
          </a:p>
        </p:txBody>
      </p:sp>
    </p:spTree>
    <p:extLst>
      <p:ext uri="{BB962C8B-B14F-4D97-AF65-F5344CB8AC3E}">
        <p14:creationId xmlns:p14="http://schemas.microsoft.com/office/powerpoint/2010/main" val="416671752"/>
      </p:ext>
    </p:extLst>
  </p:cSld>
</p:sld>
</file>

<file path=ppt/slides/slide5.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9BC3DC9-1539-4646-9C90-E2F69F9266A9}"/>
              </a:ext>
            </a:extLst>
          </p:cNvPr>
          <p:cNvSpPr>
            <a:spLocks xmlns:a="http://schemas.openxmlformats.org/drawingml/2006/main" noGrp="1"/>
          </p:cNvSpPr>
          <p:nvPr/>
        </p:nvSpPr>
        <p:spPr>
          <a:xfrm xmlns:a="http://schemas.openxmlformats.org/drawingml/2006/main">
            <a:off x="704850" y="485775"/>
            <a:ext cx="428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8A62CD9-2B05-41C9-A2F5-FBB9DB33404B}"/>
              </a:ext>
            </a:extLst>
          </p:cNvPr>
          <p:cNvSpPr>
            <a:spLocks xmlns:a="http://schemas.openxmlformats.org/drawingml/2006/main" noGrp="1"/>
          </p:cNvSpPr>
          <p:nvPr/>
        </p:nvSpPr>
        <p:spPr>
          <a:xfrm xmlns:a="http://schemas.openxmlformats.org/drawingml/2006/main">
            <a:off x="704850" y="78105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216"/>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Current implementation</a:t>
            </a:r>
          </a:p>
        </p:txBody>
      </p:sp>
      <p:sp>
        <p:nvSpPr>
          <p:cNvPr id="3" name="">
            <a:extLst xmlns:a="http://schemas.openxmlformats.org/drawingml/2006/main">
              <a:ext uri="{FF2B5EF4-FFF2-40B4-BE49-F238E27FC236}">
                <a16:creationId xmlns:a16="http://schemas.microsoft.com/office/drawing/2014/main" id="{B9EDFAFE-9CA0-42D2-B4FF-FEB5E59C2191}"/>
              </a:ext>
            </a:extLst>
          </p:cNvPr>
          <p:cNvSpPr>
            <a:spLocks xmlns:a="http://schemas.openxmlformats.org/drawingml/2006/main" noGrp="1"/>
          </p:cNvSpPr>
          <p:nvPr/>
        </p:nvSpPr>
        <p:spPr>
          <a:xfrm xmlns:a="http://schemas.openxmlformats.org/drawingml/2006/main">
            <a:off x="723900" y="1323975"/>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208"/>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The capstone demonstrates a working local MVP with explicit safety limits</a:t>
            </a:r>
          </a:p>
        </p:txBody>
      </p:sp>
      <p:sp>
        <p:nvSpPr>
          <p:cNvPr id="4" name="">
            <a:extLst xmlns:a="http://schemas.openxmlformats.org/drawingml/2006/main">
              <a:ext uri="{FF2B5EF4-FFF2-40B4-BE49-F238E27FC236}">
                <a16:creationId xmlns:a16="http://schemas.microsoft.com/office/drawing/2014/main" id="{69F39D90-4A72-441C-8601-5B4F9B66A69F}"/>
              </a:ext>
            </a:extLst>
          </p:cNvPr>
          <p:cNvSpPr>
            <a:spLocks xmlns:a="http://schemas.openxmlformats.org/drawingml/2006/main" noGrp="1"/>
          </p:cNvSpPr>
          <p:nvPr/>
        </p:nvSpPr>
        <p:spPr>
          <a:xfrm xmlns:a="http://schemas.openxmlformats.org/drawingml/2006/main">
            <a:off x="704850" y="1752600"/>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3BD68114-626D-4F88-A9F1-749329E17234}"/>
              </a:ext>
            </a:extLst>
          </p:cNvPr>
          <p:cNvSpPr>
            <a:spLocks xmlns:a="http://schemas.openxmlformats.org/drawingml/2006/main" noGrp="1"/>
          </p:cNvSpPr>
          <p:nvPr/>
        </p:nvSpPr>
        <p:spPr>
          <a:xfrm xmlns:a="http://schemas.openxmlformats.org/drawingml/2006/main">
            <a:off x="723900" y="22860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LIVE STACK</a:t>
            </a:r>
          </a:p>
        </p:txBody>
      </p:sp>
      <p:sp>
        <p:nvSpPr>
          <p:cNvPr id="6" name="">
            <a:extLst xmlns:a="http://schemas.openxmlformats.org/drawingml/2006/main">
              <a:ext uri="{FF2B5EF4-FFF2-40B4-BE49-F238E27FC236}">
                <a16:creationId xmlns:a16="http://schemas.microsoft.com/office/drawing/2014/main" id="{6686B162-C3FB-4F6A-AB23-2AB69A126C55}"/>
              </a:ext>
            </a:extLst>
          </p:cNvPr>
          <p:cNvSpPr>
            <a:spLocks xmlns:a="http://schemas.openxmlformats.org/drawingml/2006/main" noGrp="1"/>
          </p:cNvSpPr>
          <p:nvPr/>
        </p:nvSpPr>
        <p:spPr>
          <a:xfrm xmlns:a="http://schemas.openxmlformats.org/drawingml/2006/main">
            <a:off x="742950" y="27336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7" name="">
            <a:extLst xmlns:a="http://schemas.openxmlformats.org/drawingml/2006/main">
              <a:ext uri="{FF2B5EF4-FFF2-40B4-BE49-F238E27FC236}">
                <a16:creationId xmlns:a16="http://schemas.microsoft.com/office/drawing/2014/main" id="{2F654787-8541-4310-BD08-350326DEE809}"/>
              </a:ext>
            </a:extLst>
          </p:cNvPr>
          <p:cNvSpPr>
            <a:spLocks xmlns:a="http://schemas.openxmlformats.org/drawingml/2006/main" noGrp="1"/>
          </p:cNvSpPr>
          <p:nvPr/>
        </p:nvSpPr>
        <p:spPr>
          <a:xfrm xmlns:a="http://schemas.openxmlformats.org/drawingml/2006/main">
            <a:off x="1066800" y="26670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React / TypeScript</a:t>
            </a:r>
          </a:p>
        </p:txBody>
      </p:sp>
      <p:sp>
        <p:nvSpPr>
          <p:cNvPr id="8" name="">
            <a:extLst xmlns:a="http://schemas.openxmlformats.org/drawingml/2006/main">
              <a:ext uri="{FF2B5EF4-FFF2-40B4-BE49-F238E27FC236}">
                <a16:creationId xmlns:a16="http://schemas.microsoft.com/office/drawing/2014/main" id="{BC868C80-CEE3-4FA1-9252-17B0053946BC}"/>
              </a:ext>
            </a:extLst>
          </p:cNvPr>
          <p:cNvSpPr>
            <a:spLocks xmlns:a="http://schemas.openxmlformats.org/drawingml/2006/main" noGrp="1"/>
          </p:cNvSpPr>
          <p:nvPr/>
        </p:nvSpPr>
        <p:spPr>
          <a:xfrm xmlns:a="http://schemas.openxmlformats.org/drawingml/2006/main">
            <a:off x="1066800" y="29337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Bengali-first frontend and optional browser speech input</a:t>
            </a:r>
          </a:p>
        </p:txBody>
      </p:sp>
      <p:sp>
        <p:nvSpPr>
          <p:cNvPr id="9" name="">
            <a:extLst xmlns:a="http://schemas.openxmlformats.org/drawingml/2006/main">
              <a:ext uri="{FF2B5EF4-FFF2-40B4-BE49-F238E27FC236}">
                <a16:creationId xmlns:a16="http://schemas.microsoft.com/office/drawing/2014/main" id="{3284A156-CA81-4736-BB24-1C0341F89B50}"/>
              </a:ext>
            </a:extLst>
          </p:cNvPr>
          <p:cNvSpPr>
            <a:spLocks xmlns:a="http://schemas.openxmlformats.org/drawingml/2006/main" noGrp="1"/>
          </p:cNvSpPr>
          <p:nvPr/>
        </p:nvSpPr>
        <p:spPr>
          <a:xfrm xmlns:a="http://schemas.openxmlformats.org/drawingml/2006/main">
            <a:off x="742950" y="3419475"/>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79965C15-9A99-47BB-84BB-E77199D1FE24}"/>
              </a:ext>
            </a:extLst>
          </p:cNvPr>
          <p:cNvSpPr>
            <a:spLocks xmlns:a="http://schemas.openxmlformats.org/drawingml/2006/main" noGrp="1"/>
          </p:cNvSpPr>
          <p:nvPr/>
        </p:nvSpPr>
        <p:spPr>
          <a:xfrm xmlns:a="http://schemas.openxmlformats.org/drawingml/2006/main">
            <a:off x="1066800" y="33528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Java 21 / Spring Boot</a:t>
            </a:r>
          </a:p>
        </p:txBody>
      </p:sp>
      <p:sp>
        <p:nvSpPr>
          <p:cNvPr id="11" name="">
            <a:extLst xmlns:a="http://schemas.openxmlformats.org/drawingml/2006/main">
              <a:ext uri="{FF2B5EF4-FFF2-40B4-BE49-F238E27FC236}">
                <a16:creationId xmlns:a16="http://schemas.microsoft.com/office/drawing/2014/main" id="{30F33F65-CADA-4DE8-8186-924801D9B14B}"/>
              </a:ext>
            </a:extLst>
          </p:cNvPr>
          <p:cNvSpPr>
            <a:spLocks xmlns:a="http://schemas.openxmlformats.org/drawingml/2006/main" noGrp="1"/>
          </p:cNvSpPr>
          <p:nvPr/>
        </p:nvSpPr>
        <p:spPr>
          <a:xfrm xmlns:a="http://schemas.openxmlformats.org/drawingml/2006/main">
            <a:off x="1066800" y="36195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Deterministic routing and safety fallback</a:t>
            </a:r>
          </a:p>
        </p:txBody>
      </p:sp>
      <p:sp>
        <p:nvSpPr>
          <p:cNvPr id="12" name="">
            <a:extLst xmlns:a="http://schemas.openxmlformats.org/drawingml/2006/main">
              <a:ext uri="{FF2B5EF4-FFF2-40B4-BE49-F238E27FC236}">
                <a16:creationId xmlns:a16="http://schemas.microsoft.com/office/drawing/2014/main" id="{02F83386-323E-4729-816D-27E9764215AA}"/>
              </a:ext>
            </a:extLst>
          </p:cNvPr>
          <p:cNvSpPr>
            <a:spLocks xmlns:a="http://schemas.openxmlformats.org/drawingml/2006/main" noGrp="1"/>
          </p:cNvSpPr>
          <p:nvPr/>
        </p:nvSpPr>
        <p:spPr>
          <a:xfrm xmlns:a="http://schemas.openxmlformats.org/drawingml/2006/main">
            <a:off x="742950" y="41052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3" name="">
            <a:extLst xmlns:a="http://schemas.openxmlformats.org/drawingml/2006/main">
              <a:ext uri="{FF2B5EF4-FFF2-40B4-BE49-F238E27FC236}">
                <a16:creationId xmlns:a16="http://schemas.microsoft.com/office/drawing/2014/main" id="{30AE21C8-E495-4A91-A499-1DAFCF61CACE}"/>
              </a:ext>
            </a:extLst>
          </p:cNvPr>
          <p:cNvSpPr>
            <a:spLocks xmlns:a="http://schemas.openxmlformats.org/drawingml/2006/main" noGrp="1"/>
          </p:cNvSpPr>
          <p:nvPr/>
        </p:nvSpPr>
        <p:spPr>
          <a:xfrm xmlns:a="http://schemas.openxmlformats.org/drawingml/2006/main">
            <a:off x="1066800" y="40386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PostgreSQL</a:t>
            </a:r>
          </a:p>
        </p:txBody>
      </p:sp>
      <p:sp>
        <p:nvSpPr>
          <p:cNvPr id="14" name="">
            <a:extLst xmlns:a="http://schemas.openxmlformats.org/drawingml/2006/main">
              <a:ext uri="{FF2B5EF4-FFF2-40B4-BE49-F238E27FC236}">
                <a16:creationId xmlns:a16="http://schemas.microsoft.com/office/drawing/2014/main" id="{74793B44-070F-48AD-98A3-02EB6DD6D01A}"/>
              </a:ext>
            </a:extLst>
          </p:cNvPr>
          <p:cNvSpPr>
            <a:spLocks xmlns:a="http://schemas.openxmlformats.org/drawingml/2006/main" noGrp="1"/>
          </p:cNvSpPr>
          <p:nvPr/>
        </p:nvSpPr>
        <p:spPr>
          <a:xfrm xmlns:a="http://schemas.openxmlformats.org/drawingml/2006/main">
            <a:off x="1066800" y="43053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Demo criteria plus route-specific guidance</a:t>
            </a:r>
          </a:p>
        </p:txBody>
      </p:sp>
      <p:sp>
        <p:nvSpPr>
          <p:cNvPr id="15" name="">
            <a:extLst xmlns:a="http://schemas.openxmlformats.org/drawingml/2006/main">
              <a:ext uri="{FF2B5EF4-FFF2-40B4-BE49-F238E27FC236}">
                <a16:creationId xmlns:a16="http://schemas.microsoft.com/office/drawing/2014/main" id="{9D347835-93EF-48BE-8F15-41B938788526}"/>
              </a:ext>
            </a:extLst>
          </p:cNvPr>
          <p:cNvSpPr>
            <a:spLocks xmlns:a="http://schemas.openxmlformats.org/drawingml/2006/main" noGrp="1"/>
          </p:cNvSpPr>
          <p:nvPr/>
        </p:nvSpPr>
        <p:spPr>
          <a:xfrm xmlns:a="http://schemas.openxmlformats.org/drawingml/2006/main">
            <a:off x="742950" y="47910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6" name="">
            <a:extLst xmlns:a="http://schemas.openxmlformats.org/drawingml/2006/main">
              <a:ext uri="{FF2B5EF4-FFF2-40B4-BE49-F238E27FC236}">
                <a16:creationId xmlns:a16="http://schemas.microsoft.com/office/drawing/2014/main" id="{321C489E-24FE-4581-BFAF-C3610823C419}"/>
              </a:ext>
            </a:extLst>
          </p:cNvPr>
          <p:cNvSpPr>
            <a:spLocks xmlns:a="http://schemas.openxmlformats.org/drawingml/2006/main" noGrp="1"/>
          </p:cNvSpPr>
          <p:nvPr/>
        </p:nvSpPr>
        <p:spPr>
          <a:xfrm xmlns:a="http://schemas.openxmlformats.org/drawingml/2006/main">
            <a:off x="1066800" y="4724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Local Ollama</a:t>
            </a:r>
          </a:p>
        </p:txBody>
      </p:sp>
      <p:sp>
        <p:nvSpPr>
          <p:cNvPr id="17" name="">
            <a:extLst xmlns:a="http://schemas.openxmlformats.org/drawingml/2006/main">
              <a:ext uri="{FF2B5EF4-FFF2-40B4-BE49-F238E27FC236}">
                <a16:creationId xmlns:a16="http://schemas.microsoft.com/office/drawing/2014/main" id="{EB11A43E-CF26-4237-BB92-C48BF846E263}"/>
              </a:ext>
            </a:extLst>
          </p:cNvPr>
          <p:cNvSpPr>
            <a:spLocks xmlns:a="http://schemas.openxmlformats.org/drawingml/2006/main" noGrp="1"/>
          </p:cNvSpPr>
          <p:nvPr/>
        </p:nvSpPr>
        <p:spPr>
          <a:xfrm xmlns:a="http://schemas.openxmlformats.org/drawingml/2006/main">
            <a:off x="1066800" y="49911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Optional explanation after Java locks the route</a:t>
            </a:r>
          </a:p>
        </p:txBody>
      </p:sp>
      <p:sp>
        <p:nvSpPr>
          <p:cNvPr id="18" name="">
            <a:extLst xmlns:a="http://schemas.openxmlformats.org/drawingml/2006/main">
              <a:ext uri="{FF2B5EF4-FFF2-40B4-BE49-F238E27FC236}">
                <a16:creationId xmlns:a16="http://schemas.microsoft.com/office/drawing/2014/main" id="{716ADE15-FF2A-4592-A9F7-6353A4208059}"/>
              </a:ext>
            </a:extLst>
          </p:cNvPr>
          <p:cNvSpPr>
            <a:spLocks xmlns:a="http://schemas.openxmlformats.org/drawingml/2006/main" noGrp="1"/>
          </p:cNvSpPr>
          <p:nvPr/>
        </p:nvSpPr>
        <p:spPr>
          <a:xfrm xmlns:a="http://schemas.openxmlformats.org/drawingml/2006/main">
            <a:off x="6334125" y="2314575"/>
            <a:ext cx="9525" cy="0"/>
          </a:xfrm>
          <a:prstGeom xmlns:a="http://schemas.openxmlformats.org/drawingml/2006/main" prst="rect">
            <a:avLst/>
          </a:prstGeom>
          <a:ln xmlns:a="http://schemas.openxmlformats.org/drawingml/2006/main" w="9525"/>
        </p:spPr>
      </p:sp>
      <p:sp>
        <p:nvSpPr>
          <p:cNvPr id="19" name="">
            <a:extLst xmlns:a="http://schemas.openxmlformats.org/drawingml/2006/main">
              <a:ext uri="{FF2B5EF4-FFF2-40B4-BE49-F238E27FC236}">
                <a16:creationId xmlns:a16="http://schemas.microsoft.com/office/drawing/2014/main" id="{A63DE9B7-D9FC-4E9B-A21B-5482B8D7BBC0}"/>
              </a:ext>
            </a:extLst>
          </p:cNvPr>
          <p:cNvSpPr>
            <a:spLocks xmlns:a="http://schemas.openxmlformats.org/drawingml/2006/main" noGrp="1"/>
          </p:cNvSpPr>
          <p:nvPr/>
        </p:nvSpPr>
        <p:spPr>
          <a:xfrm xmlns:a="http://schemas.openxmlformats.org/drawingml/2006/main">
            <a:off x="6848475" y="228600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DELIVERY EVIDENCE</a:t>
            </a:r>
          </a:p>
        </p:txBody>
      </p:sp>
      <p:sp>
        <p:nvSpPr>
          <p:cNvPr id="20" name="">
            <a:extLst xmlns:a="http://schemas.openxmlformats.org/drawingml/2006/main">
              <a:ext uri="{FF2B5EF4-FFF2-40B4-BE49-F238E27FC236}">
                <a16:creationId xmlns:a16="http://schemas.microsoft.com/office/drawing/2014/main" id="{2714BD0C-2F04-4B33-85F7-89BBC203DD4F}"/>
              </a:ext>
            </a:extLst>
          </p:cNvPr>
          <p:cNvSpPr>
            <a:spLocks xmlns:a="http://schemas.openxmlformats.org/drawingml/2006/main" noGrp="1"/>
          </p:cNvSpPr>
          <p:nvPr/>
        </p:nvSpPr>
        <p:spPr>
          <a:xfrm xmlns:a="http://schemas.openxmlformats.org/drawingml/2006/main">
            <a:off x="6848475" y="2705100"/>
            <a:ext cx="1200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7"/>
          </a:bodyPr>
          <a:lstStyle xmlns:a="http://schemas.openxmlformats.org/drawingml/2006/main"/>
          <a:p xmlns:a="http://schemas.openxmlformats.org/drawingml/2006/main">
            <a:pPr>
              <a:buNone/>
              <a:defRPr sz="4200" b="1">
                <a:solidFill>
                  <a:srgbClr val="FFFFFF"/>
                </a:solidFill>
                <a:latin typeface="Arial"/>
                <a:ea typeface="Arial"/>
                <a:cs typeface="Arial"/>
              </a:defRPr>
            </a:pPr>
            <a:r>
              <a:rPr sz="4200" b="1">
                <a:solidFill>
                  <a:srgbClr val="FFFFFF"/>
                </a:solidFill>
                <a:latin typeface="Arial"/>
                <a:ea typeface="Arial"/>
                <a:cs typeface="Arial"/>
              </a:rPr>
              <a:t>11</a:t>
            </a:r>
          </a:p>
        </p:txBody>
      </p:sp>
      <p:sp>
        <p:nvSpPr>
          <p:cNvPr id="21" name="">
            <a:extLst xmlns:a="http://schemas.openxmlformats.org/drawingml/2006/main">
              <a:ext uri="{FF2B5EF4-FFF2-40B4-BE49-F238E27FC236}">
                <a16:creationId xmlns:a16="http://schemas.microsoft.com/office/drawing/2014/main" id="{E8B4FCF6-1201-4698-9F1C-F2A5F0FB8C24}"/>
              </a:ext>
            </a:extLst>
          </p:cNvPr>
          <p:cNvSpPr>
            <a:spLocks xmlns:a="http://schemas.openxmlformats.org/drawingml/2006/main" noGrp="1"/>
          </p:cNvSpPr>
          <p:nvPr/>
        </p:nvSpPr>
        <p:spPr>
          <a:xfrm xmlns:a="http://schemas.openxmlformats.org/drawingml/2006/main">
            <a:off x="8248650" y="2847975"/>
            <a:ext cx="2524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095"/>
          </a:bodyPr>
          <a:lstStyle xmlns:a="http://schemas.openxmlformats.org/drawingml/2006/main"/>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linked Jira delivery stories</a:t>
            </a:r>
          </a:p>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resolved</a:t>
            </a:r>
          </a:p>
        </p:txBody>
      </p:sp>
      <p:sp>
        <p:nvSpPr>
          <p:cNvPr id="22" name="">
            <a:extLst xmlns:a="http://schemas.openxmlformats.org/drawingml/2006/main">
              <a:ext uri="{FF2B5EF4-FFF2-40B4-BE49-F238E27FC236}">
                <a16:creationId xmlns:a16="http://schemas.microsoft.com/office/drawing/2014/main" id="{876F3826-4576-4822-A781-C4BE01F02315}"/>
              </a:ext>
            </a:extLst>
          </p:cNvPr>
          <p:cNvSpPr>
            <a:spLocks xmlns:a="http://schemas.openxmlformats.org/drawingml/2006/main" noGrp="1"/>
          </p:cNvSpPr>
          <p:nvPr/>
        </p:nvSpPr>
        <p:spPr>
          <a:xfrm xmlns:a="http://schemas.openxmlformats.org/drawingml/2006/main">
            <a:off x="6848475" y="3733800"/>
            <a:ext cx="352425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3" name="">
            <a:extLst xmlns:a="http://schemas.openxmlformats.org/drawingml/2006/main">
              <a:ext uri="{FF2B5EF4-FFF2-40B4-BE49-F238E27FC236}">
                <a16:creationId xmlns:a16="http://schemas.microsoft.com/office/drawing/2014/main" id="{6A9931D8-E4BA-4B19-8B07-BED3594FA3F7}"/>
              </a:ext>
            </a:extLst>
          </p:cNvPr>
          <p:cNvSpPr>
            <a:spLocks xmlns:a="http://schemas.openxmlformats.org/drawingml/2006/main" noGrp="1"/>
          </p:cNvSpPr>
          <p:nvPr/>
        </p:nvSpPr>
        <p:spPr>
          <a:xfrm xmlns:a="http://schemas.openxmlformats.org/drawingml/2006/main">
            <a:off x="6848475" y="40767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a:solidFill>
                  <a:srgbClr val="FFFFFF"/>
                </a:solidFill>
                <a:latin typeface="Arial"/>
                <a:ea typeface="Arial"/>
                <a:cs typeface="Arial"/>
              </a:defRPr>
            </a:pPr>
            <a:r>
              <a:rPr sz="1200" b="1">
                <a:solidFill>
                  <a:srgbClr val="FFFFFF"/>
                </a:solidFill>
                <a:latin typeface="Arial"/>
                <a:ea typeface="Arial"/>
                <a:cs typeface="Arial"/>
              </a:rPr>
              <a:t>Current automated evidence</a:t>
            </a:r>
          </a:p>
        </p:txBody>
      </p:sp>
      <p:sp>
        <p:nvSpPr>
          <p:cNvPr id="24" name="">
            <a:extLst xmlns:a="http://schemas.openxmlformats.org/drawingml/2006/main">
              <a:ext uri="{FF2B5EF4-FFF2-40B4-BE49-F238E27FC236}">
                <a16:creationId xmlns:a16="http://schemas.microsoft.com/office/drawing/2014/main" id="{0EFDAB26-57D1-45A1-9B86-A62298016CCB}"/>
              </a:ext>
            </a:extLst>
          </p:cNvPr>
          <p:cNvSpPr>
            <a:spLocks xmlns:a="http://schemas.openxmlformats.org/drawingml/2006/main" noGrp="1"/>
          </p:cNvSpPr>
          <p:nvPr/>
        </p:nvSpPr>
        <p:spPr>
          <a:xfrm xmlns:a="http://schemas.openxmlformats.org/drawingml/2006/main">
            <a:off x="6848475" y="441960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479"/>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Java unit tests cover the routing policy and output validation. Wider integration, end-to-end, accessibility, usability, and clinical validation remain pilot gates.</a:t>
            </a:r>
          </a:p>
        </p:txBody>
      </p:sp>
      <p:sp>
        <p:nvSpPr>
          <p:cNvPr id="25" name="">
            <a:extLst xmlns:a="http://schemas.openxmlformats.org/drawingml/2006/main">
              <a:ext uri="{FF2B5EF4-FFF2-40B4-BE49-F238E27FC236}">
                <a16:creationId xmlns:a16="http://schemas.microsoft.com/office/drawing/2014/main" id="{B79FF007-F90B-431D-9BE2-B5CAABF9CC9A}"/>
              </a:ext>
            </a:extLst>
          </p:cNvPr>
          <p:cNvSpPr>
            <a:spLocks xmlns:a="http://schemas.openxmlformats.org/drawingml/2006/main" noGrp="1"/>
          </p:cNvSpPr>
          <p:nvPr/>
        </p:nvSpPr>
        <p:spPr>
          <a:xfrm xmlns:a="http://schemas.openxmlformats.org/drawingml/2006/main">
            <a:off x="723900" y="6181725"/>
            <a:ext cx="552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0">
                <a:solidFill>
                  <a:srgbClr val="8AB6B0"/>
                </a:solidFill>
                <a:latin typeface="Arial"/>
                <a:ea typeface="Arial"/>
                <a:cs typeface="Arial"/>
              </a:defRPr>
            </a:pPr>
            <a:r>
              <a:rPr sz="750" b="0">
                <a:solidFill>
                  <a:srgbClr val="8AB6B0"/>
                </a:solidFill>
                <a:latin typeface="Arial"/>
                <a:ea typeface="Arial"/>
                <a:cs typeface="Arial"/>
              </a:rPr>
              <a:t>Source: Jira Dashboard 10001 and repository test suite</a:t>
            </a:r>
          </a:p>
        </p:txBody>
      </p:sp>
      <p:sp>
        <p:nvSpPr>
          <p:cNvPr id="27" name="">
            <a:extLst xmlns:a="http://schemas.openxmlformats.org/drawingml/2006/main">
              <a:ext uri="{FF2B5EF4-FFF2-40B4-BE49-F238E27FC236}">
                <a16:creationId xmlns:a16="http://schemas.microsoft.com/office/drawing/2014/main" id="{D8F80730-6613-48F1-AB3D-C0C9C42BC27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E9E7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E9587B1-4457-47A2-A02B-8858A03B592B}"/>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05</a:t>
            </a:r>
          </a:p>
        </p:txBody>
      </p:sp>
      <p:sp>
        <p:nvSpPr>
          <p:cNvPr id="29" name="">
            <a:extLst xmlns:a="http://schemas.openxmlformats.org/drawingml/2006/main">
              <a:ext uri="{FF2B5EF4-FFF2-40B4-BE49-F238E27FC236}">
                <a16:creationId xmlns:a16="http://schemas.microsoft.com/office/drawing/2014/main" id="{1C52DDA8-F0DC-4297-B172-CF4779822E1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30" name="">
            <a:extLst xmlns:a="http://schemas.openxmlformats.org/drawingml/2006/main">
              <a:ext uri="{FF2B5EF4-FFF2-40B4-BE49-F238E27FC236}">
                <a16:creationId xmlns:a16="http://schemas.microsoft.com/office/drawing/2014/main" id="{6E01A67E-9D2C-4DD7-B582-047CC583C45B}"/>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User journey</a:t>
            </a:r>
          </a:p>
        </p:txBody>
      </p:sp>
      <p:sp>
        <p:nvSpPr>
          <p:cNvPr id="31" name="">
            <a:extLst xmlns:a="http://schemas.openxmlformats.org/drawingml/2006/main">
              <a:ext uri="{FF2B5EF4-FFF2-40B4-BE49-F238E27FC236}">
                <a16:creationId xmlns:a16="http://schemas.microsoft.com/office/drawing/2014/main" id="{D38E751B-8A38-4508-9811-A50C89EEFF69}"/>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single Bengali-first flow moves the user from consent to a clear next action</a:t>
            </a:r>
          </a:p>
        </p:txBody>
      </p:sp>
      <p:sp>
        <p:nvSpPr>
          <p:cNvPr id="32" name="">
            <a:extLst xmlns:a="http://schemas.openxmlformats.org/drawingml/2006/main">
              <a:ext uri="{FF2B5EF4-FFF2-40B4-BE49-F238E27FC236}">
                <a16:creationId xmlns:a16="http://schemas.microsoft.com/office/drawing/2014/main" id="{00B196DD-604E-47D2-B2F6-80EE83DA879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D5C3472D-B417-4BF7-8D04-235B978D5494}"/>
              </a:ext>
            </a:extLst>
          </p:cNvPr>
          <p:cNvSpPr>
            <a:spLocks xmlns:a="http://schemas.openxmlformats.org/drawingml/2006/main" noGrp="1"/>
          </p:cNvSpPr>
          <p:nvPr/>
        </p:nvSpPr>
        <p:spPr>
          <a:xfrm xmlns:a="http://schemas.openxmlformats.org/drawingml/2006/main">
            <a:off x="1095375" y="3486150"/>
            <a:ext cx="9620250" cy="38100"/>
          </a:xfrm>
          <a:prstGeom xmlns:a="http://schemas.openxmlformats.org/drawingml/2006/main" prst="rect">
            <a:avLst/>
          </a:prstGeom>
          <a:solidFill xmlns:a="http://schemas.openxmlformats.org/drawingml/2006/main">
            <a:srgbClr val="4656A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9645F00-D4D3-4BF5-8980-6508F6D2137F}"/>
              </a:ext>
            </a:extLst>
          </p:cNvPr>
          <p:cNvSpPr>
            <a:spLocks xmlns:a="http://schemas.openxmlformats.org/drawingml/2006/main" noGrp="1"/>
          </p:cNvSpPr>
          <p:nvPr/>
        </p:nvSpPr>
        <p:spPr>
          <a:xfrm xmlns:a="http://schemas.openxmlformats.org/drawingml/2006/main">
            <a:off x="10477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A8A0BA39-7DFE-4201-B3D8-9D77403DDB01}"/>
              </a:ext>
            </a:extLst>
          </p:cNvPr>
          <p:cNvSpPr>
            <a:spLocks xmlns:a="http://schemas.openxmlformats.org/drawingml/2006/main" noGrp="1"/>
          </p:cNvSpPr>
          <p:nvPr/>
        </p:nvSpPr>
        <p:spPr>
          <a:xfrm xmlns:a="http://schemas.openxmlformats.org/drawingml/2006/main">
            <a:off x="10477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2667EE31-1F93-4D06-9535-B80FCBE7E8BD}"/>
              </a:ext>
            </a:extLst>
          </p:cNvPr>
          <p:cNvSpPr>
            <a:spLocks xmlns:a="http://schemas.openxmlformats.org/drawingml/2006/main" noGrp="1"/>
          </p:cNvSpPr>
          <p:nvPr/>
        </p:nvSpPr>
        <p:spPr>
          <a:xfrm xmlns:a="http://schemas.openxmlformats.org/drawingml/2006/main">
            <a:off x="5905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Consent</a:t>
            </a:r>
          </a:p>
        </p:txBody>
      </p:sp>
      <p:sp>
        <p:nvSpPr>
          <p:cNvPr id="37" name="">
            <a:extLst xmlns:a="http://schemas.openxmlformats.org/drawingml/2006/main">
              <a:ext uri="{FF2B5EF4-FFF2-40B4-BE49-F238E27FC236}">
                <a16:creationId xmlns:a16="http://schemas.microsoft.com/office/drawing/2014/main" id="{02512B0E-82AC-4B18-A7FA-E14A1CCE5D45}"/>
              </a:ext>
            </a:extLst>
          </p:cNvPr>
          <p:cNvSpPr>
            <a:spLocks xmlns:a="http://schemas.openxmlformats.org/drawingml/2006/main" noGrp="1"/>
          </p:cNvSpPr>
          <p:nvPr/>
        </p:nvSpPr>
        <p:spPr>
          <a:xfrm xmlns:a="http://schemas.openxmlformats.org/drawingml/2006/main">
            <a:off x="5334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Clear purpose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and data choice</a:t>
            </a:r>
          </a:p>
        </p:txBody>
      </p:sp>
      <p:sp>
        <p:nvSpPr>
          <p:cNvPr id="38" name="">
            <a:extLst xmlns:a="http://schemas.openxmlformats.org/drawingml/2006/main">
              <a:ext uri="{FF2B5EF4-FFF2-40B4-BE49-F238E27FC236}">
                <a16:creationId xmlns:a16="http://schemas.microsoft.com/office/drawing/2014/main" id="{9BEC85A1-CE7E-4A79-A082-627995F65474}"/>
              </a:ext>
            </a:extLst>
          </p:cNvPr>
          <p:cNvSpPr>
            <a:spLocks xmlns:a="http://schemas.openxmlformats.org/drawingml/2006/main" noGrp="1"/>
          </p:cNvSpPr>
          <p:nvPr/>
        </p:nvSpPr>
        <p:spPr>
          <a:xfrm xmlns:a="http://schemas.openxmlformats.org/drawingml/2006/main">
            <a:off x="201930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4FD3B39-0F3A-4236-9BD2-0801C1B1BB9D}"/>
              </a:ext>
            </a:extLst>
          </p:cNvPr>
          <p:cNvSpPr>
            <a:spLocks xmlns:a="http://schemas.openxmlformats.org/drawingml/2006/main" noGrp="1"/>
          </p:cNvSpPr>
          <p:nvPr/>
        </p:nvSpPr>
        <p:spPr>
          <a:xfrm xmlns:a="http://schemas.openxmlformats.org/drawingml/2006/main">
            <a:off x="3095625" y="323850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AC7301E5-46B3-4FC0-BF30-5D427BDA3713}"/>
              </a:ext>
            </a:extLst>
          </p:cNvPr>
          <p:cNvSpPr>
            <a:spLocks xmlns:a="http://schemas.openxmlformats.org/drawingml/2006/main" noGrp="1"/>
          </p:cNvSpPr>
          <p:nvPr/>
        </p:nvSpPr>
        <p:spPr>
          <a:xfrm xmlns:a="http://schemas.openxmlformats.org/drawingml/2006/main">
            <a:off x="309562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1" name="">
            <a:extLst xmlns:a="http://schemas.openxmlformats.org/drawingml/2006/main">
              <a:ext uri="{FF2B5EF4-FFF2-40B4-BE49-F238E27FC236}">
                <a16:creationId xmlns:a16="http://schemas.microsoft.com/office/drawing/2014/main" id="{7F1DCCB5-6F0A-48C6-ABC7-38B0F74D280D}"/>
              </a:ext>
            </a:extLst>
          </p:cNvPr>
          <p:cNvSpPr>
            <a:spLocks xmlns:a="http://schemas.openxmlformats.org/drawingml/2006/main" noGrp="1"/>
          </p:cNvSpPr>
          <p:nvPr/>
        </p:nvSpPr>
        <p:spPr>
          <a:xfrm xmlns:a="http://schemas.openxmlformats.org/drawingml/2006/main">
            <a:off x="263842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Symptoms</a:t>
            </a:r>
          </a:p>
        </p:txBody>
      </p:sp>
      <p:sp>
        <p:nvSpPr>
          <p:cNvPr id="42" name="">
            <a:extLst xmlns:a="http://schemas.openxmlformats.org/drawingml/2006/main">
              <a:ext uri="{FF2B5EF4-FFF2-40B4-BE49-F238E27FC236}">
                <a16:creationId xmlns:a16="http://schemas.microsoft.com/office/drawing/2014/main" id="{8C7ABC10-CDA8-4A39-A75C-6B3C02220208}"/>
              </a:ext>
            </a:extLst>
          </p:cNvPr>
          <p:cNvSpPr>
            <a:spLocks xmlns:a="http://schemas.openxmlformats.org/drawingml/2006/main" noGrp="1"/>
          </p:cNvSpPr>
          <p:nvPr/>
        </p:nvSpPr>
        <p:spPr>
          <a:xfrm xmlns:a="http://schemas.openxmlformats.org/drawingml/2006/main">
            <a:off x="258127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Fixed Bengali options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or voice input</a:t>
            </a:r>
          </a:p>
        </p:txBody>
      </p:sp>
      <p:sp>
        <p:nvSpPr>
          <p:cNvPr id="43" name="">
            <a:extLst xmlns:a="http://schemas.openxmlformats.org/drawingml/2006/main">
              <a:ext uri="{FF2B5EF4-FFF2-40B4-BE49-F238E27FC236}">
                <a16:creationId xmlns:a16="http://schemas.microsoft.com/office/drawing/2014/main" id="{2D29FF7E-F7D5-41D3-A01C-E609471CD147}"/>
              </a:ext>
            </a:extLst>
          </p:cNvPr>
          <p:cNvSpPr>
            <a:spLocks xmlns:a="http://schemas.openxmlformats.org/drawingml/2006/main" noGrp="1"/>
          </p:cNvSpPr>
          <p:nvPr/>
        </p:nvSpPr>
        <p:spPr>
          <a:xfrm xmlns:a="http://schemas.openxmlformats.org/drawingml/2006/main">
            <a:off x="406717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44DC7F75-E629-43F3-BAC5-2AB6CEF31D46}"/>
              </a:ext>
            </a:extLst>
          </p:cNvPr>
          <p:cNvSpPr>
            <a:spLocks xmlns:a="http://schemas.openxmlformats.org/drawingml/2006/main" noGrp="1"/>
          </p:cNvSpPr>
          <p:nvPr/>
        </p:nvSpPr>
        <p:spPr>
          <a:xfrm xmlns:a="http://schemas.openxmlformats.org/drawingml/2006/main">
            <a:off x="5143500" y="323850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6DF2338E-4519-4E6D-B404-A54E7046FEBB}"/>
              </a:ext>
            </a:extLst>
          </p:cNvPr>
          <p:cNvSpPr>
            <a:spLocks xmlns:a="http://schemas.openxmlformats.org/drawingml/2006/main" noGrp="1"/>
          </p:cNvSpPr>
          <p:nvPr/>
        </p:nvSpPr>
        <p:spPr>
          <a:xfrm xmlns:a="http://schemas.openxmlformats.org/drawingml/2006/main">
            <a:off x="514350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6" name="">
            <a:extLst xmlns:a="http://schemas.openxmlformats.org/drawingml/2006/main">
              <a:ext uri="{FF2B5EF4-FFF2-40B4-BE49-F238E27FC236}">
                <a16:creationId xmlns:a16="http://schemas.microsoft.com/office/drawing/2014/main" id="{9DE12633-4838-49CA-8E54-BC72F4F94F98}"/>
              </a:ext>
            </a:extLst>
          </p:cNvPr>
          <p:cNvSpPr>
            <a:spLocks xmlns:a="http://schemas.openxmlformats.org/drawingml/2006/main" noGrp="1"/>
          </p:cNvSpPr>
          <p:nvPr/>
        </p:nvSpPr>
        <p:spPr>
          <a:xfrm xmlns:a="http://schemas.openxmlformats.org/drawingml/2006/main">
            <a:off x="468630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Safety check</a:t>
            </a:r>
          </a:p>
        </p:txBody>
      </p:sp>
      <p:sp>
        <p:nvSpPr>
          <p:cNvPr id="47" name="">
            <a:extLst xmlns:a="http://schemas.openxmlformats.org/drawingml/2006/main">
              <a:ext uri="{FF2B5EF4-FFF2-40B4-BE49-F238E27FC236}">
                <a16:creationId xmlns:a16="http://schemas.microsoft.com/office/drawing/2014/main" id="{66FAAF04-8A93-429E-B152-8A19DCEED571}"/>
              </a:ext>
            </a:extLst>
          </p:cNvPr>
          <p:cNvSpPr>
            <a:spLocks xmlns:a="http://schemas.openxmlformats.org/drawingml/2006/main" noGrp="1"/>
          </p:cNvSpPr>
          <p:nvPr/>
        </p:nvSpPr>
        <p:spPr>
          <a:xfrm xmlns:a="http://schemas.openxmlformats.org/drawingml/2006/main">
            <a:off x="462915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signs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checked first</a:t>
            </a:r>
          </a:p>
        </p:txBody>
      </p:sp>
      <p:sp>
        <p:nvSpPr>
          <p:cNvPr id="48" name="">
            <a:extLst xmlns:a="http://schemas.openxmlformats.org/drawingml/2006/main">
              <a:ext uri="{FF2B5EF4-FFF2-40B4-BE49-F238E27FC236}">
                <a16:creationId xmlns:a16="http://schemas.microsoft.com/office/drawing/2014/main" id="{860022DF-409A-4789-8EC5-D957A812575C}"/>
              </a:ext>
            </a:extLst>
          </p:cNvPr>
          <p:cNvSpPr>
            <a:spLocks xmlns:a="http://schemas.openxmlformats.org/drawingml/2006/main" noGrp="1"/>
          </p:cNvSpPr>
          <p:nvPr/>
        </p:nvSpPr>
        <p:spPr>
          <a:xfrm xmlns:a="http://schemas.openxmlformats.org/drawingml/2006/main">
            <a:off x="611505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D42CD3CF-A054-445A-B017-0CB43C255295}"/>
              </a:ext>
            </a:extLst>
          </p:cNvPr>
          <p:cNvSpPr>
            <a:spLocks xmlns:a="http://schemas.openxmlformats.org/drawingml/2006/main" noGrp="1"/>
          </p:cNvSpPr>
          <p:nvPr/>
        </p:nvSpPr>
        <p:spPr>
          <a:xfrm xmlns:a="http://schemas.openxmlformats.org/drawingml/2006/main">
            <a:off x="7191375" y="3238500"/>
            <a:ext cx="495300" cy="49530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19F9BD2E-9888-4554-B752-DF6A098D7C46}"/>
              </a:ext>
            </a:extLst>
          </p:cNvPr>
          <p:cNvSpPr>
            <a:spLocks xmlns:a="http://schemas.openxmlformats.org/drawingml/2006/main" noGrp="1"/>
          </p:cNvSpPr>
          <p:nvPr/>
        </p:nvSpPr>
        <p:spPr>
          <a:xfrm xmlns:a="http://schemas.openxmlformats.org/drawingml/2006/main">
            <a:off x="719137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4</a:t>
            </a:r>
          </a:p>
        </p:txBody>
      </p:sp>
      <p:sp>
        <p:nvSpPr>
          <p:cNvPr id="51" name="">
            <a:extLst xmlns:a="http://schemas.openxmlformats.org/drawingml/2006/main">
              <a:ext uri="{FF2B5EF4-FFF2-40B4-BE49-F238E27FC236}">
                <a16:creationId xmlns:a16="http://schemas.microsoft.com/office/drawing/2014/main" id="{E5FA0676-7079-4B92-85F0-A18A9C1B9814}"/>
              </a:ext>
            </a:extLst>
          </p:cNvPr>
          <p:cNvSpPr>
            <a:spLocks xmlns:a="http://schemas.openxmlformats.org/drawingml/2006/main" noGrp="1"/>
          </p:cNvSpPr>
          <p:nvPr/>
        </p:nvSpPr>
        <p:spPr>
          <a:xfrm xmlns:a="http://schemas.openxmlformats.org/drawingml/2006/main">
            <a:off x="673417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 route</a:t>
            </a:r>
          </a:p>
        </p:txBody>
      </p:sp>
      <p:sp>
        <p:nvSpPr>
          <p:cNvPr id="52" name="">
            <a:extLst xmlns:a="http://schemas.openxmlformats.org/drawingml/2006/main">
              <a:ext uri="{FF2B5EF4-FFF2-40B4-BE49-F238E27FC236}">
                <a16:creationId xmlns:a16="http://schemas.microsoft.com/office/drawing/2014/main" id="{2A3C6A86-26FB-43AC-B8CA-FD0C244EE260}"/>
              </a:ext>
            </a:extLst>
          </p:cNvPr>
          <p:cNvSpPr>
            <a:spLocks xmlns:a="http://schemas.openxmlformats.org/drawingml/2006/main" noGrp="1"/>
          </p:cNvSpPr>
          <p:nvPr/>
        </p:nvSpPr>
        <p:spPr>
          <a:xfrm xmlns:a="http://schemas.openxmlformats.org/drawingml/2006/main">
            <a:off x="667702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routine, or</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human support</a:t>
            </a:r>
          </a:p>
        </p:txBody>
      </p:sp>
      <p:sp>
        <p:nvSpPr>
          <p:cNvPr id="53" name="">
            <a:extLst xmlns:a="http://schemas.openxmlformats.org/drawingml/2006/main">
              <a:ext uri="{FF2B5EF4-FFF2-40B4-BE49-F238E27FC236}">
                <a16:creationId xmlns:a16="http://schemas.microsoft.com/office/drawing/2014/main" id="{432E8093-0C09-4090-8DFA-1AFBE2841B76}"/>
              </a:ext>
            </a:extLst>
          </p:cNvPr>
          <p:cNvSpPr>
            <a:spLocks xmlns:a="http://schemas.openxmlformats.org/drawingml/2006/main" noGrp="1"/>
          </p:cNvSpPr>
          <p:nvPr/>
        </p:nvSpPr>
        <p:spPr>
          <a:xfrm xmlns:a="http://schemas.openxmlformats.org/drawingml/2006/main">
            <a:off x="816292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9B5DBCB2-5F3E-42E2-8475-A86D9AF25545}"/>
              </a:ext>
            </a:extLst>
          </p:cNvPr>
          <p:cNvSpPr>
            <a:spLocks xmlns:a="http://schemas.openxmlformats.org/drawingml/2006/main" noGrp="1"/>
          </p:cNvSpPr>
          <p:nvPr/>
        </p:nvSpPr>
        <p:spPr>
          <a:xfrm xmlns:a="http://schemas.openxmlformats.org/drawingml/2006/main">
            <a:off x="92392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1E1C1BF7-D01D-44BD-A72E-5C6073F9DD65}"/>
              </a:ext>
            </a:extLst>
          </p:cNvPr>
          <p:cNvSpPr>
            <a:spLocks xmlns:a="http://schemas.openxmlformats.org/drawingml/2006/main" noGrp="1"/>
          </p:cNvSpPr>
          <p:nvPr/>
        </p:nvSpPr>
        <p:spPr>
          <a:xfrm xmlns:a="http://schemas.openxmlformats.org/drawingml/2006/main">
            <a:off x="92392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5</a:t>
            </a:r>
          </a:p>
        </p:txBody>
      </p:sp>
      <p:sp>
        <p:nvSpPr>
          <p:cNvPr id="56" name="">
            <a:extLst xmlns:a="http://schemas.openxmlformats.org/drawingml/2006/main">
              <a:ext uri="{FF2B5EF4-FFF2-40B4-BE49-F238E27FC236}">
                <a16:creationId xmlns:a16="http://schemas.microsoft.com/office/drawing/2014/main" id="{31AA5408-4085-4BA4-976A-4FE8C44207B5}"/>
              </a:ext>
            </a:extLst>
          </p:cNvPr>
          <p:cNvSpPr>
            <a:spLocks xmlns:a="http://schemas.openxmlformats.org/drawingml/2006/main" noGrp="1"/>
          </p:cNvSpPr>
          <p:nvPr/>
        </p:nvSpPr>
        <p:spPr>
          <a:xfrm xmlns:a="http://schemas.openxmlformats.org/drawingml/2006/main">
            <a:off x="87820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Next action</a:t>
            </a:r>
          </a:p>
        </p:txBody>
      </p:sp>
      <p:sp>
        <p:nvSpPr>
          <p:cNvPr id="57" name="">
            <a:extLst xmlns:a="http://schemas.openxmlformats.org/drawingml/2006/main">
              <a:ext uri="{FF2B5EF4-FFF2-40B4-BE49-F238E27FC236}">
                <a16:creationId xmlns:a16="http://schemas.microsoft.com/office/drawing/2014/main" id="{BAD7D620-A2BF-495C-9754-05C8C5A4F636}"/>
              </a:ext>
            </a:extLst>
          </p:cNvPr>
          <p:cNvSpPr>
            <a:spLocks xmlns:a="http://schemas.openxmlformats.org/drawingml/2006/main" noGrp="1"/>
          </p:cNvSpPr>
          <p:nvPr/>
        </p:nvSpPr>
        <p:spPr>
          <a:xfrm xmlns:a="http://schemas.openxmlformats.org/drawingml/2006/main">
            <a:off x="87249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Guidance, service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direction, sharing</a:t>
            </a:r>
          </a:p>
        </p:txBody>
      </p:sp>
      <p:sp>
        <p:nvSpPr>
          <p:cNvPr id="58" name="">
            <a:extLst xmlns:a="http://schemas.openxmlformats.org/drawingml/2006/main">
              <a:ext uri="{FF2B5EF4-FFF2-40B4-BE49-F238E27FC236}">
                <a16:creationId xmlns:a16="http://schemas.microsoft.com/office/drawing/2014/main" id="{00798421-854C-4AB1-BF76-ACD04EA16D03}"/>
              </a:ext>
            </a:extLst>
          </p:cNvPr>
          <p:cNvSpPr>
            <a:spLocks xmlns:a="http://schemas.openxmlformats.org/drawingml/2006/main" noGrp="1"/>
          </p:cNvSpPr>
          <p:nvPr/>
        </p:nvSpPr>
        <p:spPr>
          <a:xfrm xmlns:a="http://schemas.openxmlformats.org/drawingml/2006/main">
            <a:off x="1714500" y="5391150"/>
            <a:ext cx="838200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59323B60-07AC-44DB-B326-BF0FCF0E86E2}"/>
              </a:ext>
            </a:extLst>
          </p:cNvPr>
          <p:cNvSpPr>
            <a:spLocks xmlns:a="http://schemas.openxmlformats.org/drawingml/2006/main" noGrp="1"/>
          </p:cNvSpPr>
          <p:nvPr/>
        </p:nvSpPr>
        <p:spPr>
          <a:xfrm xmlns:a="http://schemas.openxmlformats.org/drawingml/2006/main">
            <a:off x="2000250" y="5572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Every result offers a Back or Start again option so people can revisit choices</a:t>
            </a:r>
          </a:p>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without losing the journey.</a:t>
            </a:r>
          </a:p>
        </p:txBody>
      </p:sp>
      <p:sp>
        <p:nvSpPr>
          <p:cNvPr id="60" name="">
            <a:extLst xmlns:a="http://schemas.openxmlformats.org/drawingml/2006/main">
              <a:ext uri="{FF2B5EF4-FFF2-40B4-BE49-F238E27FC236}">
                <a16:creationId xmlns:a16="http://schemas.microsoft.com/office/drawing/2014/main" id="{4BFCFDF4-9601-4B78-96C9-570094CC87F0}"/>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5</a:t>
            </a:r>
          </a:p>
        </p:txBody>
      </p:sp>
    </p:spTree>
    <p:extLst>
      <p:ext uri="{BB962C8B-B14F-4D97-AF65-F5344CB8AC3E}">
        <p14:creationId xmlns:p14="http://schemas.microsoft.com/office/powerpoint/2010/main" val="3784399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7E01CA7-372A-4C16-BE2B-7A065588DC04}"/>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F4DE0B34-3251-46AC-B93F-DC40EBA0135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Capstone outcome</a:t>
            </a:r>
          </a:p>
        </p:txBody>
      </p:sp>
      <p:sp>
        <p:nvSpPr>
          <p:cNvPr id="3" name="">
            <a:extLst xmlns:a="http://schemas.openxmlformats.org/drawingml/2006/main">
              <a:ext uri="{FF2B5EF4-FFF2-40B4-BE49-F238E27FC236}">
                <a16:creationId xmlns:a16="http://schemas.microsoft.com/office/drawing/2014/main" id="{1AA9EB8E-2DE5-4918-AC6A-9A8BC0D36132}"/>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A working safety-guidance MVP, with the right boundaries for a future pilot</a:t>
            </a:r>
          </a:p>
        </p:txBody>
      </p:sp>
      <p:sp>
        <p:nvSpPr>
          <p:cNvPr id="4" name="">
            <a:extLst xmlns:a="http://schemas.openxmlformats.org/drawingml/2006/main">
              <a:ext uri="{FF2B5EF4-FFF2-40B4-BE49-F238E27FC236}">
                <a16:creationId xmlns:a16="http://schemas.microsoft.com/office/drawing/2014/main" id="{B964FC1D-31EF-40B7-B4E1-5CCBBA52F9C7}"/>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A4DCCDDF-E136-4FE5-98F6-64D2E17366F9}"/>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C642CE62-7AA4-40A4-87B1-8D7351AC6C93}"/>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1B1F5A78-2FC2-4DB8-864E-B0C8EAE82A76}"/>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06</a:t>
            </a:r>
          </a:p>
        </p:txBody>
      </p:sp>
      <p:sp>
        <p:nvSpPr>
          <p:cNvPr id="8" name="">
            <a:extLst xmlns:a="http://schemas.openxmlformats.org/drawingml/2006/main">
              <a:ext uri="{FF2B5EF4-FFF2-40B4-BE49-F238E27FC236}">
                <a16:creationId xmlns:a16="http://schemas.microsoft.com/office/drawing/2014/main" id="{58A2DA3F-CF21-48CF-992C-FFD060B03A90}"/>
              </a:ext>
            </a:extLst>
          </p:cNvPr>
          <p:cNvSpPr>
            <a:spLocks xmlns:a="http://schemas.openxmlformats.org/drawingml/2006/main" noGrp="1"/>
          </p:cNvSpPr>
          <p:nvPr/>
        </p:nvSpPr>
        <p:spPr>
          <a:xfrm xmlns:a="http://schemas.openxmlformats.org/drawingml/2006/main">
            <a:off x="723900" y="22764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What the MVP proves</a:t>
            </a:r>
          </a:p>
        </p:txBody>
      </p:sp>
      <p:sp>
        <p:nvSpPr>
          <p:cNvPr id="9" name="">
            <a:extLst xmlns:a="http://schemas.openxmlformats.org/drawingml/2006/main">
              <a:ext uri="{FF2B5EF4-FFF2-40B4-BE49-F238E27FC236}">
                <a16:creationId xmlns:a16="http://schemas.microsoft.com/office/drawing/2014/main" id="{3D8ED7CD-9870-47FC-A768-5AD092000B48}"/>
              </a:ext>
            </a:extLst>
          </p:cNvPr>
          <p:cNvSpPr>
            <a:spLocks xmlns:a="http://schemas.openxmlformats.org/drawingml/2006/main" noGrp="1"/>
          </p:cNvSpPr>
          <p:nvPr/>
        </p:nvSpPr>
        <p:spPr>
          <a:xfrm xmlns:a="http://schemas.openxmlformats.org/drawingml/2006/main">
            <a:off x="723900" y="2705100"/>
            <a:ext cx="49911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398"/>
          </a:bodyPr>
          <a:lstStyle xmlns:a="http://schemas.openxmlformats.org/drawingml/2006/main"/>
          <a:p xmlns:a="http://schemas.openxmlformats.org/drawingml/2006/main">
            <a:pPr>
              <a:buNone/>
              <a:defRPr sz="2175" b="1">
                <a:solidFill>
                  <a:srgbClr val="0B3A4A"/>
                </a:solidFill>
                <a:latin typeface="Arial"/>
                <a:ea typeface="Arial"/>
                <a:cs typeface="Arial"/>
              </a:defRPr>
            </a:pPr>
            <a:r>
              <a:rPr sz="2175" b="1">
                <a:solidFill>
                  <a:srgbClr val="0B3A4A"/>
                </a:solidFill>
                <a:latin typeface="Arial"/>
                <a:ea typeface="Arial"/>
                <a:cs typeface="Arial"/>
              </a:rPr>
              <a:t>A Bengali-first journey can give users a safe next step while keeping route selection under deterministic Java control.</a:t>
            </a:r>
          </a:p>
        </p:txBody>
      </p:sp>
      <p:sp>
        <p:nvSpPr>
          <p:cNvPr id="10" name="">
            <a:extLst xmlns:a="http://schemas.openxmlformats.org/drawingml/2006/main">
              <a:ext uri="{FF2B5EF4-FFF2-40B4-BE49-F238E27FC236}">
                <a16:creationId xmlns:a16="http://schemas.microsoft.com/office/drawing/2014/main" id="{FDA7B092-CD4B-412A-B485-B60AE90C123F}"/>
              </a:ext>
            </a:extLst>
          </p:cNvPr>
          <p:cNvSpPr>
            <a:spLocks xmlns:a="http://schemas.openxmlformats.org/drawingml/2006/main" noGrp="1"/>
          </p:cNvSpPr>
          <p:nvPr/>
        </p:nvSpPr>
        <p:spPr>
          <a:xfrm xmlns:a="http://schemas.openxmlformats.org/drawingml/2006/main">
            <a:off x="723900" y="4029075"/>
            <a:ext cx="419100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1" name="">
            <a:extLst xmlns:a="http://schemas.openxmlformats.org/drawingml/2006/main">
              <a:ext uri="{FF2B5EF4-FFF2-40B4-BE49-F238E27FC236}">
                <a16:creationId xmlns:a16="http://schemas.microsoft.com/office/drawing/2014/main" id="{747CF7CF-A51F-4743-BFA9-F603BFD36BB1}"/>
              </a:ext>
            </a:extLst>
          </p:cNvPr>
          <p:cNvSpPr>
            <a:spLocks xmlns:a="http://schemas.openxmlformats.org/drawingml/2006/main" noGrp="1"/>
          </p:cNvSpPr>
          <p:nvPr/>
        </p:nvSpPr>
        <p:spPr>
          <a:xfrm xmlns:a="http://schemas.openxmlformats.org/drawingml/2006/main">
            <a:off x="723900" y="42195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buNone/>
              <a:defRPr sz="1350" b="1">
                <a:solidFill>
                  <a:srgbClr val="00A28F"/>
                </a:solidFill>
                <a:latin typeface="Arial"/>
                <a:ea typeface="Arial"/>
                <a:cs typeface="Arial"/>
              </a:defRPr>
            </a:pPr>
            <a:r>
              <a:rPr sz="1350" b="1">
                <a:solidFill>
                  <a:srgbClr val="00A28F"/>
                </a:solidFill>
                <a:latin typeface="Arial"/>
                <a:ea typeface="Arial"/>
                <a:cs typeface="Arial"/>
              </a:rPr>
              <a:t>The model can explain the route. It cannot decide it.</a:t>
            </a:r>
          </a:p>
        </p:txBody>
      </p:sp>
      <p:sp>
        <p:nvSpPr>
          <p:cNvPr id="12" name="">
            <a:extLst xmlns:a="http://schemas.openxmlformats.org/drawingml/2006/main">
              <a:ext uri="{FF2B5EF4-FFF2-40B4-BE49-F238E27FC236}">
                <a16:creationId xmlns:a16="http://schemas.microsoft.com/office/drawing/2014/main" id="{666154FD-AEE1-450C-871B-7B36BA87BC57}"/>
              </a:ext>
            </a:extLst>
          </p:cNvPr>
          <p:cNvSpPr>
            <a:spLocks xmlns:a="http://schemas.openxmlformats.org/drawingml/2006/main" noGrp="1"/>
          </p:cNvSpPr>
          <p:nvPr/>
        </p:nvSpPr>
        <p:spPr>
          <a:xfrm xmlns:a="http://schemas.openxmlformats.org/drawingml/2006/main">
            <a:off x="6762750" y="2238375"/>
            <a:ext cx="4076700" cy="3124200"/>
          </a:xfrm>
          <a:prstGeom xmlns:a="http://schemas.openxmlformats.org/drawingml/2006/main" prst="roundRect">
            <a:avLst>
              <a:gd name="adj" fmla="val 2439"/>
            </a:avLst>
          </a:prstGeom>
          <a:solidFill xmlns:a="http://schemas.openxmlformats.org/drawingml/2006/main">
            <a:srgbClr val="F7FAF9"/>
          </a:solidFill>
          <a:ln xmlns:a="http://schemas.openxmlformats.org/drawingml/2006/main" w="9525">
            <a:solidFill>
              <a:srgbClr val="F7FAF9"/>
            </a:solidFill>
          </a:ln>
        </p:spPr>
      </p:sp>
      <p:sp>
        <p:nvSpPr>
          <p:cNvPr id="13" name="">
            <a:extLst xmlns:a="http://schemas.openxmlformats.org/drawingml/2006/main">
              <a:ext uri="{FF2B5EF4-FFF2-40B4-BE49-F238E27FC236}">
                <a16:creationId xmlns:a16="http://schemas.microsoft.com/office/drawing/2014/main" id="{352CEA5A-5F46-48B3-BDF0-5EA5B4B55EF6}"/>
              </a:ext>
            </a:extLst>
          </p:cNvPr>
          <p:cNvSpPr>
            <a:spLocks xmlns:a="http://schemas.openxmlformats.org/drawingml/2006/main" noGrp="1"/>
          </p:cNvSpPr>
          <p:nvPr/>
        </p:nvSpPr>
        <p:spPr>
          <a:xfrm xmlns:a="http://schemas.openxmlformats.org/drawingml/2006/main">
            <a:off x="7143750" y="25908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Before a pilot</a:t>
            </a:r>
          </a:p>
        </p:txBody>
      </p:sp>
      <p:sp>
        <p:nvSpPr>
          <p:cNvPr id="14" name="">
            <a:extLst xmlns:a="http://schemas.openxmlformats.org/drawingml/2006/main">
              <a:ext uri="{FF2B5EF4-FFF2-40B4-BE49-F238E27FC236}">
                <a16:creationId xmlns:a16="http://schemas.microsoft.com/office/drawing/2014/main" id="{07BA01D7-9881-474E-B9C5-B70AEBF504ED}"/>
              </a:ext>
            </a:extLst>
          </p:cNvPr>
          <p:cNvSpPr>
            <a:spLocks xmlns:a="http://schemas.openxmlformats.org/drawingml/2006/main" noGrp="1"/>
          </p:cNvSpPr>
          <p:nvPr/>
        </p:nvSpPr>
        <p:spPr>
          <a:xfrm xmlns:a="http://schemas.openxmlformats.org/drawingml/2006/main">
            <a:off x="7162800" y="3181350"/>
            <a:ext cx="123825" cy="123825"/>
          </a:xfrm>
          <a:prstGeom xmlns:a="http://schemas.openxmlformats.org/drawingml/2006/main" prst="roundRect">
            <a:avLst>
              <a:gd name="adj" fmla="val 50000"/>
            </a:avLst>
          </a:prstGeom>
          <a:solidFill xmlns:a="http://schemas.openxmlformats.org/drawingml/2006/main">
            <a:srgbClr val="E2524B"/>
          </a:solidFill>
          <a:ln xmlns:a="http://schemas.openxmlformats.org/drawingml/2006/main" w="9525">
            <a:solidFill>
              <a:srgbClr val="E2524B"/>
            </a:solidFill>
          </a:ln>
        </p:spPr>
      </p:sp>
      <p:sp>
        <p:nvSpPr>
          <p:cNvPr id="15" name="">
            <a:extLst xmlns:a="http://schemas.openxmlformats.org/drawingml/2006/main">
              <a:ext uri="{FF2B5EF4-FFF2-40B4-BE49-F238E27FC236}">
                <a16:creationId xmlns:a16="http://schemas.microsoft.com/office/drawing/2014/main" id="{B655AC4D-712A-45D0-B38E-D16B3A24ED1A}"/>
              </a:ext>
            </a:extLst>
          </p:cNvPr>
          <p:cNvSpPr>
            <a:spLocks xmlns:a="http://schemas.openxmlformats.org/drawingml/2006/main" noGrp="1"/>
          </p:cNvSpPr>
          <p:nvPr/>
        </p:nvSpPr>
        <p:spPr>
          <a:xfrm xmlns:a="http://schemas.openxmlformats.org/drawingml/2006/main">
            <a:off x="7429500" y="31432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Clinical approval</a:t>
            </a:r>
          </a:p>
        </p:txBody>
      </p:sp>
      <p:sp>
        <p:nvSpPr>
          <p:cNvPr id="16" name="">
            <a:extLst xmlns:a="http://schemas.openxmlformats.org/drawingml/2006/main">
              <a:ext uri="{FF2B5EF4-FFF2-40B4-BE49-F238E27FC236}">
                <a16:creationId xmlns:a16="http://schemas.microsoft.com/office/drawing/2014/main" id="{1F5C1630-AFF3-4122-BF54-0700AC9C0F8A}"/>
              </a:ext>
            </a:extLst>
          </p:cNvPr>
          <p:cNvSpPr>
            <a:spLocks xmlns:a="http://schemas.openxmlformats.org/drawingml/2006/main" noGrp="1"/>
          </p:cNvSpPr>
          <p:nvPr/>
        </p:nvSpPr>
        <p:spPr>
          <a:xfrm xmlns:a="http://schemas.openxmlformats.org/drawingml/2006/main">
            <a:off x="7429500" y="33813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25"/>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Qualified review of routing criteria and Bengali guidance</a:t>
            </a:r>
          </a:p>
        </p:txBody>
      </p:sp>
      <p:sp>
        <p:nvSpPr>
          <p:cNvPr id="17" name="">
            <a:extLst xmlns:a="http://schemas.openxmlformats.org/drawingml/2006/main">
              <a:ext uri="{FF2B5EF4-FFF2-40B4-BE49-F238E27FC236}">
                <a16:creationId xmlns:a16="http://schemas.microsoft.com/office/drawing/2014/main" id="{FE10004D-467A-4F1F-9965-B9ECA13EF14D}"/>
              </a:ext>
            </a:extLst>
          </p:cNvPr>
          <p:cNvSpPr>
            <a:spLocks xmlns:a="http://schemas.openxmlformats.org/drawingml/2006/main" noGrp="1"/>
          </p:cNvSpPr>
          <p:nvPr/>
        </p:nvSpPr>
        <p:spPr>
          <a:xfrm xmlns:a="http://schemas.openxmlformats.org/drawingml/2006/main">
            <a:off x="7162800" y="3848100"/>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8" name="">
            <a:extLst xmlns:a="http://schemas.openxmlformats.org/drawingml/2006/main">
              <a:ext uri="{FF2B5EF4-FFF2-40B4-BE49-F238E27FC236}">
                <a16:creationId xmlns:a16="http://schemas.microsoft.com/office/drawing/2014/main" id="{D92B4EA6-89DD-4325-988F-3B8271CE3416}"/>
              </a:ext>
            </a:extLst>
          </p:cNvPr>
          <p:cNvSpPr>
            <a:spLocks xmlns:a="http://schemas.openxmlformats.org/drawingml/2006/main" noGrp="1"/>
          </p:cNvSpPr>
          <p:nvPr/>
        </p:nvSpPr>
        <p:spPr>
          <a:xfrm xmlns:a="http://schemas.openxmlformats.org/drawingml/2006/main">
            <a:off x="7429500" y="381000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Operational readiness</a:t>
            </a:r>
          </a:p>
        </p:txBody>
      </p:sp>
      <p:sp>
        <p:nvSpPr>
          <p:cNvPr id="19" name="">
            <a:extLst xmlns:a="http://schemas.openxmlformats.org/drawingml/2006/main">
              <a:ext uri="{FF2B5EF4-FFF2-40B4-BE49-F238E27FC236}">
                <a16:creationId xmlns:a16="http://schemas.microsoft.com/office/drawing/2014/main" id="{39788C7F-C5C5-4CD9-8416-4E4DE041A8F8}"/>
              </a:ext>
            </a:extLst>
          </p:cNvPr>
          <p:cNvSpPr>
            <a:spLocks xmlns:a="http://schemas.openxmlformats.org/drawingml/2006/main" noGrp="1"/>
          </p:cNvSpPr>
          <p:nvPr/>
        </p:nvSpPr>
        <p:spPr>
          <a:xfrm xmlns:a="http://schemas.openxmlformats.org/drawingml/2006/main">
            <a:off x="7429500" y="40481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Verified service data, ownership, and freshness controls</a:t>
            </a:r>
          </a:p>
        </p:txBody>
      </p:sp>
      <p:sp>
        <p:nvSpPr>
          <p:cNvPr id="20" name="">
            <a:extLst xmlns:a="http://schemas.openxmlformats.org/drawingml/2006/main">
              <a:ext uri="{FF2B5EF4-FFF2-40B4-BE49-F238E27FC236}">
                <a16:creationId xmlns:a16="http://schemas.microsoft.com/office/drawing/2014/main" id="{A0B92355-BFF4-4243-AEC6-0946D238802E}"/>
              </a:ext>
            </a:extLst>
          </p:cNvPr>
          <p:cNvSpPr>
            <a:spLocks xmlns:a="http://schemas.openxmlformats.org/drawingml/2006/main" noGrp="1"/>
          </p:cNvSpPr>
          <p:nvPr/>
        </p:nvSpPr>
        <p:spPr>
          <a:xfrm xmlns:a="http://schemas.openxmlformats.org/drawingml/2006/main">
            <a:off x="7162800" y="4514850"/>
            <a:ext cx="123825" cy="123825"/>
          </a:xfrm>
          <a:prstGeom xmlns:a="http://schemas.openxmlformats.org/drawingml/2006/main" prst="roundRect">
            <a:avLst>
              <a:gd name="adj" fmla="val 50000"/>
            </a:avLst>
          </a:prstGeom>
          <a:solidFill xmlns:a="http://schemas.openxmlformats.org/drawingml/2006/main">
            <a:srgbClr val="F0AD26"/>
          </a:solidFill>
          <a:ln xmlns:a="http://schemas.openxmlformats.org/drawingml/2006/main" w="9525">
            <a:solidFill>
              <a:srgbClr val="F0AD26"/>
            </a:solidFill>
          </a:ln>
        </p:spPr>
      </p:sp>
      <p:sp>
        <p:nvSpPr>
          <p:cNvPr id="21" name="">
            <a:extLst xmlns:a="http://schemas.openxmlformats.org/drawingml/2006/main">
              <a:ext uri="{FF2B5EF4-FFF2-40B4-BE49-F238E27FC236}">
                <a16:creationId xmlns:a16="http://schemas.microsoft.com/office/drawing/2014/main" id="{E2132D38-E532-4E1E-837A-8A2483B488AC}"/>
              </a:ext>
            </a:extLst>
          </p:cNvPr>
          <p:cNvSpPr>
            <a:spLocks xmlns:a="http://schemas.openxmlformats.org/drawingml/2006/main" noGrp="1"/>
          </p:cNvSpPr>
          <p:nvPr/>
        </p:nvSpPr>
        <p:spPr>
          <a:xfrm xmlns:a="http://schemas.openxmlformats.org/drawingml/2006/main">
            <a:off x="7429500" y="44767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Broader validation</a:t>
            </a:r>
          </a:p>
        </p:txBody>
      </p:sp>
      <p:sp>
        <p:nvSpPr>
          <p:cNvPr id="22" name="">
            <a:extLst xmlns:a="http://schemas.openxmlformats.org/drawingml/2006/main">
              <a:ext uri="{FF2B5EF4-FFF2-40B4-BE49-F238E27FC236}">
                <a16:creationId xmlns:a16="http://schemas.microsoft.com/office/drawing/2014/main" id="{4B6F9123-0870-4230-BEAF-DA9BEFA692F9}"/>
              </a:ext>
            </a:extLst>
          </p:cNvPr>
          <p:cNvSpPr>
            <a:spLocks xmlns:a="http://schemas.openxmlformats.org/drawingml/2006/main" noGrp="1"/>
          </p:cNvSpPr>
          <p:nvPr/>
        </p:nvSpPr>
        <p:spPr>
          <a:xfrm xmlns:a="http://schemas.openxmlformats.org/drawingml/2006/main">
            <a:off x="7429500" y="47148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API, end-to-end, accessibility, privacy, and usability evidence</a:t>
            </a:r>
          </a:p>
        </p:txBody>
      </p:sp>
      <p:sp>
        <p:nvSpPr>
          <p:cNvPr id="23" name="">
            <a:extLst xmlns:a="http://schemas.openxmlformats.org/drawingml/2006/main">
              <a:ext uri="{FF2B5EF4-FFF2-40B4-BE49-F238E27FC236}">
                <a16:creationId xmlns:a16="http://schemas.microsoft.com/office/drawing/2014/main" id="{17A6053C-0CAB-4CB6-ACC7-256545B70554}"/>
              </a:ext>
            </a:extLst>
          </p:cNvPr>
          <p:cNvSpPr>
            <a:spLocks xmlns:a="http://schemas.openxmlformats.org/drawingml/2006/main" noGrp="1"/>
          </p:cNvSpPr>
          <p:nvPr/>
        </p:nvSpPr>
        <p:spPr>
          <a:xfrm xmlns:a="http://schemas.openxmlformats.org/drawingml/2006/main">
            <a:off x="723900" y="5743575"/>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562"/>
          </a:bodyPr>
          <a:lstStyle xmlns:a="http://schemas.openxmlformats.org/drawingml/2006/main"/>
          <a:p xmlns:a="http://schemas.openxmlformats.org/drawingml/2006/main">
            <a:pPr>
              <a:buNone/>
              <a:defRPr sz="2400" b="1">
                <a:solidFill>
                  <a:srgbClr val="00A28F"/>
                </a:solidFill>
                <a:latin typeface="Arial"/>
                <a:ea typeface="Arial"/>
                <a:cs typeface="Arial"/>
              </a:defRPr>
            </a:pPr>
            <a:r>
              <a:rPr sz="2400" b="1">
                <a:solidFill>
                  <a:srgbClr val="00A28F"/>
                </a:solidFill>
                <a:latin typeface="Arial"/>
                <a:ea typeface="Arial"/>
                <a:cs typeface="Arial"/>
              </a:rPr>
              <a:t>Thank you</a:t>
            </a:r>
          </a:p>
        </p:txBody>
      </p:sp>
      <p:sp>
        <p:nvSpPr>
          <p:cNvPr id="24" name="">
            <a:extLst xmlns:a="http://schemas.openxmlformats.org/drawingml/2006/main">
              <a:ext uri="{FF2B5EF4-FFF2-40B4-BE49-F238E27FC236}">
                <a16:creationId xmlns:a16="http://schemas.microsoft.com/office/drawing/2014/main" id="{41353DBE-CCCB-47E1-BB8E-EBBCD6DED19E}"/>
              </a:ext>
            </a:extLst>
          </p:cNvPr>
          <p:cNvSpPr>
            <a:spLocks xmlns:a="http://schemas.openxmlformats.org/drawingml/2006/main" noGrp="1"/>
          </p:cNvSpPr>
          <p:nvPr/>
        </p:nvSpPr>
        <p:spPr>
          <a:xfrm xmlns:a="http://schemas.openxmlformats.org/drawingml/2006/main">
            <a:off x="742950" y="615315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Questions</a:t>
            </a:r>
          </a:p>
        </p:txBody>
      </p:sp>
      <p:sp>
        <p:nvSpPr>
          <p:cNvPr id="26" name="">
            <a:extLst xmlns:a="http://schemas.openxmlformats.org/drawingml/2006/main">
              <a:ext uri="{FF2B5EF4-FFF2-40B4-BE49-F238E27FC236}">
                <a16:creationId xmlns:a16="http://schemas.microsoft.com/office/drawing/2014/main" id="{E71DD544-720A-415C-B9D9-F36C76EBB1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9358991-9CD5-4B7E-BA2E-3E1AA1C702CE}"/>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06</a:t>
            </a:r>
          </a:p>
        </p:txBody>
      </p:sp>
      <p:sp>
        <p:nvSpPr>
          <p:cNvPr id="28" name="">
            <a:extLst xmlns:a="http://schemas.openxmlformats.org/drawingml/2006/main">
              <a:ext uri="{FF2B5EF4-FFF2-40B4-BE49-F238E27FC236}">
                <a16:creationId xmlns:a16="http://schemas.microsoft.com/office/drawing/2014/main" id="{FA931439-5EE6-41A7-8863-89597E0C4963}"/>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29" name="">
            <a:extLst xmlns:a="http://schemas.openxmlformats.org/drawingml/2006/main">
              <a:ext uri="{FF2B5EF4-FFF2-40B4-BE49-F238E27FC236}">
                <a16:creationId xmlns:a16="http://schemas.microsoft.com/office/drawing/2014/main" id="{8C191C58-E31E-4519-8333-75492D57382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Current safety boundary</a:t>
            </a:r>
          </a:p>
        </p:txBody>
      </p:sp>
      <p:sp>
        <p:nvSpPr>
          <p:cNvPr id="30" name="">
            <a:extLst xmlns:a="http://schemas.openxmlformats.org/drawingml/2006/main">
              <a:ext uri="{FF2B5EF4-FFF2-40B4-BE49-F238E27FC236}">
                <a16:creationId xmlns:a16="http://schemas.microsoft.com/office/drawing/2014/main" id="{5A1704F8-3075-4B28-9373-7FB9A8F0887D}"/>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live MVP separates route selection from optional generated explanation.</a:t>
            </a:r>
          </a:p>
        </p:txBody>
      </p:sp>
      <p:sp>
        <p:nvSpPr>
          <p:cNvPr id="31" name="">
            <a:extLst xmlns:a="http://schemas.openxmlformats.org/drawingml/2006/main">
              <a:ext uri="{FF2B5EF4-FFF2-40B4-BE49-F238E27FC236}">
                <a16:creationId xmlns:a16="http://schemas.microsoft.com/office/drawing/2014/main" id="{2C959646-6610-4858-87EE-9FEDE02DF322}"/>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84714960-D7AE-4387-A2A4-6166F7DE059C}"/>
              </a:ext>
            </a:extLst>
          </p:cNvPr>
          <p:cNvSpPr>
            <a:spLocks xmlns:a="http://schemas.openxmlformats.org/drawingml/2006/main" noGrp="1"/>
          </p:cNvSpPr>
          <p:nvPr/>
        </p:nvSpPr>
        <p:spPr>
          <a:xfrm xmlns:a="http://schemas.openxmlformats.org/drawingml/2006/main">
            <a:off x="72390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3" name="">
            <a:extLst xmlns:a="http://schemas.openxmlformats.org/drawingml/2006/main">
              <a:ext uri="{FF2B5EF4-FFF2-40B4-BE49-F238E27FC236}">
                <a16:creationId xmlns:a16="http://schemas.microsoft.com/office/drawing/2014/main" id="{C665A722-9E1F-4C26-AFA7-8EAF6D5C6B58}"/>
              </a:ext>
            </a:extLst>
          </p:cNvPr>
          <p:cNvSpPr>
            <a:spLocks xmlns:a="http://schemas.openxmlformats.org/drawingml/2006/main" noGrp="1"/>
          </p:cNvSpPr>
          <p:nvPr/>
        </p:nvSpPr>
        <p:spPr>
          <a:xfrm xmlns:a="http://schemas.openxmlformats.org/drawingml/2006/main">
            <a:off x="641985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4" name="">
            <a:extLst xmlns:a="http://schemas.openxmlformats.org/drawingml/2006/main">
              <a:ext uri="{FF2B5EF4-FFF2-40B4-BE49-F238E27FC236}">
                <a16:creationId xmlns:a16="http://schemas.microsoft.com/office/drawing/2014/main" id="{B7FF0442-1C04-4757-8771-7E4B29E2F1FB}"/>
              </a:ext>
            </a:extLst>
          </p:cNvPr>
          <p:cNvSpPr>
            <a:spLocks xmlns:a="http://schemas.openxmlformats.org/drawingml/2006/main" noGrp="1"/>
          </p:cNvSpPr>
          <p:nvPr/>
        </p:nvSpPr>
        <p:spPr>
          <a:xfrm xmlns:a="http://schemas.openxmlformats.org/drawingml/2006/main">
            <a:off x="102870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DETERMINISTIC ROUTE</a:t>
            </a:r>
          </a:p>
        </p:txBody>
      </p:sp>
      <p:sp>
        <p:nvSpPr>
          <p:cNvPr id="35" name="">
            <a:extLst xmlns:a="http://schemas.openxmlformats.org/drawingml/2006/main">
              <a:ext uri="{FF2B5EF4-FFF2-40B4-BE49-F238E27FC236}">
                <a16:creationId xmlns:a16="http://schemas.microsoft.com/office/drawing/2014/main" id="{D382E1F0-0E5C-4378-B682-3A022F4BAC9C}"/>
              </a:ext>
            </a:extLst>
          </p:cNvPr>
          <p:cNvSpPr>
            <a:spLocks xmlns:a="http://schemas.openxmlformats.org/drawingml/2006/main" noGrp="1"/>
          </p:cNvSpPr>
          <p:nvPr/>
        </p:nvSpPr>
        <p:spPr>
          <a:xfrm xmlns:a="http://schemas.openxmlformats.org/drawingml/2006/main">
            <a:off x="1028700" y="2933700"/>
            <a:ext cx="3829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Java deterministic engine</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selects the care route</a:t>
            </a:r>
          </a:p>
        </p:txBody>
      </p:sp>
      <p:sp>
        <p:nvSpPr>
          <p:cNvPr id="36" name="">
            <a:extLst xmlns:a="http://schemas.openxmlformats.org/drawingml/2006/main">
              <a:ext uri="{FF2B5EF4-FFF2-40B4-BE49-F238E27FC236}">
                <a16:creationId xmlns:a16="http://schemas.microsoft.com/office/drawing/2014/main" id="{EE6CB31E-6AA6-4F00-B4C8-BF45A0B2D6A8}"/>
              </a:ext>
            </a:extLst>
          </p:cNvPr>
          <p:cNvSpPr>
            <a:spLocks xmlns:a="http://schemas.openxmlformats.org/drawingml/2006/main" noGrp="1"/>
          </p:cNvSpPr>
          <p:nvPr/>
        </p:nvSpPr>
        <p:spPr>
          <a:xfrm xmlns:a="http://schemas.openxmlformats.org/drawingml/2006/main">
            <a:off x="1028700" y="3714750"/>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DCE4F3"/>
                </a:solidFill>
                <a:latin typeface="Arial"/>
                <a:ea typeface="Arial"/>
                <a:cs typeface="Arial"/>
              </a:defRPr>
            </a:pPr>
            <a:r>
              <a:rPr sz="1350">
                <a:solidFill>
                  <a:srgbClr val="DCE4F3"/>
                </a:solidFill>
                <a:latin typeface="Arial"/>
                <a:ea typeface="Arial"/>
                <a:cs typeface="Arial"/>
              </a:rPr>
              <a:t>It uses fixed UI codes and approved PostgreSQL routing criteria to determine urgent, routine, or human support.</a:t>
            </a:r>
          </a:p>
        </p:txBody>
      </p:sp>
      <p:sp>
        <p:nvSpPr>
          <p:cNvPr id="37" name="">
            <a:extLst xmlns:a="http://schemas.openxmlformats.org/drawingml/2006/main">
              <a:ext uri="{FF2B5EF4-FFF2-40B4-BE49-F238E27FC236}">
                <a16:creationId xmlns:a16="http://schemas.microsoft.com/office/drawing/2014/main" id="{CE89FADF-0B6F-440D-A5D6-88892D569D50}"/>
              </a:ext>
            </a:extLst>
          </p:cNvPr>
          <p:cNvSpPr>
            <a:spLocks xmlns:a="http://schemas.openxmlformats.org/drawingml/2006/main" noGrp="1"/>
          </p:cNvSpPr>
          <p:nvPr/>
        </p:nvSpPr>
        <p:spPr>
          <a:xfrm xmlns:a="http://schemas.openxmlformats.org/drawingml/2006/main">
            <a:off x="1028700" y="4457700"/>
            <a:ext cx="3429000" cy="361950"/>
          </a:xfrm>
          <a:prstGeom xmlns:a="http://schemas.openxmlformats.org/drawingml/2006/main" prst="roundRect">
            <a:avLst>
              <a:gd name="adj" fmla="val 21053"/>
            </a:avLst>
          </a:prstGeom>
          <a:solidFill xmlns:a="http://schemas.openxmlformats.org/drawingml/2006/main">
            <a:srgbClr val="F9E4DE"/>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FCECD796-111D-46A6-A8A6-AA4CA29C9D25}"/>
              </a:ext>
            </a:extLst>
          </p:cNvPr>
          <p:cNvSpPr>
            <a:spLocks xmlns:a="http://schemas.openxmlformats.org/drawingml/2006/main" noGrp="1"/>
          </p:cNvSpPr>
          <p:nvPr/>
        </p:nvSpPr>
        <p:spPr>
          <a:xfrm xmlns:a="http://schemas.openxmlformats.org/drawingml/2006/main">
            <a:off x="120015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DE664C"/>
                </a:solidFill>
                <a:latin typeface="Arial"/>
                <a:ea typeface="Arial"/>
                <a:cs typeface="Arial"/>
              </a:defRPr>
            </a:pPr>
            <a:r>
              <a:rPr sz="1050" b="1">
                <a:solidFill>
                  <a:srgbClr val="DE664C"/>
                </a:solidFill>
                <a:latin typeface="Arial"/>
                <a:ea typeface="Arial"/>
                <a:cs typeface="Arial"/>
              </a:rPr>
              <a:t>Route lock: no later stage can override it</a:t>
            </a:r>
          </a:p>
        </p:txBody>
      </p:sp>
      <p:sp>
        <p:nvSpPr>
          <p:cNvPr id="39" name="">
            <a:extLst xmlns:a="http://schemas.openxmlformats.org/drawingml/2006/main">
              <a:ext uri="{FF2B5EF4-FFF2-40B4-BE49-F238E27FC236}">
                <a16:creationId xmlns:a16="http://schemas.microsoft.com/office/drawing/2014/main" id="{6280B796-6727-4511-B1E0-8153F6C72180}"/>
              </a:ext>
            </a:extLst>
          </p:cNvPr>
          <p:cNvSpPr>
            <a:spLocks xmlns:a="http://schemas.openxmlformats.org/drawingml/2006/main" noGrp="1"/>
          </p:cNvSpPr>
          <p:nvPr/>
        </p:nvSpPr>
        <p:spPr>
          <a:xfrm xmlns:a="http://schemas.openxmlformats.org/drawingml/2006/main">
            <a:off x="672465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CONDITIONAL EXPLANATION</a:t>
            </a:r>
          </a:p>
        </p:txBody>
      </p:sp>
      <p:sp>
        <p:nvSpPr>
          <p:cNvPr id="40" name="">
            <a:extLst xmlns:a="http://schemas.openxmlformats.org/drawingml/2006/main">
              <a:ext uri="{FF2B5EF4-FFF2-40B4-BE49-F238E27FC236}">
                <a16:creationId xmlns:a16="http://schemas.microsoft.com/office/drawing/2014/main" id="{153074DD-1822-43E4-82AD-9B54DE8DEB66}"/>
              </a:ext>
            </a:extLst>
          </p:cNvPr>
          <p:cNvSpPr>
            <a:spLocks xmlns:a="http://schemas.openxmlformats.org/drawingml/2006/main" noGrp="1"/>
          </p:cNvSpPr>
          <p:nvPr/>
        </p:nvSpPr>
        <p:spPr>
          <a:xfrm xmlns:a="http://schemas.openxmlformats.org/drawingml/2006/main">
            <a:off x="6724650" y="2933700"/>
            <a:ext cx="3829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Ollama explains the locked</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route</a:t>
            </a:r>
          </a:p>
        </p:txBody>
      </p:sp>
      <p:sp>
        <p:nvSpPr>
          <p:cNvPr id="41" name="">
            <a:extLst xmlns:a="http://schemas.openxmlformats.org/drawingml/2006/main">
              <a:ext uri="{FF2B5EF4-FFF2-40B4-BE49-F238E27FC236}">
                <a16:creationId xmlns:a16="http://schemas.microsoft.com/office/drawing/2014/main" id="{4958A960-D87E-4927-9BA6-77B73397F3D6}"/>
              </a:ext>
            </a:extLst>
          </p:cNvPr>
          <p:cNvSpPr>
            <a:spLocks xmlns:a="http://schemas.openxmlformats.org/drawingml/2006/main" noGrp="1"/>
          </p:cNvSpPr>
          <p:nvPr/>
        </p:nvSpPr>
        <p:spPr>
          <a:xfrm xmlns:a="http://schemas.openxmlformats.org/drawingml/2006/main">
            <a:off x="6724650" y="37147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DCE4F3"/>
                </a:solidFill>
                <a:latin typeface="Arial"/>
                <a:ea typeface="Arial"/>
                <a:cs typeface="Arial"/>
              </a:defRPr>
            </a:pPr>
            <a:r>
              <a:rPr sz="1050">
                <a:solidFill>
                  <a:srgbClr val="DCE4F3"/>
                </a:solidFill>
                <a:latin typeface="Arial"/>
                <a:ea typeface="Arial"/>
                <a:cs typeface="Arial"/>
              </a:rPr>
              <a:t>When the AI-summary switch is on, Local Ollama is reachable, and approved guidance plus a safe response are available, it creates Bengali explanation. Otherwise the Java deterministic engine displays an approved fallback.</a:t>
            </a:r>
          </a:p>
        </p:txBody>
      </p:sp>
      <p:sp>
        <p:nvSpPr>
          <p:cNvPr id="42" name="">
            <a:extLst xmlns:a="http://schemas.openxmlformats.org/drawingml/2006/main">
              <a:ext uri="{FF2B5EF4-FFF2-40B4-BE49-F238E27FC236}">
                <a16:creationId xmlns:a16="http://schemas.microsoft.com/office/drawing/2014/main" id="{7F900AB7-CFA4-4D97-B31E-70A4A42798A4}"/>
              </a:ext>
            </a:extLst>
          </p:cNvPr>
          <p:cNvSpPr>
            <a:spLocks xmlns:a="http://schemas.openxmlformats.org/drawingml/2006/main" noGrp="1"/>
          </p:cNvSpPr>
          <p:nvPr/>
        </p:nvSpPr>
        <p:spPr>
          <a:xfrm xmlns:a="http://schemas.openxmlformats.org/drawingml/2006/main">
            <a:off x="6724650" y="4457700"/>
            <a:ext cx="3429000" cy="361950"/>
          </a:xfrm>
          <a:prstGeom xmlns:a="http://schemas.openxmlformats.org/drawingml/2006/main" prst="roundRect">
            <a:avLst>
              <a:gd name="adj" fmla="val 21053"/>
            </a:avLst>
          </a:prstGeom>
          <a:solidFill xmlns:a="http://schemas.openxmlformats.org/drawingml/2006/main">
            <a:srgbClr val="DDF0EC"/>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3ACD40BB-60A2-4AE7-9B0C-6B944C96E76A}"/>
              </a:ext>
            </a:extLst>
          </p:cNvPr>
          <p:cNvSpPr>
            <a:spLocks xmlns:a="http://schemas.openxmlformats.org/drawingml/2006/main" noGrp="1"/>
          </p:cNvSpPr>
          <p:nvPr/>
        </p:nvSpPr>
        <p:spPr>
          <a:xfrm xmlns:a="http://schemas.openxmlformats.org/drawingml/2006/main">
            <a:off x="689610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37A7A"/>
                </a:solidFill>
                <a:latin typeface="Arial"/>
                <a:ea typeface="Arial"/>
                <a:cs typeface="Arial"/>
              </a:defRPr>
            </a:pPr>
            <a:r>
              <a:rPr sz="1050" b="1">
                <a:solidFill>
                  <a:srgbClr val="237A7A"/>
                </a:solidFill>
                <a:latin typeface="Arial"/>
                <a:ea typeface="Arial"/>
                <a:cs typeface="Arial"/>
              </a:rPr>
              <a:t>Explanation quality cannot affect the route</a:t>
            </a:r>
          </a:p>
        </p:txBody>
      </p:sp>
      <p:sp>
        <p:nvSpPr>
          <p:cNvPr id="44" name="">
            <a:extLst xmlns:a="http://schemas.openxmlformats.org/drawingml/2006/main">
              <a:ext uri="{FF2B5EF4-FFF2-40B4-BE49-F238E27FC236}">
                <a16:creationId xmlns:a16="http://schemas.microsoft.com/office/drawing/2014/main" id="{95C0C1DA-B5C2-4390-AB68-792B2986CE52}"/>
              </a:ext>
            </a:extLst>
          </p:cNvPr>
          <p:cNvSpPr>
            <a:spLocks xmlns:a="http://schemas.openxmlformats.org/drawingml/2006/main" noGrp="1"/>
          </p:cNvSpPr>
          <p:nvPr/>
        </p:nvSpPr>
        <p:spPr>
          <a:xfrm xmlns:a="http://schemas.openxmlformats.org/drawingml/2006/main">
            <a:off x="1924050" y="5619750"/>
            <a:ext cx="796290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DFD56FF-05A1-4330-9954-C674EB06502C}"/>
              </a:ext>
            </a:extLst>
          </p:cNvPr>
          <p:cNvSpPr>
            <a:spLocks xmlns:a="http://schemas.openxmlformats.org/drawingml/2006/main" noGrp="1"/>
          </p:cNvSpPr>
          <p:nvPr/>
        </p:nvSpPr>
        <p:spPr>
          <a:xfrm xmlns:a="http://schemas.openxmlformats.org/drawingml/2006/main">
            <a:off x="2209800" y="5772150"/>
            <a:ext cx="7391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00" b="1">
                <a:solidFill>
                  <a:srgbClr val="202A44"/>
                </a:solidFill>
                <a:latin typeface="Arial"/>
                <a:ea typeface="Arial"/>
                <a:cs typeface="Arial"/>
              </a:defRPr>
            </a:pPr>
            <a:r>
              <a:rPr sz="1200" b="1">
                <a:solidFill>
                  <a:srgbClr val="202A44"/>
                </a:solidFill>
                <a:latin typeface="Arial"/>
                <a:ea typeface="Arial"/>
                <a:cs typeface="Arial"/>
              </a:rPr>
              <a:t>Current MVP: no model-led diagnosis, treatment recommendations, or route selection.</a:t>
            </a:r>
          </a:p>
        </p:txBody>
      </p:sp>
      <p:sp>
        <p:nvSpPr>
          <p:cNvPr id="46" name="">
            <a:extLst xmlns:a="http://schemas.openxmlformats.org/drawingml/2006/main">
              <a:ext uri="{FF2B5EF4-FFF2-40B4-BE49-F238E27FC236}">
                <a16:creationId xmlns:a16="http://schemas.microsoft.com/office/drawing/2014/main" id="{8F4F230E-5061-4661-B6C9-297C59A14E27}"/>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6</a:t>
            </a:r>
          </a:p>
        </p:txBody>
      </p:sp>
    </p:spTree>
    <p:extLst>
      <p:ext uri="{BB962C8B-B14F-4D97-AF65-F5344CB8AC3E}">
        <p14:creationId xmlns:p14="http://schemas.microsoft.com/office/powerpoint/2010/main" val="7899640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9163915-E413-4F7D-BAEF-1133CECBF7B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F81911-0B08-4066-927F-CABB7503283D}"/>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EF8FCB23-97D4-4D30-8E44-3B7D0F0A838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AB9DB70B-D18A-4D7B-85E1-BEB5A02DF942}"/>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Future governed AI-agent scope</a:t>
            </a:r>
          </a:p>
        </p:txBody>
      </p:sp>
      <p:sp>
        <p:nvSpPr>
          <p:cNvPr id="5" name="">
            <a:extLst xmlns:a="http://schemas.openxmlformats.org/drawingml/2006/main">
              <a:ext uri="{FF2B5EF4-FFF2-40B4-BE49-F238E27FC236}">
                <a16:creationId xmlns:a16="http://schemas.microsoft.com/office/drawing/2014/main" id="{83E9DABF-7886-43AB-9568-EAA1C551CFEB}"/>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Future agents support administration under human review. They do not control safety routing.</a:t>
            </a:r>
          </a:p>
        </p:txBody>
      </p:sp>
      <p:sp>
        <p:nvSpPr>
          <p:cNvPr id="6" name="">
            <a:extLst xmlns:a="http://schemas.openxmlformats.org/drawingml/2006/main">
              <a:ext uri="{FF2B5EF4-FFF2-40B4-BE49-F238E27FC236}">
                <a16:creationId xmlns:a16="http://schemas.microsoft.com/office/drawing/2014/main" id="{F7DFC767-171C-4044-BCFA-91F61A4B923A}"/>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CCE1B46-0520-40C1-8634-F3C7F074ABE6}"/>
              </a:ext>
            </a:extLst>
          </p:cNvPr>
          <p:cNvSpPr>
            <a:spLocks xmlns:a="http://schemas.openxmlformats.org/drawingml/2006/main" noGrp="1"/>
          </p:cNvSpPr>
          <p:nvPr/>
        </p:nvSpPr>
        <p:spPr>
          <a:xfrm xmlns:a="http://schemas.openxmlformats.org/drawingml/2006/main">
            <a:off x="723900" y="2343150"/>
            <a:ext cx="10115550" cy="495300"/>
          </a:xfrm>
          <a:prstGeom xmlns:a="http://schemas.openxmlformats.org/drawingml/2006/main" prst="roundRect">
            <a:avLst>
              <a:gd name="adj" fmla="val 15385"/>
            </a:avLst>
          </a:prstGeom>
          <a:solidFill xmlns:a="http://schemas.openxmlformats.org/drawingml/2006/main">
            <a:srgbClr val="F9E4D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D816B0-33B0-47F1-B0D9-9BFA248F4D9F}"/>
              </a:ext>
            </a:extLst>
          </p:cNvPr>
          <p:cNvSpPr>
            <a:spLocks xmlns:a="http://schemas.openxmlformats.org/drawingml/2006/main" noGrp="1"/>
          </p:cNvSpPr>
          <p:nvPr/>
        </p:nvSpPr>
        <p:spPr>
          <a:xfrm xmlns:a="http://schemas.openxmlformats.org/drawingml/2006/main">
            <a:off x="990600" y="2495550"/>
            <a:ext cx="9582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Boundary: agents will not autonomously route users, diagnose conditions, prescribe treatment, or publish unverified information.</a:t>
            </a:r>
          </a:p>
        </p:txBody>
      </p:sp>
      <p:sp>
        <p:nvSpPr>
          <p:cNvPr id="9" name="">
            <a:extLst xmlns:a="http://schemas.openxmlformats.org/drawingml/2006/main">
              <a:ext uri="{FF2B5EF4-FFF2-40B4-BE49-F238E27FC236}">
                <a16:creationId xmlns:a16="http://schemas.microsoft.com/office/drawing/2014/main" id="{4446B95A-FF64-415E-8DE1-182FF4D024FF}"/>
              </a:ext>
            </a:extLst>
          </p:cNvPr>
          <p:cNvSpPr>
            <a:spLocks xmlns:a="http://schemas.openxmlformats.org/drawingml/2006/main" noGrp="1"/>
          </p:cNvSpPr>
          <p:nvPr/>
        </p:nvSpPr>
        <p:spPr>
          <a:xfrm xmlns:a="http://schemas.openxmlformats.org/drawingml/2006/main">
            <a:off x="723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0" name="">
            <a:extLst xmlns:a="http://schemas.openxmlformats.org/drawingml/2006/main">
              <a:ext uri="{FF2B5EF4-FFF2-40B4-BE49-F238E27FC236}">
                <a16:creationId xmlns:a16="http://schemas.microsoft.com/office/drawing/2014/main" id="{C9280428-4E3C-4ACE-9143-0482DEB1C4DD}"/>
              </a:ext>
            </a:extLst>
          </p:cNvPr>
          <p:cNvSpPr>
            <a:spLocks xmlns:a="http://schemas.openxmlformats.org/drawingml/2006/main" noGrp="1"/>
          </p:cNvSpPr>
          <p:nvPr/>
        </p:nvSpPr>
        <p:spPr>
          <a:xfrm xmlns:a="http://schemas.openxmlformats.org/drawingml/2006/main">
            <a:off x="723900" y="3238500"/>
            <a:ext cx="30480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499B3D-1ADA-46F1-8C12-2DF6BAED1F09}"/>
              </a:ext>
            </a:extLst>
          </p:cNvPr>
          <p:cNvSpPr>
            <a:spLocks xmlns:a="http://schemas.openxmlformats.org/drawingml/2006/main" noGrp="1"/>
          </p:cNvSpPr>
          <p:nvPr/>
        </p:nvSpPr>
        <p:spPr>
          <a:xfrm xmlns:a="http://schemas.openxmlformats.org/drawingml/2006/main">
            <a:off x="952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Service directory</a:t>
            </a:r>
          </a:p>
        </p:txBody>
      </p:sp>
      <p:sp>
        <p:nvSpPr>
          <p:cNvPr id="12" name="">
            <a:extLst xmlns:a="http://schemas.openxmlformats.org/drawingml/2006/main">
              <a:ext uri="{FF2B5EF4-FFF2-40B4-BE49-F238E27FC236}">
                <a16:creationId xmlns:a16="http://schemas.microsoft.com/office/drawing/2014/main" id="{FD62DE0A-50A7-44FF-9764-E83CF9A9D648}"/>
              </a:ext>
            </a:extLst>
          </p:cNvPr>
          <p:cNvSpPr>
            <a:spLocks xmlns:a="http://schemas.openxmlformats.org/drawingml/2006/main" noGrp="1"/>
          </p:cNvSpPr>
          <p:nvPr/>
        </p:nvSpPr>
        <p:spPr>
          <a:xfrm xmlns:a="http://schemas.openxmlformats.org/drawingml/2006/main">
            <a:off x="952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checks proposed updates</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for completeness</a:t>
            </a:r>
          </a:p>
        </p:txBody>
      </p:sp>
      <p:sp>
        <p:nvSpPr>
          <p:cNvPr id="13" name="">
            <a:extLst xmlns:a="http://schemas.openxmlformats.org/drawingml/2006/main">
              <a:ext uri="{FF2B5EF4-FFF2-40B4-BE49-F238E27FC236}">
                <a16:creationId xmlns:a16="http://schemas.microsoft.com/office/drawing/2014/main" id="{A1F992CF-498D-442E-A9F6-4B2FEA5DA368}"/>
              </a:ext>
            </a:extLst>
          </p:cNvPr>
          <p:cNvSpPr>
            <a:spLocks xmlns:a="http://schemas.openxmlformats.org/drawingml/2006/main" noGrp="1"/>
          </p:cNvSpPr>
          <p:nvPr/>
        </p:nvSpPr>
        <p:spPr>
          <a:xfrm xmlns:a="http://schemas.openxmlformats.org/drawingml/2006/main">
            <a:off x="952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Change owner: Vision centre or</a:t>
            </a:r>
          </a:p>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eye-clinic staff</a:t>
            </a:r>
          </a:p>
        </p:txBody>
      </p:sp>
      <p:sp>
        <p:nvSpPr>
          <p:cNvPr id="14" name="">
            <a:extLst xmlns:a="http://schemas.openxmlformats.org/drawingml/2006/main">
              <a:ext uri="{FF2B5EF4-FFF2-40B4-BE49-F238E27FC236}">
                <a16:creationId xmlns:a16="http://schemas.microsoft.com/office/drawing/2014/main" id="{369CDF04-183F-4545-90A5-DC27FD8C33BC}"/>
              </a:ext>
            </a:extLst>
          </p:cNvPr>
          <p:cNvSpPr>
            <a:spLocks xmlns:a="http://schemas.openxmlformats.org/drawingml/2006/main" noGrp="1"/>
          </p:cNvSpPr>
          <p:nvPr/>
        </p:nvSpPr>
        <p:spPr>
          <a:xfrm xmlns:a="http://schemas.openxmlformats.org/drawingml/2006/main">
            <a:off x="952500" y="49149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202A44"/>
                </a:solidFill>
                <a:latin typeface="Arial"/>
                <a:ea typeface="Arial"/>
                <a:cs typeface="Arial"/>
              </a:defRPr>
            </a:pPr>
            <a:r>
              <a:rPr sz="900" b="1">
                <a:solidFill>
                  <a:srgbClr val="202A44"/>
                </a:solidFill>
                <a:latin typeface="Arial"/>
                <a:ea typeface="Arial"/>
                <a:cs typeface="Arial"/>
              </a:rPr>
              <a:t>Publisher: Product and operations administrator</a:t>
            </a:r>
          </a:p>
        </p:txBody>
      </p:sp>
      <p:sp>
        <p:nvSpPr>
          <p:cNvPr id="15" name="">
            <a:extLst xmlns:a="http://schemas.openxmlformats.org/drawingml/2006/main">
              <a:ext uri="{FF2B5EF4-FFF2-40B4-BE49-F238E27FC236}">
                <a16:creationId xmlns:a16="http://schemas.microsoft.com/office/drawing/2014/main" id="{E5DED342-8BC9-44F3-A7D1-7E4B79BD7A69}"/>
              </a:ext>
            </a:extLst>
          </p:cNvPr>
          <p:cNvSpPr>
            <a:spLocks xmlns:a="http://schemas.openxmlformats.org/drawingml/2006/main" noGrp="1"/>
          </p:cNvSpPr>
          <p:nvPr/>
        </p:nvSpPr>
        <p:spPr>
          <a:xfrm xmlns:a="http://schemas.openxmlformats.org/drawingml/2006/main">
            <a:off x="4152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6" name="">
            <a:extLst xmlns:a="http://schemas.openxmlformats.org/drawingml/2006/main">
              <a:ext uri="{FF2B5EF4-FFF2-40B4-BE49-F238E27FC236}">
                <a16:creationId xmlns:a16="http://schemas.microsoft.com/office/drawing/2014/main" id="{913766C8-8BFF-463A-A09E-34C61EEAB715}"/>
              </a:ext>
            </a:extLst>
          </p:cNvPr>
          <p:cNvSpPr>
            <a:spLocks xmlns:a="http://schemas.openxmlformats.org/drawingml/2006/main" noGrp="1"/>
          </p:cNvSpPr>
          <p:nvPr/>
        </p:nvSpPr>
        <p:spPr>
          <a:xfrm xmlns:a="http://schemas.openxmlformats.org/drawingml/2006/main">
            <a:off x="4152900" y="3238500"/>
            <a:ext cx="30480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525D018-963A-4EDF-92FB-0C35D0A1BF8C}"/>
              </a:ext>
            </a:extLst>
          </p:cNvPr>
          <p:cNvSpPr>
            <a:spLocks xmlns:a="http://schemas.openxmlformats.org/drawingml/2006/main" noGrp="1"/>
          </p:cNvSpPr>
          <p:nvPr/>
        </p:nvSpPr>
        <p:spPr>
          <a:xfrm xmlns:a="http://schemas.openxmlformats.org/drawingml/2006/main">
            <a:off x="4381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Bengali content</a:t>
            </a:r>
          </a:p>
        </p:txBody>
      </p:sp>
      <p:sp>
        <p:nvSpPr>
          <p:cNvPr id="18" name="">
            <a:extLst xmlns:a="http://schemas.openxmlformats.org/drawingml/2006/main">
              <a:ext uri="{FF2B5EF4-FFF2-40B4-BE49-F238E27FC236}">
                <a16:creationId xmlns:a16="http://schemas.microsoft.com/office/drawing/2014/main" id="{EB8CA945-4699-47DB-9EB8-E0132FE76DA8}"/>
              </a:ext>
            </a:extLst>
          </p:cNvPr>
          <p:cNvSpPr>
            <a:spLocks xmlns:a="http://schemas.openxmlformats.org/drawingml/2006/main" noGrp="1"/>
          </p:cNvSpPr>
          <p:nvPr/>
        </p:nvSpPr>
        <p:spPr>
          <a:xfrm xmlns:a="http://schemas.openxmlformats.org/drawingml/2006/main">
            <a:off x="4381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prepares drafts from</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approved sources</a:t>
            </a:r>
          </a:p>
        </p:txBody>
      </p:sp>
      <p:sp>
        <p:nvSpPr>
          <p:cNvPr id="19" name="">
            <a:extLst xmlns:a="http://schemas.openxmlformats.org/drawingml/2006/main">
              <a:ext uri="{FF2B5EF4-FFF2-40B4-BE49-F238E27FC236}">
                <a16:creationId xmlns:a16="http://schemas.microsoft.com/office/drawing/2014/main" id="{4DABC403-0D22-475B-A773-F02ABD8EE337}"/>
              </a:ext>
            </a:extLst>
          </p:cNvPr>
          <p:cNvSpPr>
            <a:spLocks xmlns:a="http://schemas.openxmlformats.org/drawingml/2006/main" noGrp="1"/>
          </p:cNvSpPr>
          <p:nvPr/>
        </p:nvSpPr>
        <p:spPr>
          <a:xfrm xmlns:a="http://schemas.openxmlformats.org/drawingml/2006/main">
            <a:off x="4381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Approver: Clinical reviewer or</a:t>
            </a:r>
          </a:p>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content administrator</a:t>
            </a:r>
          </a:p>
        </p:txBody>
      </p:sp>
      <p:sp>
        <p:nvSpPr>
          <p:cNvPr id="20" name="">
            <a:extLst xmlns:a="http://schemas.openxmlformats.org/drawingml/2006/main">
              <a:ext uri="{FF2B5EF4-FFF2-40B4-BE49-F238E27FC236}">
                <a16:creationId xmlns:a16="http://schemas.microsoft.com/office/drawing/2014/main" id="{79E2C17B-2C68-44DB-984E-6B279253646D}"/>
              </a:ext>
            </a:extLst>
          </p:cNvPr>
          <p:cNvSpPr>
            <a:spLocks xmlns:a="http://schemas.openxmlformats.org/drawingml/2006/main" noGrp="1"/>
          </p:cNvSpPr>
          <p:nvPr/>
        </p:nvSpPr>
        <p:spPr>
          <a:xfrm xmlns:a="http://schemas.openxmlformats.org/drawingml/2006/main">
            <a:off x="7581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BA692FAF-CFBF-4EC6-A15F-2CA52441D46E}"/>
              </a:ext>
            </a:extLst>
          </p:cNvPr>
          <p:cNvSpPr>
            <a:spLocks xmlns:a="http://schemas.openxmlformats.org/drawingml/2006/main" noGrp="1"/>
          </p:cNvSpPr>
          <p:nvPr/>
        </p:nvSpPr>
        <p:spPr>
          <a:xfrm xmlns:a="http://schemas.openxmlformats.org/drawingml/2006/main">
            <a:off x="7581900" y="3238500"/>
            <a:ext cx="3048000" cy="9525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0BB36D7-7CD5-44AE-87FE-21BC4DBE98FC}"/>
              </a:ext>
            </a:extLst>
          </p:cNvPr>
          <p:cNvSpPr>
            <a:spLocks xmlns:a="http://schemas.openxmlformats.org/drawingml/2006/main" noGrp="1"/>
          </p:cNvSpPr>
          <p:nvPr/>
        </p:nvSpPr>
        <p:spPr>
          <a:xfrm xmlns:a="http://schemas.openxmlformats.org/drawingml/2006/main">
            <a:off x="7810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Content records</a:t>
            </a:r>
          </a:p>
        </p:txBody>
      </p:sp>
      <p:sp>
        <p:nvSpPr>
          <p:cNvPr id="23" name="">
            <a:extLst xmlns:a="http://schemas.openxmlformats.org/drawingml/2006/main">
              <a:ext uri="{FF2B5EF4-FFF2-40B4-BE49-F238E27FC236}">
                <a16:creationId xmlns:a16="http://schemas.microsoft.com/office/drawing/2014/main" id="{6853A022-D3C2-4663-9D8C-A21FD589491A}"/>
              </a:ext>
            </a:extLst>
          </p:cNvPr>
          <p:cNvSpPr>
            <a:spLocks xmlns:a="http://schemas.openxmlformats.org/drawingml/2006/main" noGrp="1"/>
          </p:cNvSpPr>
          <p:nvPr/>
        </p:nvSpPr>
        <p:spPr>
          <a:xfrm xmlns:a="http://schemas.openxmlformats.org/drawingml/2006/main">
            <a:off x="7810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assists with ownership</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and version records</a:t>
            </a:r>
          </a:p>
        </p:txBody>
      </p:sp>
      <p:sp>
        <p:nvSpPr>
          <p:cNvPr id="24" name="">
            <a:extLst xmlns:a="http://schemas.openxmlformats.org/drawingml/2006/main">
              <a:ext uri="{FF2B5EF4-FFF2-40B4-BE49-F238E27FC236}">
                <a16:creationId xmlns:a16="http://schemas.microsoft.com/office/drawing/2014/main" id="{A39006C5-91F7-4892-A992-3FB74A11C129}"/>
              </a:ext>
            </a:extLst>
          </p:cNvPr>
          <p:cNvSpPr>
            <a:spLocks xmlns:a="http://schemas.openxmlformats.org/drawingml/2006/main" noGrp="1"/>
          </p:cNvSpPr>
          <p:nvPr/>
        </p:nvSpPr>
        <p:spPr>
          <a:xfrm xmlns:a="http://schemas.openxmlformats.org/drawingml/2006/main">
            <a:off x="7810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Owner: Product and operations</a:t>
            </a:r>
          </a:p>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administrator</a:t>
            </a:r>
          </a:p>
        </p:txBody>
      </p:sp>
      <p:sp>
        <p:nvSpPr>
          <p:cNvPr id="25" name="">
            <a:extLst xmlns:a="http://schemas.openxmlformats.org/drawingml/2006/main">
              <a:ext uri="{FF2B5EF4-FFF2-40B4-BE49-F238E27FC236}">
                <a16:creationId xmlns:a16="http://schemas.microsoft.com/office/drawing/2014/main" id="{E40C2E33-4CAB-426E-B0B1-7EBD431637ED}"/>
              </a:ext>
            </a:extLst>
          </p:cNvPr>
          <p:cNvSpPr>
            <a:spLocks xmlns:a="http://schemas.openxmlformats.org/drawingml/2006/main" noGrp="1"/>
          </p:cNvSpPr>
          <p:nvPr/>
        </p:nvSpPr>
        <p:spPr>
          <a:xfrm xmlns:a="http://schemas.openxmlformats.org/drawingml/2006/main">
            <a:off x="876300" y="5362575"/>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Terms: service directory = local facility details, not patient records. Bengali content = reviewer-approved guidance. Content records = governance metadata: owner, source, version, approval, and change history.</a:t>
            </a:r>
          </a:p>
        </p:txBody>
      </p:sp>
      <p:sp>
        <p:nvSpPr>
          <p:cNvPr id="26" name="">
            <a:extLst xmlns:a="http://schemas.openxmlformats.org/drawingml/2006/main">
              <a:ext uri="{FF2B5EF4-FFF2-40B4-BE49-F238E27FC236}">
                <a16:creationId xmlns:a16="http://schemas.microsoft.com/office/drawing/2014/main" id="{93D3BAA3-7629-4ADC-B28D-B2E0A595ECBA}"/>
              </a:ext>
            </a:extLst>
          </p:cNvPr>
          <p:cNvSpPr>
            <a:spLocks xmlns:a="http://schemas.openxmlformats.org/drawingml/2006/main" noGrp="1"/>
          </p:cNvSpPr>
          <p:nvPr/>
        </p:nvSpPr>
        <p:spPr>
          <a:xfrm xmlns:a="http://schemas.openxmlformats.org/drawingml/2006/main">
            <a:off x="1581150" y="5848350"/>
            <a:ext cx="864870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DD1D4A2-08D2-4F95-9C2B-BCACF9B5AE5F}"/>
              </a:ext>
            </a:extLst>
          </p:cNvPr>
          <p:cNvSpPr>
            <a:spLocks xmlns:a="http://schemas.openxmlformats.org/drawingml/2006/main" noGrp="1"/>
          </p:cNvSpPr>
          <p:nvPr/>
        </p:nvSpPr>
        <p:spPr>
          <a:xfrm xmlns:a="http://schemas.openxmlformats.org/drawingml/2006/main">
            <a:off x="1866900" y="5972175"/>
            <a:ext cx="807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Future IVR is a non-AI telephony adapter: confirmed DTMF or speech codes go to the Java deterministic engine.</a:t>
            </a:r>
          </a:p>
        </p:txBody>
      </p:sp>
      <p:sp>
        <p:nvSpPr>
          <p:cNvPr id="28" name="">
            <a:extLst xmlns:a="http://schemas.openxmlformats.org/drawingml/2006/main">
              <a:ext uri="{FF2B5EF4-FFF2-40B4-BE49-F238E27FC236}">
                <a16:creationId xmlns:a16="http://schemas.microsoft.com/office/drawing/2014/main" id="{08425EE8-75E9-456A-8209-03E051E3C6F5}"/>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7</a:t>
            </a:r>
          </a:p>
        </p:txBody>
      </p:sp>
    </p:spTree>
    <p:extLst>
      <p:ext uri="{BB962C8B-B14F-4D97-AF65-F5344CB8AC3E}">
        <p14:creationId xmlns:p14="http://schemas.microsoft.com/office/powerpoint/2010/main" val="44400071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7EE41111-1A01-457C-8BB9-372EF804B5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9C4CA0-E817-49F4-ADDE-98A2596252F1}"/>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BF1E86B8-1AAD-499F-9147-4925CAD7DF4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1CCF11C5-4164-4CB8-BBA0-96ED19EBD617}"/>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Personas and pilot usage measures</a:t>
            </a:r>
          </a:p>
        </p:txBody>
      </p:sp>
      <p:sp>
        <p:nvSpPr>
          <p:cNvPr id="5" name="">
            <a:extLst xmlns:a="http://schemas.openxmlformats.org/drawingml/2006/main">
              <a:ext uri="{FF2B5EF4-FFF2-40B4-BE49-F238E27FC236}">
                <a16:creationId xmlns:a16="http://schemas.microsoft.com/office/drawing/2014/main" id="{66C891B4-D11F-435E-89BE-20431833087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Pilot measurement should show who uses the service, where demand occurs, and how the journey performs.</a:t>
            </a:r>
          </a:p>
        </p:txBody>
      </p:sp>
      <p:sp>
        <p:nvSpPr>
          <p:cNvPr id="6" name="">
            <a:extLst xmlns:a="http://schemas.openxmlformats.org/drawingml/2006/main">
              <a:ext uri="{FF2B5EF4-FFF2-40B4-BE49-F238E27FC236}">
                <a16:creationId xmlns:a16="http://schemas.microsoft.com/office/drawing/2014/main" id="{EFCAB98B-D850-4183-9C94-BC9D2C87BF4D}"/>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3D15E21-81CB-4D47-8BB5-81E98979501A}"/>
              </a:ext>
            </a:extLst>
          </p:cNvPr>
          <p:cNvSpPr>
            <a:spLocks xmlns:a="http://schemas.openxmlformats.org/drawingml/2006/main" noGrp="1"/>
          </p:cNvSpPr>
          <p:nvPr/>
        </p:nvSpPr>
        <p:spPr>
          <a:xfrm xmlns:a="http://schemas.openxmlformats.org/drawingml/2006/main">
            <a:off x="723900" y="2381250"/>
            <a:ext cx="476250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CB9E1EBD-15C4-48F8-96C3-7A7ACFD9EFA3}"/>
              </a:ext>
            </a:extLst>
          </p:cNvPr>
          <p:cNvSpPr>
            <a:spLocks xmlns:a="http://schemas.openxmlformats.org/drawingml/2006/main" noGrp="1"/>
          </p:cNvSpPr>
          <p:nvPr/>
        </p:nvSpPr>
        <p:spPr>
          <a:xfrm xmlns:a="http://schemas.openxmlformats.org/drawingml/2006/main">
            <a:off x="10287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APPLICATION PERSONAS</a:t>
            </a:r>
          </a:p>
        </p:txBody>
      </p:sp>
      <p:sp>
        <p:nvSpPr>
          <p:cNvPr id="9" name="">
            <a:extLst xmlns:a="http://schemas.openxmlformats.org/drawingml/2006/main">
              <a:ext uri="{FF2B5EF4-FFF2-40B4-BE49-F238E27FC236}">
                <a16:creationId xmlns:a16="http://schemas.microsoft.com/office/drawing/2014/main" id="{1FCBA14E-3FAF-4D95-AE42-DBD85A0F55D7}"/>
              </a:ext>
            </a:extLst>
          </p:cNvPr>
          <p:cNvSpPr>
            <a:spLocks xmlns:a="http://schemas.openxmlformats.org/drawingml/2006/main" noGrp="1"/>
          </p:cNvSpPr>
          <p:nvPr/>
        </p:nvSpPr>
        <p:spPr>
          <a:xfrm xmlns:a="http://schemas.openxmlformats.org/drawingml/2006/main">
            <a:off x="1028700" y="31242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F633CB1-E3DC-4406-BC15-2AB1F8DBEF71}"/>
              </a:ext>
            </a:extLst>
          </p:cNvPr>
          <p:cNvSpPr>
            <a:spLocks xmlns:a="http://schemas.openxmlformats.org/drawingml/2006/main" noGrp="1"/>
          </p:cNvSpPr>
          <p:nvPr/>
        </p:nvSpPr>
        <p:spPr>
          <a:xfrm xmlns:a="http://schemas.openxmlformats.org/drawingml/2006/main">
            <a:off x="1314450" y="30670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Community member</a:t>
            </a:r>
          </a:p>
        </p:txBody>
      </p:sp>
      <p:sp>
        <p:nvSpPr>
          <p:cNvPr id="11" name="">
            <a:extLst xmlns:a="http://schemas.openxmlformats.org/drawingml/2006/main">
              <a:ext uri="{FF2B5EF4-FFF2-40B4-BE49-F238E27FC236}">
                <a16:creationId xmlns:a16="http://schemas.microsoft.com/office/drawing/2014/main" id="{7BA24D27-0247-4713-A807-1D139EA2D5ED}"/>
              </a:ext>
            </a:extLst>
          </p:cNvPr>
          <p:cNvSpPr>
            <a:spLocks xmlns:a="http://schemas.openxmlformats.org/drawingml/2006/main" noGrp="1"/>
          </p:cNvSpPr>
          <p:nvPr/>
        </p:nvSpPr>
        <p:spPr>
          <a:xfrm xmlns:a="http://schemas.openxmlformats.org/drawingml/2006/main">
            <a:off x="1314450" y="32766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Bengali-language user seeking a safe next step</a:t>
            </a:r>
          </a:p>
        </p:txBody>
      </p:sp>
      <p:sp>
        <p:nvSpPr>
          <p:cNvPr id="12" name="">
            <a:extLst xmlns:a="http://schemas.openxmlformats.org/drawingml/2006/main">
              <a:ext uri="{FF2B5EF4-FFF2-40B4-BE49-F238E27FC236}">
                <a16:creationId xmlns:a16="http://schemas.microsoft.com/office/drawing/2014/main" id="{6D247565-2F56-406A-96D1-6673DDAD3B08}"/>
              </a:ext>
            </a:extLst>
          </p:cNvPr>
          <p:cNvSpPr>
            <a:spLocks xmlns:a="http://schemas.openxmlformats.org/drawingml/2006/main" noGrp="1"/>
          </p:cNvSpPr>
          <p:nvPr/>
        </p:nvSpPr>
        <p:spPr>
          <a:xfrm xmlns:a="http://schemas.openxmlformats.org/drawingml/2006/main">
            <a:off x="1028700" y="363855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AC1B8F-E7AD-439D-A890-C2211A8BECDF}"/>
              </a:ext>
            </a:extLst>
          </p:cNvPr>
          <p:cNvSpPr>
            <a:spLocks xmlns:a="http://schemas.openxmlformats.org/drawingml/2006/main" noGrp="1"/>
          </p:cNvSpPr>
          <p:nvPr/>
        </p:nvSpPr>
        <p:spPr>
          <a:xfrm xmlns:a="http://schemas.openxmlformats.org/drawingml/2006/main">
            <a:off x="1314450" y="35814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Support person</a:t>
            </a:r>
          </a:p>
        </p:txBody>
      </p:sp>
      <p:sp>
        <p:nvSpPr>
          <p:cNvPr id="14" name="">
            <a:extLst xmlns:a="http://schemas.openxmlformats.org/drawingml/2006/main">
              <a:ext uri="{FF2B5EF4-FFF2-40B4-BE49-F238E27FC236}">
                <a16:creationId xmlns:a16="http://schemas.microsoft.com/office/drawing/2014/main" id="{95519340-223A-4672-ACBF-DB1167C2A8F6}"/>
              </a:ext>
            </a:extLst>
          </p:cNvPr>
          <p:cNvSpPr>
            <a:spLocks xmlns:a="http://schemas.openxmlformats.org/drawingml/2006/main" noGrp="1"/>
          </p:cNvSpPr>
          <p:nvPr/>
        </p:nvSpPr>
        <p:spPr>
          <a:xfrm xmlns:a="http://schemas.openxmlformats.org/drawingml/2006/main">
            <a:off x="1314450" y="37909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ASHA worker or family helper supporting the journey</a:t>
            </a:r>
          </a:p>
        </p:txBody>
      </p:sp>
      <p:sp>
        <p:nvSpPr>
          <p:cNvPr id="15" name="">
            <a:extLst xmlns:a="http://schemas.openxmlformats.org/drawingml/2006/main">
              <a:ext uri="{FF2B5EF4-FFF2-40B4-BE49-F238E27FC236}">
                <a16:creationId xmlns:a16="http://schemas.microsoft.com/office/drawing/2014/main" id="{8FDFCCAE-8884-4738-BFAF-328AE1822EB9}"/>
              </a:ext>
            </a:extLst>
          </p:cNvPr>
          <p:cNvSpPr>
            <a:spLocks xmlns:a="http://schemas.openxmlformats.org/drawingml/2006/main" noGrp="1"/>
          </p:cNvSpPr>
          <p:nvPr/>
        </p:nvSpPr>
        <p:spPr>
          <a:xfrm xmlns:a="http://schemas.openxmlformats.org/drawingml/2006/main">
            <a:off x="1028700" y="41529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F2C45B3-DAE8-44F4-B73E-508C900E27C2}"/>
              </a:ext>
            </a:extLst>
          </p:cNvPr>
          <p:cNvSpPr>
            <a:spLocks xmlns:a="http://schemas.openxmlformats.org/drawingml/2006/main" noGrp="1"/>
          </p:cNvSpPr>
          <p:nvPr/>
        </p:nvSpPr>
        <p:spPr>
          <a:xfrm xmlns:a="http://schemas.openxmlformats.org/drawingml/2006/main">
            <a:off x="1314450" y="40957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Service staff</a:t>
            </a:r>
          </a:p>
        </p:txBody>
      </p:sp>
      <p:sp>
        <p:nvSpPr>
          <p:cNvPr id="17" name="">
            <a:extLst xmlns:a="http://schemas.openxmlformats.org/drawingml/2006/main">
              <a:ext uri="{FF2B5EF4-FFF2-40B4-BE49-F238E27FC236}">
                <a16:creationId xmlns:a16="http://schemas.microsoft.com/office/drawing/2014/main" id="{025C26B3-B242-4B00-B800-4469685178FF}"/>
              </a:ext>
            </a:extLst>
          </p:cNvPr>
          <p:cNvSpPr>
            <a:spLocks xmlns:a="http://schemas.openxmlformats.org/drawingml/2006/main" noGrp="1"/>
          </p:cNvSpPr>
          <p:nvPr/>
        </p:nvSpPr>
        <p:spPr>
          <a:xfrm xmlns:a="http://schemas.openxmlformats.org/drawingml/2006/main">
            <a:off x="1314450" y="4305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Vision centre or eye-clinic staff maintaining facility details</a:t>
            </a:r>
          </a:p>
        </p:txBody>
      </p:sp>
      <p:sp>
        <p:nvSpPr>
          <p:cNvPr id="18" name="">
            <a:extLst xmlns:a="http://schemas.openxmlformats.org/drawingml/2006/main">
              <a:ext uri="{FF2B5EF4-FFF2-40B4-BE49-F238E27FC236}">
                <a16:creationId xmlns:a16="http://schemas.microsoft.com/office/drawing/2014/main" id="{777B5F32-F28A-4B7A-91FB-256B98B157F9}"/>
              </a:ext>
            </a:extLst>
          </p:cNvPr>
          <p:cNvSpPr>
            <a:spLocks xmlns:a="http://schemas.openxmlformats.org/drawingml/2006/main" noGrp="1"/>
          </p:cNvSpPr>
          <p:nvPr/>
        </p:nvSpPr>
        <p:spPr>
          <a:xfrm xmlns:a="http://schemas.openxmlformats.org/drawingml/2006/main">
            <a:off x="1028700" y="466725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62D9B42-65BF-4FEA-A997-478C87DFAB36}"/>
              </a:ext>
            </a:extLst>
          </p:cNvPr>
          <p:cNvSpPr>
            <a:spLocks xmlns:a="http://schemas.openxmlformats.org/drawingml/2006/main" noGrp="1"/>
          </p:cNvSpPr>
          <p:nvPr/>
        </p:nvSpPr>
        <p:spPr>
          <a:xfrm xmlns:a="http://schemas.openxmlformats.org/drawingml/2006/main">
            <a:off x="1314450" y="46101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Clinical reviewer</a:t>
            </a:r>
          </a:p>
        </p:txBody>
      </p:sp>
      <p:sp>
        <p:nvSpPr>
          <p:cNvPr id="20" name="">
            <a:extLst xmlns:a="http://schemas.openxmlformats.org/drawingml/2006/main">
              <a:ext uri="{FF2B5EF4-FFF2-40B4-BE49-F238E27FC236}">
                <a16:creationId xmlns:a16="http://schemas.microsoft.com/office/drawing/2014/main" id="{FBFA244D-539D-4339-8A9D-CB4182C79CBE}"/>
              </a:ext>
            </a:extLst>
          </p:cNvPr>
          <p:cNvSpPr>
            <a:spLocks xmlns:a="http://schemas.openxmlformats.org/drawingml/2006/main" noGrp="1"/>
          </p:cNvSpPr>
          <p:nvPr/>
        </p:nvSpPr>
        <p:spPr>
          <a:xfrm xmlns:a="http://schemas.openxmlformats.org/drawingml/2006/main">
            <a:off x="1314450" y="48196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Approves criteria and Bengali guidance</a:t>
            </a:r>
          </a:p>
        </p:txBody>
      </p:sp>
      <p:sp>
        <p:nvSpPr>
          <p:cNvPr id="21" name="">
            <a:extLst xmlns:a="http://schemas.openxmlformats.org/drawingml/2006/main">
              <a:ext uri="{FF2B5EF4-FFF2-40B4-BE49-F238E27FC236}">
                <a16:creationId xmlns:a16="http://schemas.microsoft.com/office/drawing/2014/main" id="{AB75E30D-ED88-4AC6-9177-49D450C762A7}"/>
              </a:ext>
            </a:extLst>
          </p:cNvPr>
          <p:cNvSpPr>
            <a:spLocks xmlns:a="http://schemas.openxmlformats.org/drawingml/2006/main" noGrp="1"/>
          </p:cNvSpPr>
          <p:nvPr/>
        </p:nvSpPr>
        <p:spPr>
          <a:xfrm xmlns:a="http://schemas.openxmlformats.org/drawingml/2006/main">
            <a:off x="1028700" y="51816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DC89255-C0F8-49B2-9923-D1436BEE9515}"/>
              </a:ext>
            </a:extLst>
          </p:cNvPr>
          <p:cNvSpPr>
            <a:spLocks xmlns:a="http://schemas.openxmlformats.org/drawingml/2006/main" noGrp="1"/>
          </p:cNvSpPr>
          <p:nvPr/>
        </p:nvSpPr>
        <p:spPr>
          <a:xfrm xmlns:a="http://schemas.openxmlformats.org/drawingml/2006/main">
            <a:off x="1314450" y="51244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Operations administrator</a:t>
            </a:r>
          </a:p>
        </p:txBody>
      </p:sp>
      <p:sp>
        <p:nvSpPr>
          <p:cNvPr id="23" name="">
            <a:extLst xmlns:a="http://schemas.openxmlformats.org/drawingml/2006/main">
              <a:ext uri="{FF2B5EF4-FFF2-40B4-BE49-F238E27FC236}">
                <a16:creationId xmlns:a16="http://schemas.microsoft.com/office/drawing/2014/main" id="{8494D2DC-16F7-4198-905D-60081447227A}"/>
              </a:ext>
            </a:extLst>
          </p:cNvPr>
          <p:cNvSpPr>
            <a:spLocks xmlns:a="http://schemas.openxmlformats.org/drawingml/2006/main" noGrp="1"/>
          </p:cNvSpPr>
          <p:nvPr/>
        </p:nvSpPr>
        <p:spPr>
          <a:xfrm xmlns:a="http://schemas.openxmlformats.org/drawingml/2006/main">
            <a:off x="1314450" y="53340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Controls versions, publication, and releases</a:t>
            </a:r>
          </a:p>
        </p:txBody>
      </p:sp>
      <p:sp>
        <p:nvSpPr>
          <p:cNvPr id="24" name="">
            <a:extLst xmlns:a="http://schemas.openxmlformats.org/drawingml/2006/main">
              <a:ext uri="{FF2B5EF4-FFF2-40B4-BE49-F238E27FC236}">
                <a16:creationId xmlns:a16="http://schemas.microsoft.com/office/drawing/2014/main" id="{9B36D125-9F90-49EF-BC1E-E85620C817DE}"/>
              </a:ext>
            </a:extLst>
          </p:cNvPr>
          <p:cNvSpPr>
            <a:spLocks xmlns:a="http://schemas.openxmlformats.org/drawingml/2006/main" noGrp="1"/>
          </p:cNvSpPr>
          <p:nvPr/>
        </p:nvSpPr>
        <p:spPr>
          <a:xfrm xmlns:a="http://schemas.openxmlformats.org/drawingml/2006/main">
            <a:off x="6172200" y="2381250"/>
            <a:ext cx="466725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FA2DCD7E-B3FD-4826-A99C-EF92EB26B046}"/>
              </a:ext>
            </a:extLst>
          </p:cNvPr>
          <p:cNvSpPr>
            <a:spLocks xmlns:a="http://schemas.openxmlformats.org/drawingml/2006/main" noGrp="1"/>
          </p:cNvSpPr>
          <p:nvPr/>
        </p:nvSpPr>
        <p:spPr>
          <a:xfrm xmlns:a="http://schemas.openxmlformats.org/drawingml/2006/main">
            <a:off x="64770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PILOT USAGE MEASURES</a:t>
            </a:r>
          </a:p>
        </p:txBody>
      </p:sp>
      <p:sp>
        <p:nvSpPr>
          <p:cNvPr id="26" name="">
            <a:extLst xmlns:a="http://schemas.openxmlformats.org/drawingml/2006/main">
              <a:ext uri="{FF2B5EF4-FFF2-40B4-BE49-F238E27FC236}">
                <a16:creationId xmlns:a16="http://schemas.microsoft.com/office/drawing/2014/main" id="{F510C50C-DB4B-414A-AC46-E71487936FA3}"/>
              </a:ext>
            </a:extLst>
          </p:cNvPr>
          <p:cNvSpPr>
            <a:spLocks xmlns:a="http://schemas.openxmlformats.org/drawingml/2006/main" noGrp="1"/>
          </p:cNvSpPr>
          <p:nvPr/>
        </p:nvSpPr>
        <p:spPr>
          <a:xfrm xmlns:a="http://schemas.openxmlformats.org/drawingml/2006/main">
            <a:off x="6477000" y="31242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8EF0FA5-93C2-45AB-8399-7BE6D363C25B}"/>
              </a:ext>
            </a:extLst>
          </p:cNvPr>
          <p:cNvSpPr>
            <a:spLocks xmlns:a="http://schemas.openxmlformats.org/drawingml/2006/main" noGrp="1"/>
          </p:cNvSpPr>
          <p:nvPr/>
        </p:nvSpPr>
        <p:spPr>
          <a:xfrm xmlns:a="http://schemas.openxmlformats.org/drawingml/2006/main">
            <a:off x="6762750" y="30670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Location</a:t>
            </a:r>
          </a:p>
        </p:txBody>
      </p:sp>
      <p:sp>
        <p:nvSpPr>
          <p:cNvPr id="28" name="">
            <a:extLst xmlns:a="http://schemas.openxmlformats.org/drawingml/2006/main">
              <a:ext uri="{FF2B5EF4-FFF2-40B4-BE49-F238E27FC236}">
                <a16:creationId xmlns:a16="http://schemas.microsoft.com/office/drawing/2014/main" id="{19924067-0B2B-45FC-937B-91285D50B335}"/>
              </a:ext>
            </a:extLst>
          </p:cNvPr>
          <p:cNvSpPr>
            <a:spLocks xmlns:a="http://schemas.openxmlformats.org/drawingml/2006/main" noGrp="1"/>
          </p:cNvSpPr>
          <p:nvPr/>
        </p:nvSpPr>
        <p:spPr>
          <a:xfrm xmlns:a="http://schemas.openxmlformats.org/drawingml/2006/main">
            <a:off x="6762750" y="32766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Sessions by district, block, and town</a:t>
            </a:r>
          </a:p>
        </p:txBody>
      </p:sp>
      <p:sp>
        <p:nvSpPr>
          <p:cNvPr id="29" name="">
            <a:extLst xmlns:a="http://schemas.openxmlformats.org/drawingml/2006/main">
              <a:ext uri="{FF2B5EF4-FFF2-40B4-BE49-F238E27FC236}">
                <a16:creationId xmlns:a16="http://schemas.microsoft.com/office/drawing/2014/main" id="{60DAE377-237C-4730-B3C8-528EEAE548FE}"/>
              </a:ext>
            </a:extLst>
          </p:cNvPr>
          <p:cNvSpPr>
            <a:spLocks xmlns:a="http://schemas.openxmlformats.org/drawingml/2006/main" noGrp="1"/>
          </p:cNvSpPr>
          <p:nvPr/>
        </p:nvSpPr>
        <p:spPr>
          <a:xfrm xmlns:a="http://schemas.openxmlformats.org/drawingml/2006/main">
            <a:off x="6477000" y="36385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3BF63A8-1090-4F5A-8E60-13F4B212B06A}"/>
              </a:ext>
            </a:extLst>
          </p:cNvPr>
          <p:cNvSpPr>
            <a:spLocks xmlns:a="http://schemas.openxmlformats.org/drawingml/2006/main" noGrp="1"/>
          </p:cNvSpPr>
          <p:nvPr/>
        </p:nvSpPr>
        <p:spPr>
          <a:xfrm xmlns:a="http://schemas.openxmlformats.org/drawingml/2006/main">
            <a:off x="6762750" y="35814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Demand</a:t>
            </a:r>
          </a:p>
        </p:txBody>
      </p:sp>
      <p:sp>
        <p:nvSpPr>
          <p:cNvPr id="31" name="">
            <a:extLst xmlns:a="http://schemas.openxmlformats.org/drawingml/2006/main">
              <a:ext uri="{FF2B5EF4-FFF2-40B4-BE49-F238E27FC236}">
                <a16:creationId xmlns:a16="http://schemas.microsoft.com/office/drawing/2014/main" id="{91681D8E-593A-4A11-9192-06984D143510}"/>
              </a:ext>
            </a:extLst>
          </p:cNvPr>
          <p:cNvSpPr>
            <a:spLocks xmlns:a="http://schemas.openxmlformats.org/drawingml/2006/main" noGrp="1"/>
          </p:cNvSpPr>
          <p:nvPr/>
        </p:nvSpPr>
        <p:spPr>
          <a:xfrm xmlns:a="http://schemas.openxmlformats.org/drawingml/2006/main">
            <a:off x="6762750" y="37909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Time-of-day and day-of-week traffic</a:t>
            </a:r>
          </a:p>
        </p:txBody>
      </p:sp>
      <p:sp>
        <p:nvSpPr>
          <p:cNvPr id="32" name="">
            <a:extLst xmlns:a="http://schemas.openxmlformats.org/drawingml/2006/main">
              <a:ext uri="{FF2B5EF4-FFF2-40B4-BE49-F238E27FC236}">
                <a16:creationId xmlns:a16="http://schemas.microsoft.com/office/drawing/2014/main" id="{39F65F0B-7C58-42E4-A939-9F28AB3B4E44}"/>
              </a:ext>
            </a:extLst>
          </p:cNvPr>
          <p:cNvSpPr>
            <a:spLocks xmlns:a="http://schemas.openxmlformats.org/drawingml/2006/main" noGrp="1"/>
          </p:cNvSpPr>
          <p:nvPr/>
        </p:nvSpPr>
        <p:spPr>
          <a:xfrm xmlns:a="http://schemas.openxmlformats.org/drawingml/2006/main">
            <a:off x="6477000" y="415290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A689CBA0-05F7-4B62-8C98-AB48F55284A3}"/>
              </a:ext>
            </a:extLst>
          </p:cNvPr>
          <p:cNvSpPr>
            <a:spLocks xmlns:a="http://schemas.openxmlformats.org/drawingml/2006/main" noGrp="1"/>
          </p:cNvSpPr>
          <p:nvPr/>
        </p:nvSpPr>
        <p:spPr>
          <a:xfrm xmlns:a="http://schemas.openxmlformats.org/drawingml/2006/main">
            <a:off x="6762750" y="4095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Route mix</a:t>
            </a:r>
          </a:p>
        </p:txBody>
      </p:sp>
      <p:sp>
        <p:nvSpPr>
          <p:cNvPr id="34" name="">
            <a:extLst xmlns:a="http://schemas.openxmlformats.org/drawingml/2006/main">
              <a:ext uri="{FF2B5EF4-FFF2-40B4-BE49-F238E27FC236}">
                <a16:creationId xmlns:a16="http://schemas.microsoft.com/office/drawing/2014/main" id="{B295720D-E1A5-48ED-B794-BDCE23220A7C}"/>
              </a:ext>
            </a:extLst>
          </p:cNvPr>
          <p:cNvSpPr>
            <a:spLocks xmlns:a="http://schemas.openxmlformats.org/drawingml/2006/main" noGrp="1"/>
          </p:cNvSpPr>
          <p:nvPr/>
        </p:nvSpPr>
        <p:spPr>
          <a:xfrm xmlns:a="http://schemas.openxmlformats.org/drawingml/2006/main">
            <a:off x="6762750" y="43053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Urgent, routine, and human-support outcomes</a:t>
            </a:r>
          </a:p>
        </p:txBody>
      </p:sp>
      <p:sp>
        <p:nvSpPr>
          <p:cNvPr id="35" name="">
            <a:extLst xmlns:a="http://schemas.openxmlformats.org/drawingml/2006/main">
              <a:ext uri="{FF2B5EF4-FFF2-40B4-BE49-F238E27FC236}">
                <a16:creationId xmlns:a16="http://schemas.microsoft.com/office/drawing/2014/main" id="{928D3B5D-B42F-49FC-ACDF-1D89E75C7000}"/>
              </a:ext>
            </a:extLst>
          </p:cNvPr>
          <p:cNvSpPr>
            <a:spLocks xmlns:a="http://schemas.openxmlformats.org/drawingml/2006/main" noGrp="1"/>
          </p:cNvSpPr>
          <p:nvPr/>
        </p:nvSpPr>
        <p:spPr>
          <a:xfrm xmlns:a="http://schemas.openxmlformats.org/drawingml/2006/main">
            <a:off x="6477000" y="46672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A16F1DD-0ABD-4AAD-A0F9-0E33589F1B03}"/>
              </a:ext>
            </a:extLst>
          </p:cNvPr>
          <p:cNvSpPr>
            <a:spLocks xmlns:a="http://schemas.openxmlformats.org/drawingml/2006/main" noGrp="1"/>
          </p:cNvSpPr>
          <p:nvPr/>
        </p:nvSpPr>
        <p:spPr>
          <a:xfrm xmlns:a="http://schemas.openxmlformats.org/drawingml/2006/main">
            <a:off x="6762750" y="46101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Access mode</a:t>
            </a:r>
          </a:p>
        </p:txBody>
      </p:sp>
      <p:sp>
        <p:nvSpPr>
          <p:cNvPr id="37" name="">
            <a:extLst xmlns:a="http://schemas.openxmlformats.org/drawingml/2006/main">
              <a:ext uri="{FF2B5EF4-FFF2-40B4-BE49-F238E27FC236}">
                <a16:creationId xmlns:a16="http://schemas.microsoft.com/office/drawing/2014/main" id="{A53A172C-C15A-464A-A8FD-A9241F83F234}"/>
              </a:ext>
            </a:extLst>
          </p:cNvPr>
          <p:cNvSpPr>
            <a:spLocks xmlns:a="http://schemas.openxmlformats.org/drawingml/2006/main" noGrp="1"/>
          </p:cNvSpPr>
          <p:nvPr/>
        </p:nvSpPr>
        <p:spPr>
          <a:xfrm xmlns:a="http://schemas.openxmlformats.org/drawingml/2006/main">
            <a:off x="6762750" y="48196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Voice versus text completion rate</a:t>
            </a:r>
          </a:p>
        </p:txBody>
      </p:sp>
      <p:sp>
        <p:nvSpPr>
          <p:cNvPr id="38" name="">
            <a:extLst xmlns:a="http://schemas.openxmlformats.org/drawingml/2006/main">
              <a:ext uri="{FF2B5EF4-FFF2-40B4-BE49-F238E27FC236}">
                <a16:creationId xmlns:a16="http://schemas.microsoft.com/office/drawing/2014/main" id="{EAD36CA5-35BC-4621-BC15-029309A35A99}"/>
              </a:ext>
            </a:extLst>
          </p:cNvPr>
          <p:cNvSpPr>
            <a:spLocks xmlns:a="http://schemas.openxmlformats.org/drawingml/2006/main" noGrp="1"/>
          </p:cNvSpPr>
          <p:nvPr/>
        </p:nvSpPr>
        <p:spPr>
          <a:xfrm xmlns:a="http://schemas.openxmlformats.org/drawingml/2006/main">
            <a:off x="6477000" y="51816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D849AC9-AC83-48C1-85C7-27A5773B5F86}"/>
              </a:ext>
            </a:extLst>
          </p:cNvPr>
          <p:cNvSpPr>
            <a:spLocks xmlns:a="http://schemas.openxmlformats.org/drawingml/2006/main" noGrp="1"/>
          </p:cNvSpPr>
          <p:nvPr/>
        </p:nvSpPr>
        <p:spPr>
          <a:xfrm xmlns:a="http://schemas.openxmlformats.org/drawingml/2006/main">
            <a:off x="6762750" y="5124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Experience</a:t>
            </a:r>
          </a:p>
        </p:txBody>
      </p:sp>
      <p:sp>
        <p:nvSpPr>
          <p:cNvPr id="40" name="">
            <a:extLst xmlns:a="http://schemas.openxmlformats.org/drawingml/2006/main">
              <a:ext uri="{FF2B5EF4-FFF2-40B4-BE49-F238E27FC236}">
                <a16:creationId xmlns:a16="http://schemas.microsoft.com/office/drawing/2014/main" id="{98F65563-767D-47B9-BCAF-780221EF1CAF}"/>
              </a:ext>
            </a:extLst>
          </p:cNvPr>
          <p:cNvSpPr>
            <a:spLocks xmlns:a="http://schemas.openxmlformats.org/drawingml/2006/main" noGrp="1"/>
          </p:cNvSpPr>
          <p:nvPr/>
        </p:nvSpPr>
        <p:spPr>
          <a:xfrm xmlns:a="http://schemas.openxmlformats.org/drawingml/2006/main">
            <a:off x="6762750" y="53340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latency and approved fallback rate</a:t>
            </a:r>
          </a:p>
        </p:txBody>
      </p:sp>
      <p:sp>
        <p:nvSpPr>
          <p:cNvPr id="41" name="">
            <a:extLst xmlns:a="http://schemas.openxmlformats.org/drawingml/2006/main">
              <a:ext uri="{FF2B5EF4-FFF2-40B4-BE49-F238E27FC236}">
                <a16:creationId xmlns:a16="http://schemas.microsoft.com/office/drawing/2014/main" id="{3A132019-833E-48E3-99AF-BD0CC856FA51}"/>
              </a:ext>
            </a:extLst>
          </p:cNvPr>
          <p:cNvSpPr>
            <a:spLocks xmlns:a="http://schemas.openxmlformats.org/drawingml/2006/main" noGrp="1"/>
          </p:cNvSpPr>
          <p:nvPr/>
        </p:nvSpPr>
        <p:spPr>
          <a:xfrm xmlns:a="http://schemas.openxmlformats.org/drawingml/2006/main">
            <a:off x="1924050" y="6153150"/>
            <a:ext cx="7962900" cy="323850"/>
          </a:xfrm>
          <a:prstGeom xmlns:a="http://schemas.openxmlformats.org/drawingml/2006/main" prst="roundRect">
            <a:avLst>
              <a:gd name="adj" fmla="val 23529"/>
            </a:avLst>
          </a:prstGeom>
          <a:solidFill xmlns:a="http://schemas.openxmlformats.org/drawingml/2006/main">
            <a:srgbClr val="E9E7F5"/>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6BE6284-7402-41D7-8948-064DCF5AC7FE}"/>
              </a:ext>
            </a:extLst>
          </p:cNvPr>
          <p:cNvSpPr>
            <a:spLocks xmlns:a="http://schemas.openxmlformats.org/drawingml/2006/main" noGrp="1"/>
          </p:cNvSpPr>
          <p:nvPr/>
        </p:nvSpPr>
        <p:spPr>
          <a:xfrm xmlns:a="http://schemas.openxmlformats.org/drawingml/2006/main">
            <a:off x="2209800" y="6238875"/>
            <a:ext cx="7391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These are proposed pilot measures. The current MVP has no production usage baseline.</a:t>
            </a:r>
          </a:p>
        </p:txBody>
      </p:sp>
      <p:sp>
        <p:nvSpPr>
          <p:cNvPr id="43" name="">
            <a:extLst xmlns:a="http://schemas.openxmlformats.org/drawingml/2006/main">
              <a:ext uri="{FF2B5EF4-FFF2-40B4-BE49-F238E27FC236}">
                <a16:creationId xmlns:a16="http://schemas.microsoft.com/office/drawing/2014/main" id="{16F71565-B604-42C8-BDDB-0DAFEF79DFD1}"/>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8</a:t>
            </a:r>
          </a:p>
        </p:txBody>
      </p:sp>
    </p:spTree>
    <p:extLst>
      <p:ext uri="{BB962C8B-B14F-4D97-AF65-F5344CB8AC3E}">
        <p14:creationId xmlns:p14="http://schemas.microsoft.com/office/powerpoint/2010/main" val="131368818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5DDBA9E-910D-46DB-8E96-971B03EBE6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02296C-1DC4-4CE2-9BED-AA2D89EA8EB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A81ED94E-F458-477C-A0ED-6DFD5FA1CF5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73907B26-2DC6-4E6E-903F-62D5074E2DB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Production data lifecycle</a:t>
            </a:r>
          </a:p>
        </p:txBody>
      </p:sp>
      <p:sp>
        <p:nvSpPr>
          <p:cNvPr id="5" name="">
            <a:extLst xmlns:a="http://schemas.openxmlformats.org/drawingml/2006/main">
              <a:ext uri="{FF2B5EF4-FFF2-40B4-BE49-F238E27FC236}">
                <a16:creationId xmlns:a16="http://schemas.microsoft.com/office/drawing/2014/main" id="{C16FAAA9-AB02-4A93-8A0A-1D65588FAEB1}"/>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Approved clinical sources become versioned routing criteria and guidance before the application can use them.</a:t>
            </a:r>
          </a:p>
        </p:txBody>
      </p:sp>
      <p:sp>
        <p:nvSpPr>
          <p:cNvPr id="6" name="">
            <a:extLst xmlns:a="http://schemas.openxmlformats.org/drawingml/2006/main">
              <a:ext uri="{FF2B5EF4-FFF2-40B4-BE49-F238E27FC236}">
                <a16:creationId xmlns:a16="http://schemas.microsoft.com/office/drawing/2014/main" id="{900D629A-11A3-4DF9-8AB5-440D2C6371F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A498DA5-1195-480B-B8BD-CC463F1CB1B2}"/>
              </a:ext>
            </a:extLst>
          </p:cNvPr>
          <p:cNvSpPr>
            <a:spLocks xmlns:a="http://schemas.openxmlformats.org/drawingml/2006/main" noGrp="1"/>
          </p:cNvSpPr>
          <p:nvPr/>
        </p:nvSpPr>
        <p:spPr>
          <a:xfrm xmlns:a="http://schemas.openxmlformats.org/drawingml/2006/main">
            <a:off x="952500" y="2419350"/>
            <a:ext cx="2000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DATA COMPONENT</a:t>
            </a:r>
          </a:p>
        </p:txBody>
      </p:sp>
      <p:sp>
        <p:nvSpPr>
          <p:cNvPr id="8" name="">
            <a:extLst xmlns:a="http://schemas.openxmlformats.org/drawingml/2006/main">
              <a:ext uri="{FF2B5EF4-FFF2-40B4-BE49-F238E27FC236}">
                <a16:creationId xmlns:a16="http://schemas.microsoft.com/office/drawing/2014/main" id="{2F6B6794-6C08-4728-90D6-B94EC9CB845A}"/>
              </a:ext>
            </a:extLst>
          </p:cNvPr>
          <p:cNvSpPr>
            <a:spLocks xmlns:a="http://schemas.openxmlformats.org/drawingml/2006/main" noGrp="1"/>
          </p:cNvSpPr>
          <p:nvPr/>
        </p:nvSpPr>
        <p:spPr>
          <a:xfrm xmlns:a="http://schemas.openxmlformats.org/drawingml/2006/main">
            <a:off x="4095750" y="2419350"/>
            <a:ext cx="171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RUNTIME USE</a:t>
            </a:r>
          </a:p>
        </p:txBody>
      </p:sp>
      <p:sp>
        <p:nvSpPr>
          <p:cNvPr id="9" name="">
            <a:extLst xmlns:a="http://schemas.openxmlformats.org/drawingml/2006/main">
              <a:ext uri="{FF2B5EF4-FFF2-40B4-BE49-F238E27FC236}">
                <a16:creationId xmlns:a16="http://schemas.microsoft.com/office/drawing/2014/main" id="{A674635C-8176-4CC9-B931-82DD2EE06FEF}"/>
              </a:ext>
            </a:extLst>
          </p:cNvPr>
          <p:cNvSpPr>
            <a:spLocks xmlns:a="http://schemas.openxmlformats.org/drawingml/2006/main" noGrp="1"/>
          </p:cNvSpPr>
          <p:nvPr/>
        </p:nvSpPr>
        <p:spPr>
          <a:xfrm xmlns:a="http://schemas.openxmlformats.org/drawingml/2006/main">
            <a:off x="6667500" y="2419350"/>
            <a:ext cx="3714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CLINICAL REVIEW AND SOURCE MATERIAL</a:t>
            </a:r>
          </a:p>
        </p:txBody>
      </p:sp>
      <p:sp>
        <p:nvSpPr>
          <p:cNvPr id="10" name="">
            <a:extLst xmlns:a="http://schemas.openxmlformats.org/drawingml/2006/main">
              <a:ext uri="{FF2B5EF4-FFF2-40B4-BE49-F238E27FC236}">
                <a16:creationId xmlns:a16="http://schemas.microsoft.com/office/drawing/2014/main" id="{4354514F-C7D9-4406-BC48-A6E0B2E898A1}"/>
              </a:ext>
            </a:extLst>
          </p:cNvPr>
          <p:cNvSpPr>
            <a:spLocks xmlns:a="http://schemas.openxmlformats.org/drawingml/2006/main" noGrp="1"/>
          </p:cNvSpPr>
          <p:nvPr/>
        </p:nvSpPr>
        <p:spPr>
          <a:xfrm xmlns:a="http://schemas.openxmlformats.org/drawingml/2006/main">
            <a:off x="723900" y="2686050"/>
            <a:ext cx="101155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7D0C7"/>
            </a:solidFill>
          </a:ln>
        </p:spPr>
      </p:sp>
      <p:sp>
        <p:nvSpPr>
          <p:cNvPr id="11" name="">
            <a:extLst xmlns:a="http://schemas.openxmlformats.org/drawingml/2006/main">
              <a:ext uri="{FF2B5EF4-FFF2-40B4-BE49-F238E27FC236}">
                <a16:creationId xmlns:a16="http://schemas.microsoft.com/office/drawing/2014/main" id="{06B40CF4-7828-44E3-A9D6-775F83082889}"/>
              </a:ext>
            </a:extLst>
          </p:cNvPr>
          <p:cNvSpPr>
            <a:spLocks xmlns:a="http://schemas.openxmlformats.org/drawingml/2006/main" noGrp="1"/>
          </p:cNvSpPr>
          <p:nvPr/>
        </p:nvSpPr>
        <p:spPr>
          <a:xfrm xmlns:a="http://schemas.openxmlformats.org/drawingml/2006/main">
            <a:off x="952500" y="303847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Pathways and routing criteria</a:t>
            </a:r>
          </a:p>
        </p:txBody>
      </p:sp>
      <p:sp>
        <p:nvSpPr>
          <p:cNvPr id="12" name="">
            <a:extLst xmlns:a="http://schemas.openxmlformats.org/drawingml/2006/main">
              <a:ext uri="{FF2B5EF4-FFF2-40B4-BE49-F238E27FC236}">
                <a16:creationId xmlns:a16="http://schemas.microsoft.com/office/drawing/2014/main" id="{21ABAF64-963C-42A8-B535-D80711987444}"/>
              </a:ext>
            </a:extLst>
          </p:cNvPr>
          <p:cNvSpPr>
            <a:spLocks xmlns:a="http://schemas.openxmlformats.org/drawingml/2006/main" noGrp="1"/>
          </p:cNvSpPr>
          <p:nvPr/>
        </p:nvSpPr>
        <p:spPr>
          <a:xfrm xmlns:a="http://schemas.openxmlformats.org/drawingml/2006/main">
            <a:off x="4095750" y="295275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Java deterministic engine</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selects the route</a:t>
            </a:r>
          </a:p>
        </p:txBody>
      </p:sp>
      <p:sp>
        <p:nvSpPr>
          <p:cNvPr id="13" name="">
            <a:extLst xmlns:a="http://schemas.openxmlformats.org/drawingml/2006/main">
              <a:ext uri="{FF2B5EF4-FFF2-40B4-BE49-F238E27FC236}">
                <a16:creationId xmlns:a16="http://schemas.microsoft.com/office/drawing/2014/main" id="{8F9395AC-F887-4E63-BEAA-02C26564DFE6}"/>
              </a:ext>
            </a:extLst>
          </p:cNvPr>
          <p:cNvSpPr>
            <a:spLocks xmlns:a="http://schemas.openxmlformats.org/drawingml/2006/main" noGrp="1"/>
          </p:cNvSpPr>
          <p:nvPr/>
        </p:nvSpPr>
        <p:spPr>
          <a:xfrm xmlns:a="http://schemas.openxmlformats.org/drawingml/2006/main">
            <a:off x="6667500" y="2867025"/>
            <a:ext cx="3905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signs off precedence and scenario tests.</a:t>
            </a:r>
          </a:p>
        </p:txBody>
      </p:sp>
      <p:sp>
        <p:nvSpPr>
          <p:cNvPr id="14" name="">
            <a:extLst xmlns:a="http://schemas.openxmlformats.org/drawingml/2006/main">
              <a:ext uri="{FF2B5EF4-FFF2-40B4-BE49-F238E27FC236}">
                <a16:creationId xmlns:a16="http://schemas.microsoft.com/office/drawing/2014/main" id="{7BC04F82-FEC8-468F-AAC1-A9EEBB27164D}"/>
              </a:ext>
            </a:extLst>
          </p:cNvPr>
          <p:cNvSpPr>
            <a:spLocks xmlns:a="http://schemas.openxmlformats.org/drawingml/2006/main" noGrp="1"/>
          </p:cNvSpPr>
          <p:nvPr/>
        </p:nvSpPr>
        <p:spPr>
          <a:xfrm xmlns:a="http://schemas.openxmlformats.org/drawingml/2006/main">
            <a:off x="6667500" y="3105150"/>
            <a:ext cx="3905250" cy="400050"/>
          </a:xfrm>
          <a:prstGeom xmlns:a="http://schemas.openxmlformats.org/drawingml/2006/main" prst="roundRect">
            <a:avLst>
              <a:gd name="adj" fmla="val 19048"/>
            </a:avLst>
          </a:prstGeom>
          <a:solidFill xmlns:a="http://schemas.openxmlformats.org/drawingml/2006/main">
            <a:srgbClr val="E9E7F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49247BA-1DEA-4919-9C7D-32DEB20876B1}"/>
              </a:ext>
            </a:extLst>
          </p:cNvPr>
          <p:cNvSpPr>
            <a:spLocks xmlns:a="http://schemas.openxmlformats.org/drawingml/2006/main" noGrp="1"/>
          </p:cNvSpPr>
          <p:nvPr/>
        </p:nvSpPr>
        <p:spPr>
          <a:xfrm xmlns:a="http://schemas.openxmlformats.org/drawingml/2006/main">
            <a:off x="6819900" y="3152775"/>
            <a:ext cx="3600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SOURCE MATERIAL</a:t>
            </a:r>
          </a:p>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WHO VESIH · WHO PECI · WHO Eye Care in Health Systems · India DGHS / NPCBVI</a:t>
            </a:r>
          </a:p>
        </p:txBody>
      </p:sp>
      <p:sp>
        <p:nvSpPr>
          <p:cNvPr id="16" name="">
            <a:extLst xmlns:a="http://schemas.openxmlformats.org/drawingml/2006/main">
              <a:ext uri="{FF2B5EF4-FFF2-40B4-BE49-F238E27FC236}">
                <a16:creationId xmlns:a16="http://schemas.microsoft.com/office/drawing/2014/main" id="{6D92495F-497F-4E7C-9034-B84DB4063F87}"/>
              </a:ext>
            </a:extLst>
          </p:cNvPr>
          <p:cNvSpPr>
            <a:spLocks xmlns:a="http://schemas.openxmlformats.org/drawingml/2006/main" noGrp="1"/>
          </p:cNvSpPr>
          <p:nvPr/>
        </p:nvSpPr>
        <p:spPr>
          <a:xfrm xmlns:a="http://schemas.openxmlformats.org/drawingml/2006/main">
            <a:off x="723900" y="38100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A51EF4B3-E03D-4268-B63F-1BF6E9E3A2FF}"/>
              </a:ext>
            </a:extLst>
          </p:cNvPr>
          <p:cNvSpPr>
            <a:spLocks xmlns:a="http://schemas.openxmlformats.org/drawingml/2006/main" noGrp="1"/>
          </p:cNvSpPr>
          <p:nvPr/>
        </p:nvSpPr>
        <p:spPr>
          <a:xfrm xmlns:a="http://schemas.openxmlformats.org/drawingml/2006/main">
            <a:off x="952500" y="39814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Guidance and source links</a:t>
            </a:r>
          </a:p>
        </p:txBody>
      </p:sp>
      <p:sp>
        <p:nvSpPr>
          <p:cNvPr id="18" name="">
            <a:extLst xmlns:a="http://schemas.openxmlformats.org/drawingml/2006/main">
              <a:ext uri="{FF2B5EF4-FFF2-40B4-BE49-F238E27FC236}">
                <a16:creationId xmlns:a16="http://schemas.microsoft.com/office/drawing/2014/main" id="{65135081-F042-4314-9629-5D1C67DECAE1}"/>
              </a:ext>
            </a:extLst>
          </p:cNvPr>
          <p:cNvSpPr>
            <a:spLocks xmlns:a="http://schemas.openxmlformats.org/drawingml/2006/main" noGrp="1"/>
          </p:cNvSpPr>
          <p:nvPr/>
        </p:nvSpPr>
        <p:spPr>
          <a:xfrm xmlns:a="http://schemas.openxmlformats.org/drawingml/2006/main">
            <a:off x="4095750" y="39338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PostgreSQL RAG retrieves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approved guidance</a:t>
            </a:r>
          </a:p>
        </p:txBody>
      </p:sp>
      <p:sp>
        <p:nvSpPr>
          <p:cNvPr id="19" name="">
            <a:extLst xmlns:a="http://schemas.openxmlformats.org/drawingml/2006/main">
              <a:ext uri="{FF2B5EF4-FFF2-40B4-BE49-F238E27FC236}">
                <a16:creationId xmlns:a16="http://schemas.microsoft.com/office/drawing/2014/main" id="{E9F2BDE6-737E-48AB-8D0D-FFBDDAF099E8}"/>
              </a:ext>
            </a:extLst>
          </p:cNvPr>
          <p:cNvSpPr>
            <a:spLocks xmlns:a="http://schemas.openxmlformats.org/drawingml/2006/main" noGrp="1"/>
          </p:cNvSpPr>
          <p:nvPr/>
        </p:nvSpPr>
        <p:spPr>
          <a:xfrm xmlns:a="http://schemas.openxmlformats.org/drawingml/2006/main">
            <a:off x="6667500" y="39243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approves Bengali guidance and sources; version is retained before publication.</a:t>
            </a:r>
          </a:p>
        </p:txBody>
      </p:sp>
      <p:sp>
        <p:nvSpPr>
          <p:cNvPr id="20" name="">
            <a:extLst xmlns:a="http://schemas.openxmlformats.org/drawingml/2006/main">
              <a:ext uri="{FF2B5EF4-FFF2-40B4-BE49-F238E27FC236}">
                <a16:creationId xmlns:a16="http://schemas.microsoft.com/office/drawing/2014/main" id="{A3855535-E3D4-4BC7-94BE-875B3F169AC5}"/>
              </a:ext>
            </a:extLst>
          </p:cNvPr>
          <p:cNvSpPr>
            <a:spLocks xmlns:a="http://schemas.openxmlformats.org/drawingml/2006/main" noGrp="1"/>
          </p:cNvSpPr>
          <p:nvPr/>
        </p:nvSpPr>
        <p:spPr>
          <a:xfrm xmlns:a="http://schemas.openxmlformats.org/drawingml/2006/main">
            <a:off x="723900" y="4438650"/>
            <a:ext cx="10115550" cy="571500"/>
          </a:xfrm>
          <a:prstGeom xmlns:a="http://schemas.openxmlformats.org/drawingml/2006/main" prst="roundRect">
            <a:avLst>
              <a:gd name="adj" fmla="val 13333"/>
            </a:avLst>
          </a:prstGeom>
          <a:solidFill xmlns:a="http://schemas.openxmlformats.org/drawingml/2006/main">
            <a:srgbClr val="F7F4EE"/>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D5086B73-459C-4FD8-9AE4-4F0C87AC1E8E}"/>
              </a:ext>
            </a:extLst>
          </p:cNvPr>
          <p:cNvSpPr>
            <a:spLocks xmlns:a="http://schemas.openxmlformats.org/drawingml/2006/main" noGrp="1"/>
          </p:cNvSpPr>
          <p:nvPr/>
        </p:nvSpPr>
        <p:spPr>
          <a:xfrm xmlns:a="http://schemas.openxmlformats.org/drawingml/2006/main">
            <a:off x="952500" y="461010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Service directory</a:t>
            </a:r>
          </a:p>
        </p:txBody>
      </p:sp>
      <p:sp>
        <p:nvSpPr>
          <p:cNvPr id="22" name="">
            <a:extLst xmlns:a="http://schemas.openxmlformats.org/drawingml/2006/main">
              <a:ext uri="{FF2B5EF4-FFF2-40B4-BE49-F238E27FC236}">
                <a16:creationId xmlns:a16="http://schemas.microsoft.com/office/drawing/2014/main" id="{A33C7C45-BDBE-4439-AD4B-E356D8B6FB54}"/>
              </a:ext>
            </a:extLst>
          </p:cNvPr>
          <p:cNvSpPr>
            <a:spLocks xmlns:a="http://schemas.openxmlformats.org/drawingml/2006/main" noGrp="1"/>
          </p:cNvSpPr>
          <p:nvPr/>
        </p:nvSpPr>
        <p:spPr>
          <a:xfrm xmlns:a="http://schemas.openxmlformats.org/drawingml/2006/main">
            <a:off x="4095750" y="45624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UI shows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local service direction</a:t>
            </a:r>
          </a:p>
        </p:txBody>
      </p:sp>
      <p:sp>
        <p:nvSpPr>
          <p:cNvPr id="23" name="">
            <a:extLst xmlns:a="http://schemas.openxmlformats.org/drawingml/2006/main">
              <a:ext uri="{FF2B5EF4-FFF2-40B4-BE49-F238E27FC236}">
                <a16:creationId xmlns:a16="http://schemas.microsoft.com/office/drawing/2014/main" id="{E0209A05-C6EC-418B-BFD8-7A6B382F2956}"/>
              </a:ext>
            </a:extLst>
          </p:cNvPr>
          <p:cNvSpPr>
            <a:spLocks xmlns:a="http://schemas.openxmlformats.org/drawingml/2006/main" noGrp="1"/>
          </p:cNvSpPr>
          <p:nvPr/>
        </p:nvSpPr>
        <p:spPr>
          <a:xfrm xmlns:a="http://schemas.openxmlformats.org/drawingml/2006/main">
            <a:off x="6667500" y="455295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Vision centre or eye-clinic staff propose facility facts; operations administrator publishes verified changes.</a:t>
            </a:r>
          </a:p>
        </p:txBody>
      </p:sp>
      <p:sp>
        <p:nvSpPr>
          <p:cNvPr id="24" name="">
            <a:extLst xmlns:a="http://schemas.openxmlformats.org/drawingml/2006/main">
              <a:ext uri="{FF2B5EF4-FFF2-40B4-BE49-F238E27FC236}">
                <a16:creationId xmlns:a16="http://schemas.microsoft.com/office/drawing/2014/main" id="{30D99106-DF09-4C35-B92E-645837D1D823}"/>
              </a:ext>
            </a:extLst>
          </p:cNvPr>
          <p:cNvSpPr>
            <a:spLocks xmlns:a="http://schemas.openxmlformats.org/drawingml/2006/main" noGrp="1"/>
          </p:cNvSpPr>
          <p:nvPr/>
        </p:nvSpPr>
        <p:spPr>
          <a:xfrm xmlns:a="http://schemas.openxmlformats.org/drawingml/2006/main">
            <a:off x="723900" y="50673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073ABCAD-3057-48B7-82CA-6D5484D77A6C}"/>
              </a:ext>
            </a:extLst>
          </p:cNvPr>
          <p:cNvSpPr>
            <a:spLocks xmlns:a="http://schemas.openxmlformats.org/drawingml/2006/main" noGrp="1"/>
          </p:cNvSpPr>
          <p:nvPr/>
        </p:nvSpPr>
        <p:spPr>
          <a:xfrm xmlns:a="http://schemas.openxmlformats.org/drawingml/2006/main">
            <a:off x="952500" y="52387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Content records</a:t>
            </a:r>
          </a:p>
        </p:txBody>
      </p:sp>
      <p:sp>
        <p:nvSpPr>
          <p:cNvPr id="26" name="">
            <a:extLst xmlns:a="http://schemas.openxmlformats.org/drawingml/2006/main">
              <a:ext uri="{FF2B5EF4-FFF2-40B4-BE49-F238E27FC236}">
                <a16:creationId xmlns:a16="http://schemas.microsoft.com/office/drawing/2014/main" id="{25F9C17C-08CE-45E7-BD73-954699020761}"/>
              </a:ext>
            </a:extLst>
          </p:cNvPr>
          <p:cNvSpPr>
            <a:spLocks xmlns:a="http://schemas.openxmlformats.org/drawingml/2006/main" noGrp="1"/>
          </p:cNvSpPr>
          <p:nvPr/>
        </p:nvSpPr>
        <p:spPr>
          <a:xfrm xmlns:a="http://schemas.openxmlformats.org/drawingml/2006/main">
            <a:off x="4095750" y="51911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Administration, audit,</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rollback, and traceability</a:t>
            </a:r>
          </a:p>
        </p:txBody>
      </p:sp>
      <p:sp>
        <p:nvSpPr>
          <p:cNvPr id="27" name="">
            <a:extLst xmlns:a="http://schemas.openxmlformats.org/drawingml/2006/main">
              <a:ext uri="{FF2B5EF4-FFF2-40B4-BE49-F238E27FC236}">
                <a16:creationId xmlns:a16="http://schemas.microsoft.com/office/drawing/2014/main" id="{F8C5F8D1-A331-4D93-BD42-0252AD207802}"/>
              </a:ext>
            </a:extLst>
          </p:cNvPr>
          <p:cNvSpPr>
            <a:spLocks xmlns:a="http://schemas.openxmlformats.org/drawingml/2006/main" noGrp="1"/>
          </p:cNvSpPr>
          <p:nvPr/>
        </p:nvSpPr>
        <p:spPr>
          <a:xfrm xmlns:a="http://schemas.openxmlformats.org/drawingml/2006/main">
            <a:off x="6667500" y="5181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Governance metadata only: owner, source, version, approval status, and change history. Not patient clinical records.</a:t>
            </a:r>
          </a:p>
        </p:txBody>
      </p:sp>
      <p:sp>
        <p:nvSpPr>
          <p:cNvPr id="28" name="">
            <a:extLst xmlns:a="http://schemas.openxmlformats.org/drawingml/2006/main">
              <a:ext uri="{FF2B5EF4-FFF2-40B4-BE49-F238E27FC236}">
                <a16:creationId xmlns:a16="http://schemas.microsoft.com/office/drawing/2014/main" id="{BA6E891F-79E8-4F09-91F6-70DD9A5B5273}"/>
              </a:ext>
            </a:extLst>
          </p:cNvPr>
          <p:cNvSpPr>
            <a:spLocks xmlns:a="http://schemas.openxmlformats.org/drawingml/2006/main" noGrp="1"/>
          </p:cNvSpPr>
          <p:nvPr/>
        </p:nvSpPr>
        <p:spPr>
          <a:xfrm xmlns:a="http://schemas.openxmlformats.org/drawingml/2006/main">
            <a:off x="1066800" y="5810250"/>
            <a:ext cx="10058400" cy="457200"/>
          </a:xfrm>
          <a:prstGeom xmlns:a="http://schemas.openxmlformats.org/drawingml/2006/main" prst="roundRect">
            <a:avLst>
              <a:gd name="adj" fmla="val 16667"/>
            </a:avLst>
          </a:prstGeom>
          <a:solidFill xmlns:a="http://schemas.openxmlformats.org/drawingml/2006/main">
            <a:srgbClr val="E9E7F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9CCCC64-CDD1-44BF-A81E-447AF9BAE11F}"/>
              </a:ext>
            </a:extLst>
          </p:cNvPr>
          <p:cNvSpPr>
            <a:spLocks xmlns:a="http://schemas.openxmlformats.org/drawingml/2006/main" noGrp="1"/>
          </p:cNvSpPr>
          <p:nvPr/>
        </p:nvSpPr>
        <p:spPr>
          <a:xfrm xmlns:a="http://schemas.openxmlformats.org/drawingml/2006/main">
            <a:off x="1390650" y="5953125"/>
            <a:ext cx="9410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Lifecycle: authoritative source → clinical draft → clinical review and sign-off → versioned PostgreSQL publication → route-validation tests → monitored release or rollback.</a:t>
            </a:r>
          </a:p>
        </p:txBody>
      </p:sp>
      <p:sp>
        <p:nvSpPr>
          <p:cNvPr id="30" name="">
            <a:extLst xmlns:a="http://schemas.openxmlformats.org/drawingml/2006/main">
              <a:ext uri="{FF2B5EF4-FFF2-40B4-BE49-F238E27FC236}">
                <a16:creationId xmlns:a16="http://schemas.microsoft.com/office/drawing/2014/main" id="{9715C5F5-681B-4D96-8F12-E7046670CF7A}"/>
              </a:ext>
            </a:extLst>
          </p:cNvPr>
          <p:cNvSpPr>
            <a:spLocks xmlns:a="http://schemas.openxmlformats.org/drawingml/2006/main" noGrp="1"/>
          </p:cNvSpPr>
          <p:nvPr/>
        </p:nvSpPr>
        <p:spPr>
          <a:xfrm xmlns:a="http://schemas.openxmlformats.org/drawingml/2006/main">
            <a:off x="1466850" y="6419850"/>
            <a:ext cx="92583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Current MVP uses static demo content. A production release requires a governed approval, validation, release, and rollback process.</a:t>
            </a:r>
          </a:p>
        </p:txBody>
      </p:sp>
      <p:sp>
        <p:nvSpPr>
          <p:cNvPr id="31" name="">
            <a:extLst xmlns:a="http://schemas.openxmlformats.org/drawingml/2006/main">
              <a:ext uri="{FF2B5EF4-FFF2-40B4-BE49-F238E27FC236}">
                <a16:creationId xmlns:a16="http://schemas.microsoft.com/office/drawing/2014/main" id="{E119FD2A-1500-4797-947C-517B369D2326}"/>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9</a:t>
            </a:r>
          </a:p>
        </p:txBody>
      </p:sp>
    </p:spTree>
    <p:extLst>
      <p:ext uri="{BB962C8B-B14F-4D97-AF65-F5344CB8AC3E}">
        <p14:creationId xmlns:p14="http://schemas.microsoft.com/office/powerpoint/2010/main" val="15210342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5F5C9FF-8B10-4C16-B0EC-E6805985CC9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5AF737-13EC-4FB1-BD52-B3DB7D474482}"/>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08ADA32A-B9D9-4CA3-B56C-207524321E03}"/>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A19C072D-FFB0-4024-8714-F3F5A1F08D28}"/>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Population reach and pilot scope</a:t>
            </a:r>
          </a:p>
        </p:txBody>
      </p:sp>
      <p:sp>
        <p:nvSpPr>
          <p:cNvPr id="5" name="">
            <a:extLst xmlns:a="http://schemas.openxmlformats.org/drawingml/2006/main">
              <a:ext uri="{FF2B5EF4-FFF2-40B4-BE49-F238E27FC236}">
                <a16:creationId xmlns:a16="http://schemas.microsoft.com/office/drawing/2014/main" id="{E9ED07BD-9BC1-4C8B-B704-BF5D9F3DDFA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Latest detailed Census baseline for potential reach. Pilot scope requires explicit design decisions.</a:t>
            </a:r>
          </a:p>
        </p:txBody>
      </p:sp>
      <p:sp>
        <p:nvSpPr>
          <p:cNvPr id="6" name="">
            <a:extLst xmlns:a="http://schemas.openxmlformats.org/drawingml/2006/main">
              <a:ext uri="{FF2B5EF4-FFF2-40B4-BE49-F238E27FC236}">
                <a16:creationId xmlns:a16="http://schemas.microsoft.com/office/drawing/2014/main" id="{72247874-A5A8-4E98-B9E3-4725AAF9787F}"/>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E22E02B-D2D9-496E-916F-7887477AB85D}"/>
              </a:ext>
            </a:extLst>
          </p:cNvPr>
          <p:cNvSpPr>
            <a:spLocks xmlns:a="http://schemas.openxmlformats.org/drawingml/2006/main" noGrp="1"/>
          </p:cNvSpPr>
          <p:nvPr/>
        </p:nvSpPr>
        <p:spPr>
          <a:xfrm xmlns:a="http://schemas.openxmlformats.org/drawingml/2006/main">
            <a:off x="723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58B39B4D-27D5-43DB-AB17-A838C603960D}"/>
              </a:ext>
            </a:extLst>
          </p:cNvPr>
          <p:cNvSpPr>
            <a:spLocks xmlns:a="http://schemas.openxmlformats.org/drawingml/2006/main" noGrp="1"/>
          </p:cNvSpPr>
          <p:nvPr/>
        </p:nvSpPr>
        <p:spPr>
          <a:xfrm xmlns:a="http://schemas.openxmlformats.org/drawingml/2006/main">
            <a:off x="723900" y="2628900"/>
            <a:ext cx="3048000" cy="104775"/>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7127CF-3163-4A20-BEB7-BC6DDEBA7827}"/>
              </a:ext>
            </a:extLst>
          </p:cNvPr>
          <p:cNvSpPr>
            <a:spLocks xmlns:a="http://schemas.openxmlformats.org/drawingml/2006/main" noGrp="1"/>
          </p:cNvSpPr>
          <p:nvPr/>
        </p:nvSpPr>
        <p:spPr>
          <a:xfrm xmlns:a="http://schemas.openxmlformats.org/drawingml/2006/main">
            <a:off x="971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TAM</a:t>
            </a:r>
          </a:p>
        </p:txBody>
      </p:sp>
      <p:sp>
        <p:nvSpPr>
          <p:cNvPr id="10" name="">
            <a:extLst xmlns:a="http://schemas.openxmlformats.org/drawingml/2006/main">
              <a:ext uri="{FF2B5EF4-FFF2-40B4-BE49-F238E27FC236}">
                <a16:creationId xmlns:a16="http://schemas.microsoft.com/office/drawing/2014/main" id="{63E5101E-96E8-416F-A6AD-85CB0324BAF0}"/>
              </a:ext>
            </a:extLst>
          </p:cNvPr>
          <p:cNvSpPr>
            <a:spLocks xmlns:a="http://schemas.openxmlformats.org/drawingml/2006/main" noGrp="1"/>
          </p:cNvSpPr>
          <p:nvPr/>
        </p:nvSpPr>
        <p:spPr>
          <a:xfrm xmlns:a="http://schemas.openxmlformats.org/drawingml/2006/main">
            <a:off x="971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97.2M</a:t>
            </a:r>
          </a:p>
        </p:txBody>
      </p:sp>
      <p:sp>
        <p:nvSpPr>
          <p:cNvPr id="11" name="">
            <a:extLst xmlns:a="http://schemas.openxmlformats.org/drawingml/2006/main">
              <a:ext uri="{FF2B5EF4-FFF2-40B4-BE49-F238E27FC236}">
                <a16:creationId xmlns:a16="http://schemas.microsoft.com/office/drawing/2014/main" id="{3EFBF571-659C-47E7-AF8C-95C4A2B653F5}"/>
              </a:ext>
            </a:extLst>
          </p:cNvPr>
          <p:cNvSpPr>
            <a:spLocks xmlns:a="http://schemas.openxmlformats.org/drawingml/2006/main" noGrp="1"/>
          </p:cNvSpPr>
          <p:nvPr/>
        </p:nvSpPr>
        <p:spPr>
          <a:xfrm xmlns:a="http://schemas.openxmlformats.org/drawingml/2006/main">
            <a:off x="971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Bengali mother-tongue speakers in India</a:t>
            </a:r>
          </a:p>
        </p:txBody>
      </p:sp>
      <p:sp>
        <p:nvSpPr>
          <p:cNvPr id="12" name="">
            <a:extLst xmlns:a="http://schemas.openxmlformats.org/drawingml/2006/main">
              <a:ext uri="{FF2B5EF4-FFF2-40B4-BE49-F238E27FC236}">
                <a16:creationId xmlns:a16="http://schemas.microsoft.com/office/drawing/2014/main" id="{B56A4123-4C31-4D45-BA77-4F56A86C2436}"/>
              </a:ext>
            </a:extLst>
          </p:cNvPr>
          <p:cNvSpPr>
            <a:spLocks xmlns:a="http://schemas.openxmlformats.org/drawingml/2006/main" noGrp="1"/>
          </p:cNvSpPr>
          <p:nvPr/>
        </p:nvSpPr>
        <p:spPr>
          <a:xfrm xmlns:a="http://schemas.openxmlformats.org/drawingml/2006/main">
            <a:off x="971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detailed baseline</a:t>
            </a:r>
          </a:p>
        </p:txBody>
      </p:sp>
      <p:sp>
        <p:nvSpPr>
          <p:cNvPr id="13" name="">
            <a:extLst xmlns:a="http://schemas.openxmlformats.org/drawingml/2006/main">
              <a:ext uri="{FF2B5EF4-FFF2-40B4-BE49-F238E27FC236}">
                <a16:creationId xmlns:a16="http://schemas.microsoft.com/office/drawing/2014/main" id="{76BA06DD-57C7-4EF4-8362-2CA709632DEC}"/>
              </a:ext>
            </a:extLst>
          </p:cNvPr>
          <p:cNvSpPr>
            <a:spLocks xmlns:a="http://schemas.openxmlformats.org/drawingml/2006/main" noGrp="1"/>
          </p:cNvSpPr>
          <p:nvPr/>
        </p:nvSpPr>
        <p:spPr>
          <a:xfrm xmlns:a="http://schemas.openxmlformats.org/drawingml/2006/main">
            <a:off x="4152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7BF4832C-3EC7-4C63-A78A-9F96917AD0FC}"/>
              </a:ext>
            </a:extLst>
          </p:cNvPr>
          <p:cNvSpPr>
            <a:spLocks xmlns:a="http://schemas.openxmlformats.org/drawingml/2006/main" noGrp="1"/>
          </p:cNvSpPr>
          <p:nvPr/>
        </p:nvSpPr>
        <p:spPr>
          <a:xfrm xmlns:a="http://schemas.openxmlformats.org/drawingml/2006/main">
            <a:off x="4152900" y="2628900"/>
            <a:ext cx="3048000" cy="104775"/>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C62658-BBC3-40F9-8F66-F23BFFD32E1C}"/>
              </a:ext>
            </a:extLst>
          </p:cNvPr>
          <p:cNvSpPr>
            <a:spLocks xmlns:a="http://schemas.openxmlformats.org/drawingml/2006/main" noGrp="1"/>
          </p:cNvSpPr>
          <p:nvPr/>
        </p:nvSpPr>
        <p:spPr>
          <a:xfrm xmlns:a="http://schemas.openxmlformats.org/drawingml/2006/main">
            <a:off x="4400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SAM</a:t>
            </a:r>
          </a:p>
        </p:txBody>
      </p:sp>
      <p:sp>
        <p:nvSpPr>
          <p:cNvPr id="16" name="">
            <a:extLst xmlns:a="http://schemas.openxmlformats.org/drawingml/2006/main">
              <a:ext uri="{FF2B5EF4-FFF2-40B4-BE49-F238E27FC236}">
                <a16:creationId xmlns:a16="http://schemas.microsoft.com/office/drawing/2014/main" id="{FA48AC3A-7C4C-4DCA-9467-7758430F08D3}"/>
              </a:ext>
            </a:extLst>
          </p:cNvPr>
          <p:cNvSpPr>
            <a:spLocks xmlns:a="http://schemas.openxmlformats.org/drawingml/2006/main" noGrp="1"/>
          </p:cNvSpPr>
          <p:nvPr/>
        </p:nvSpPr>
        <p:spPr>
          <a:xfrm xmlns:a="http://schemas.openxmlformats.org/drawingml/2006/main">
            <a:off x="4400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18.2M</a:t>
            </a:r>
          </a:p>
        </p:txBody>
      </p:sp>
      <p:sp>
        <p:nvSpPr>
          <p:cNvPr id="17" name="">
            <a:extLst xmlns:a="http://schemas.openxmlformats.org/drawingml/2006/main">
              <a:ext uri="{FF2B5EF4-FFF2-40B4-BE49-F238E27FC236}">
                <a16:creationId xmlns:a16="http://schemas.microsoft.com/office/drawing/2014/main" id="{8BBCF0BF-A7E2-48BF-86FA-270137CA492D}"/>
              </a:ext>
            </a:extLst>
          </p:cNvPr>
          <p:cNvSpPr>
            <a:spLocks xmlns:a="http://schemas.openxmlformats.org/drawingml/2006/main" noGrp="1"/>
          </p:cNvSpPr>
          <p:nvPr/>
        </p:nvSpPr>
        <p:spPr>
          <a:xfrm xmlns:a="http://schemas.openxmlformats.org/drawingml/2006/main">
            <a:off x="4400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Residents in North and South 24 Parganas</a:t>
            </a:r>
          </a:p>
        </p:txBody>
      </p:sp>
      <p:sp>
        <p:nvSpPr>
          <p:cNvPr id="18" name="">
            <a:extLst xmlns:a="http://schemas.openxmlformats.org/drawingml/2006/main">
              <a:ext uri="{FF2B5EF4-FFF2-40B4-BE49-F238E27FC236}">
                <a16:creationId xmlns:a16="http://schemas.microsoft.com/office/drawing/2014/main" id="{4F4130B3-2ABC-41C3-A0E5-B2DFA7C7F477}"/>
              </a:ext>
            </a:extLst>
          </p:cNvPr>
          <p:cNvSpPr>
            <a:spLocks xmlns:a="http://schemas.openxmlformats.org/drawingml/2006/main" noGrp="1"/>
          </p:cNvSpPr>
          <p:nvPr/>
        </p:nvSpPr>
        <p:spPr>
          <a:xfrm xmlns:a="http://schemas.openxmlformats.org/drawingml/2006/main">
            <a:off x="4400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district baseline</a:t>
            </a:r>
          </a:p>
        </p:txBody>
      </p:sp>
      <p:sp>
        <p:nvSpPr>
          <p:cNvPr id="19" name="">
            <a:extLst xmlns:a="http://schemas.openxmlformats.org/drawingml/2006/main">
              <a:ext uri="{FF2B5EF4-FFF2-40B4-BE49-F238E27FC236}">
                <a16:creationId xmlns:a16="http://schemas.microsoft.com/office/drawing/2014/main" id="{E7B42ACA-219C-4917-9B25-6A20F83D2BC6}"/>
              </a:ext>
            </a:extLst>
          </p:cNvPr>
          <p:cNvSpPr>
            <a:spLocks xmlns:a="http://schemas.openxmlformats.org/drawingml/2006/main" noGrp="1"/>
          </p:cNvSpPr>
          <p:nvPr/>
        </p:nvSpPr>
        <p:spPr>
          <a:xfrm xmlns:a="http://schemas.openxmlformats.org/drawingml/2006/main">
            <a:off x="7581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20" name="">
            <a:extLst xmlns:a="http://schemas.openxmlformats.org/drawingml/2006/main">
              <a:ext uri="{FF2B5EF4-FFF2-40B4-BE49-F238E27FC236}">
                <a16:creationId xmlns:a16="http://schemas.microsoft.com/office/drawing/2014/main" id="{346FC3ED-7C18-44B3-8C70-CF49328BE00B}"/>
              </a:ext>
            </a:extLst>
          </p:cNvPr>
          <p:cNvSpPr>
            <a:spLocks xmlns:a="http://schemas.openxmlformats.org/drawingml/2006/main" noGrp="1"/>
          </p:cNvSpPr>
          <p:nvPr/>
        </p:nvSpPr>
        <p:spPr>
          <a:xfrm xmlns:a="http://schemas.openxmlformats.org/drawingml/2006/main">
            <a:off x="7581900" y="2628900"/>
            <a:ext cx="3048000" cy="104775"/>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D27B71-DE06-4A3E-906C-0050DB0E5869}"/>
              </a:ext>
            </a:extLst>
          </p:cNvPr>
          <p:cNvSpPr>
            <a:spLocks xmlns:a="http://schemas.openxmlformats.org/drawingml/2006/main" noGrp="1"/>
          </p:cNvSpPr>
          <p:nvPr/>
        </p:nvSpPr>
        <p:spPr>
          <a:xfrm xmlns:a="http://schemas.openxmlformats.org/drawingml/2006/main">
            <a:off x="7829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E664C"/>
                </a:solidFill>
                <a:latin typeface="Arial"/>
                <a:ea typeface="Arial"/>
                <a:cs typeface="Arial"/>
              </a:defRPr>
            </a:pPr>
            <a:r>
              <a:rPr sz="1275" b="1">
                <a:solidFill>
                  <a:srgbClr val="DE664C"/>
                </a:solidFill>
                <a:latin typeface="Arial"/>
                <a:ea typeface="Arial"/>
                <a:cs typeface="Arial"/>
              </a:rPr>
              <a:t>SOM</a:t>
            </a:r>
          </a:p>
        </p:txBody>
      </p:sp>
      <p:sp>
        <p:nvSpPr>
          <p:cNvPr id="22" name="">
            <a:extLst xmlns:a="http://schemas.openxmlformats.org/drawingml/2006/main">
              <a:ext uri="{FF2B5EF4-FFF2-40B4-BE49-F238E27FC236}">
                <a16:creationId xmlns:a16="http://schemas.microsoft.com/office/drawing/2014/main" id="{AD2571AD-BEEA-4DA3-A41C-484CE0ED601D}"/>
              </a:ext>
            </a:extLst>
          </p:cNvPr>
          <p:cNvSpPr>
            <a:spLocks xmlns:a="http://schemas.openxmlformats.org/drawingml/2006/main" noGrp="1"/>
          </p:cNvSpPr>
          <p:nvPr/>
        </p:nvSpPr>
        <p:spPr>
          <a:xfrm xmlns:a="http://schemas.openxmlformats.org/drawingml/2006/main">
            <a:off x="7829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02A44"/>
                </a:solidFill>
                <a:latin typeface="Arial"/>
                <a:ea typeface="Arial"/>
                <a:cs typeface="Arial"/>
              </a:defRPr>
            </a:pPr>
            <a:r>
              <a:rPr sz="1950" b="1">
                <a:solidFill>
                  <a:srgbClr val="202A44"/>
                </a:solidFill>
                <a:latin typeface="Arial"/>
                <a:ea typeface="Arial"/>
                <a:cs typeface="Arial"/>
              </a:rPr>
              <a:t>Not yet set</a:t>
            </a:r>
          </a:p>
        </p:txBody>
      </p:sp>
      <p:sp>
        <p:nvSpPr>
          <p:cNvPr id="23" name="">
            <a:extLst xmlns:a="http://schemas.openxmlformats.org/drawingml/2006/main">
              <a:ext uri="{FF2B5EF4-FFF2-40B4-BE49-F238E27FC236}">
                <a16:creationId xmlns:a16="http://schemas.microsoft.com/office/drawing/2014/main" id="{8E35905E-1765-4EB3-8027-C8780788702B}"/>
              </a:ext>
            </a:extLst>
          </p:cNvPr>
          <p:cNvSpPr>
            <a:spLocks xmlns:a="http://schemas.openxmlformats.org/drawingml/2006/main" noGrp="1"/>
          </p:cNvSpPr>
          <p:nvPr/>
        </p:nvSpPr>
        <p:spPr>
          <a:xfrm xmlns:a="http://schemas.openxmlformats.org/drawingml/2006/main">
            <a:off x="7829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Requires pilot sites and eligible participants</a:t>
            </a:r>
          </a:p>
        </p:txBody>
      </p:sp>
      <p:sp>
        <p:nvSpPr>
          <p:cNvPr id="24" name="">
            <a:extLst xmlns:a="http://schemas.openxmlformats.org/drawingml/2006/main">
              <a:ext uri="{FF2B5EF4-FFF2-40B4-BE49-F238E27FC236}">
                <a16:creationId xmlns:a16="http://schemas.microsoft.com/office/drawing/2014/main" id="{5ED6821C-1675-45AD-88EC-7257C39459C7}"/>
              </a:ext>
            </a:extLst>
          </p:cNvPr>
          <p:cNvSpPr>
            <a:spLocks xmlns:a="http://schemas.openxmlformats.org/drawingml/2006/main" noGrp="1"/>
          </p:cNvSpPr>
          <p:nvPr/>
        </p:nvSpPr>
        <p:spPr>
          <a:xfrm xmlns:a="http://schemas.openxmlformats.org/drawingml/2006/main">
            <a:off x="7829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No forecast before pilot design</a:t>
            </a:r>
          </a:p>
        </p:txBody>
      </p:sp>
      <p:sp>
        <p:nvSpPr>
          <p:cNvPr id="25" name="">
            <a:extLst xmlns:a="http://schemas.openxmlformats.org/drawingml/2006/main">
              <a:ext uri="{FF2B5EF4-FFF2-40B4-BE49-F238E27FC236}">
                <a16:creationId xmlns:a16="http://schemas.microsoft.com/office/drawing/2014/main" id="{32700AB2-7DD9-4C95-9F08-7E50AE09F23F}"/>
              </a:ext>
            </a:extLst>
          </p:cNvPr>
          <p:cNvSpPr>
            <a:spLocks xmlns:a="http://schemas.openxmlformats.org/drawingml/2006/main" noGrp="1"/>
          </p:cNvSpPr>
          <p:nvPr/>
        </p:nvSpPr>
        <p:spPr>
          <a:xfrm xmlns:a="http://schemas.openxmlformats.org/drawingml/2006/main">
            <a:off x="1371600" y="5334000"/>
            <a:ext cx="9448800" cy="514350"/>
          </a:xfrm>
          <a:prstGeom xmlns:a="http://schemas.openxmlformats.org/drawingml/2006/main" prst="roundRect">
            <a:avLst>
              <a:gd name="adj" fmla="val 14815"/>
            </a:avLst>
          </a:prstGeom>
          <a:solidFill xmlns:a="http://schemas.openxmlformats.org/drawingml/2006/main">
            <a:srgbClr val="E9E7F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82C6631-162B-406F-BF50-2519975816C1}"/>
              </a:ext>
            </a:extLst>
          </p:cNvPr>
          <p:cNvSpPr>
            <a:spLocks xmlns:a="http://schemas.openxmlformats.org/drawingml/2006/main" noGrp="1"/>
          </p:cNvSpPr>
          <p:nvPr/>
        </p:nvSpPr>
        <p:spPr>
          <a:xfrm xmlns:a="http://schemas.openxmlformats.org/drawingml/2006/main">
            <a:off x="1676400" y="5505450"/>
            <a:ext cx="883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Census 2027 is scheduled. Use refreshed local population data when the pilot scope is approved.</a:t>
            </a:r>
          </a:p>
        </p:txBody>
      </p:sp>
      <p:sp>
        <p:nvSpPr>
          <p:cNvPr id="27" name="">
            <a:extLst xmlns:a="http://schemas.openxmlformats.org/drawingml/2006/main">
              <a:ext uri="{FF2B5EF4-FFF2-40B4-BE49-F238E27FC236}">
                <a16:creationId xmlns:a16="http://schemas.microsoft.com/office/drawing/2014/main" id="{494C142E-FB2D-4127-B5B6-5F0BF17AE02C}"/>
              </a:ext>
            </a:extLst>
          </p:cNvPr>
          <p:cNvSpPr>
            <a:spLocks xmlns:a="http://schemas.openxmlformats.org/drawingml/2006/main" noGrp="1"/>
          </p:cNvSpPr>
          <p:nvPr/>
        </p:nvSpPr>
        <p:spPr>
          <a:xfrm xmlns:a="http://schemas.openxmlformats.org/drawingml/2006/main">
            <a:off x="1066800" y="5981700"/>
            <a:ext cx="10058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50">
                <a:solidFill>
                  <a:srgbClr val="56647A"/>
                </a:solidFill>
                <a:latin typeface="Arial"/>
                <a:ea typeface="Arial"/>
                <a:cs typeface="Arial"/>
              </a:defRPr>
            </a:pPr>
            <a:r>
              <a:rPr sz="750">
                <a:solidFill>
                  <a:srgbClr val="56647A"/>
                </a:solidFill>
                <a:latin typeface="Arial"/>
                <a:ea typeface="Arial"/>
                <a:cs typeface="Arial"/>
              </a:rPr>
              <a:t>Official sources: Office of the Registrar General &amp; Census Commissioner, India (ORGI), Census 2011 C-16 Population by Mother Tongue (catalogue 10191); District Census Handbooks: North 24 Parganas (1349) and South 24 Parganas (1362); Census 2027 Gazette notification, censusindia.gov.in.</a:t>
            </a:r>
          </a:p>
        </p:txBody>
      </p:sp>
      <p:sp>
        <p:nvSpPr>
          <p:cNvPr id="28" name="">
            <a:extLst xmlns:a="http://schemas.openxmlformats.org/drawingml/2006/main">
              <a:ext uri="{FF2B5EF4-FFF2-40B4-BE49-F238E27FC236}">
                <a16:creationId xmlns:a16="http://schemas.microsoft.com/office/drawing/2014/main" id="{68FEBAF1-D49E-4C67-874A-5F8977FF4397}"/>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10</a:t>
            </a:r>
          </a:p>
        </p:txBody>
      </p:sp>
    </p:spTree>
    <p:extLst>
      <p:ext uri="{BB962C8B-B14F-4D97-AF65-F5344CB8AC3E}">
        <p14:creationId xmlns:p14="http://schemas.microsoft.com/office/powerpoint/2010/main" val="1099652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E3210AA-2902-447B-8CDE-E1FD6E0EC0A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915634-A6CB-4417-B2BB-44721772C712}"/>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B9DFA4FE-8155-48DE-B31C-E288815B4F0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7B499BFA-43E6-41E4-B410-E3F36769011A}"/>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What the MVP establishes</a:t>
            </a:r>
          </a:p>
        </p:txBody>
      </p:sp>
      <p:sp>
        <p:nvSpPr>
          <p:cNvPr id="5" name="">
            <a:extLst xmlns:a="http://schemas.openxmlformats.org/drawingml/2006/main">
              <a:ext uri="{FF2B5EF4-FFF2-40B4-BE49-F238E27FC236}">
                <a16:creationId xmlns:a16="http://schemas.microsoft.com/office/drawing/2014/main" id="{ADD949DB-61DF-4576-A37E-35370D2F3927}"/>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practical foundation for safer access to Bengali eye-care guidance</a:t>
            </a:r>
          </a:p>
        </p:txBody>
      </p:sp>
      <p:sp>
        <p:nvSpPr>
          <p:cNvPr id="6" name="">
            <a:extLst xmlns:a="http://schemas.openxmlformats.org/drawingml/2006/main">
              <a:ext uri="{FF2B5EF4-FFF2-40B4-BE49-F238E27FC236}">
                <a16:creationId xmlns:a16="http://schemas.microsoft.com/office/drawing/2014/main" id="{FA102D37-BF07-4993-A3A2-66DC019CC64E}"/>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7A335F-EDE4-472F-9AED-DF0CB8660DEB}"/>
              </a:ext>
            </a:extLst>
          </p:cNvPr>
          <p:cNvSpPr>
            <a:spLocks xmlns:a="http://schemas.openxmlformats.org/drawingml/2006/main" noGrp="1"/>
          </p:cNvSpPr>
          <p:nvPr/>
        </p:nvSpPr>
        <p:spPr>
          <a:xfrm xmlns:a="http://schemas.openxmlformats.org/drawingml/2006/main">
            <a:off x="723900" y="2343150"/>
            <a:ext cx="107442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D778004-5755-4676-966C-F61D3719A4E9}"/>
              </a:ext>
            </a:extLst>
          </p:cNvPr>
          <p:cNvSpPr>
            <a:spLocks xmlns:a="http://schemas.openxmlformats.org/drawingml/2006/main" noGrp="1"/>
          </p:cNvSpPr>
          <p:nvPr/>
        </p:nvSpPr>
        <p:spPr>
          <a:xfrm xmlns:a="http://schemas.openxmlformats.org/drawingml/2006/main">
            <a:off x="8572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5E0C9C77-C8E5-4501-9867-778BC6AEE359}"/>
              </a:ext>
            </a:extLst>
          </p:cNvPr>
          <p:cNvSpPr>
            <a:spLocks xmlns:a="http://schemas.openxmlformats.org/drawingml/2006/main" noGrp="1"/>
          </p:cNvSpPr>
          <p:nvPr/>
        </p:nvSpPr>
        <p:spPr>
          <a:xfrm xmlns:a="http://schemas.openxmlformats.org/drawingml/2006/main">
            <a:off x="857250" y="2952750"/>
            <a:ext cx="28575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09EE29-2449-4050-BC3C-C0147FAB6843}"/>
              </a:ext>
            </a:extLst>
          </p:cNvPr>
          <p:cNvSpPr>
            <a:spLocks xmlns:a="http://schemas.openxmlformats.org/drawingml/2006/main" noGrp="1"/>
          </p:cNvSpPr>
          <p:nvPr/>
        </p:nvSpPr>
        <p:spPr>
          <a:xfrm xmlns:a="http://schemas.openxmlformats.org/drawingml/2006/main">
            <a:off x="10858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Bengali-language access</a:t>
            </a:r>
          </a:p>
        </p:txBody>
      </p:sp>
      <p:sp>
        <p:nvSpPr>
          <p:cNvPr id="11" name="">
            <a:extLst xmlns:a="http://schemas.openxmlformats.org/drawingml/2006/main">
              <a:ext uri="{FF2B5EF4-FFF2-40B4-BE49-F238E27FC236}">
                <a16:creationId xmlns:a16="http://schemas.microsoft.com/office/drawing/2014/main" id="{4FA68A43-1FA8-4586-8F3C-484E3F812EC1}"/>
              </a:ext>
            </a:extLst>
          </p:cNvPr>
          <p:cNvSpPr>
            <a:spLocks xmlns:a="http://schemas.openxmlformats.org/drawingml/2006/main" noGrp="1"/>
          </p:cNvSpPr>
          <p:nvPr/>
        </p:nvSpPr>
        <p:spPr>
          <a:xfrm xmlns:a="http://schemas.openxmlformats.org/drawingml/2006/main">
            <a:off x="10858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Voice and text options</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with visible fallback</a:t>
            </a:r>
          </a:p>
        </p:txBody>
      </p:sp>
      <p:sp>
        <p:nvSpPr>
          <p:cNvPr id="12" name="">
            <a:extLst xmlns:a="http://schemas.openxmlformats.org/drawingml/2006/main">
              <a:ext uri="{FF2B5EF4-FFF2-40B4-BE49-F238E27FC236}">
                <a16:creationId xmlns:a16="http://schemas.microsoft.com/office/drawing/2014/main" id="{FC969F34-1C30-48DA-9D58-2B17569B5FA8}"/>
              </a:ext>
            </a:extLst>
          </p:cNvPr>
          <p:cNvSpPr>
            <a:spLocks xmlns:a="http://schemas.openxmlformats.org/drawingml/2006/main" noGrp="1"/>
          </p:cNvSpPr>
          <p:nvPr/>
        </p:nvSpPr>
        <p:spPr>
          <a:xfrm xmlns:a="http://schemas.openxmlformats.org/drawingml/2006/main">
            <a:off x="438150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3" name="">
            <a:extLst xmlns:a="http://schemas.openxmlformats.org/drawingml/2006/main">
              <a:ext uri="{FF2B5EF4-FFF2-40B4-BE49-F238E27FC236}">
                <a16:creationId xmlns:a16="http://schemas.microsoft.com/office/drawing/2014/main" id="{A26F0EAA-0C8A-47EB-8206-4E0346952D9F}"/>
              </a:ext>
            </a:extLst>
          </p:cNvPr>
          <p:cNvSpPr>
            <a:spLocks xmlns:a="http://schemas.openxmlformats.org/drawingml/2006/main" noGrp="1"/>
          </p:cNvSpPr>
          <p:nvPr/>
        </p:nvSpPr>
        <p:spPr>
          <a:xfrm xmlns:a="http://schemas.openxmlformats.org/drawingml/2006/main">
            <a:off x="4381500" y="2952750"/>
            <a:ext cx="28575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81D84C4-F1CE-4D1E-B341-5B10E700DDC9}"/>
              </a:ext>
            </a:extLst>
          </p:cNvPr>
          <p:cNvSpPr>
            <a:spLocks xmlns:a="http://schemas.openxmlformats.org/drawingml/2006/main" noGrp="1"/>
          </p:cNvSpPr>
          <p:nvPr/>
        </p:nvSpPr>
        <p:spPr>
          <a:xfrm xmlns:a="http://schemas.openxmlformats.org/drawingml/2006/main">
            <a:off x="461010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Fixed safety route</a:t>
            </a:r>
          </a:p>
        </p:txBody>
      </p:sp>
      <p:sp>
        <p:nvSpPr>
          <p:cNvPr id="15" name="">
            <a:extLst xmlns:a="http://schemas.openxmlformats.org/drawingml/2006/main">
              <a:ext uri="{FF2B5EF4-FFF2-40B4-BE49-F238E27FC236}">
                <a16:creationId xmlns:a16="http://schemas.microsoft.com/office/drawing/2014/main" id="{67DDE95F-9DAC-4577-A600-728A12ACA75E}"/>
              </a:ext>
            </a:extLst>
          </p:cNvPr>
          <p:cNvSpPr>
            <a:spLocks xmlns:a="http://schemas.openxmlformats.org/drawingml/2006/main" noGrp="1"/>
          </p:cNvSpPr>
          <p:nvPr/>
        </p:nvSpPr>
        <p:spPr>
          <a:xfrm xmlns:a="http://schemas.openxmlformats.org/drawingml/2006/main">
            <a:off x="461010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Java deterministic engine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applies approved criteria</a:t>
            </a:r>
          </a:p>
        </p:txBody>
      </p:sp>
      <p:sp>
        <p:nvSpPr>
          <p:cNvPr id="16" name="">
            <a:extLst xmlns:a="http://schemas.openxmlformats.org/drawingml/2006/main">
              <a:ext uri="{FF2B5EF4-FFF2-40B4-BE49-F238E27FC236}">
                <a16:creationId xmlns:a16="http://schemas.microsoft.com/office/drawing/2014/main" id="{07EE7B8A-857E-4160-AC3B-583856FC85CB}"/>
              </a:ext>
            </a:extLst>
          </p:cNvPr>
          <p:cNvSpPr>
            <a:spLocks xmlns:a="http://schemas.openxmlformats.org/drawingml/2006/main" noGrp="1"/>
          </p:cNvSpPr>
          <p:nvPr/>
        </p:nvSpPr>
        <p:spPr>
          <a:xfrm xmlns:a="http://schemas.openxmlformats.org/drawingml/2006/main">
            <a:off x="79057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96844FA9-9F61-47C8-97FF-5A0CEF64B7B9}"/>
              </a:ext>
            </a:extLst>
          </p:cNvPr>
          <p:cNvSpPr>
            <a:spLocks xmlns:a="http://schemas.openxmlformats.org/drawingml/2006/main" noGrp="1"/>
          </p:cNvSpPr>
          <p:nvPr/>
        </p:nvSpPr>
        <p:spPr>
          <a:xfrm xmlns:a="http://schemas.openxmlformats.org/drawingml/2006/main">
            <a:off x="7905750" y="2952750"/>
            <a:ext cx="2857500" cy="95250"/>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8EC2F2F-5345-4024-92F6-D26693A28630}"/>
              </a:ext>
            </a:extLst>
          </p:cNvPr>
          <p:cNvSpPr>
            <a:spLocks xmlns:a="http://schemas.openxmlformats.org/drawingml/2006/main" noGrp="1"/>
          </p:cNvSpPr>
          <p:nvPr/>
        </p:nvSpPr>
        <p:spPr>
          <a:xfrm xmlns:a="http://schemas.openxmlformats.org/drawingml/2006/main">
            <a:off x="81343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Clear next action</a:t>
            </a:r>
          </a:p>
        </p:txBody>
      </p:sp>
      <p:sp>
        <p:nvSpPr>
          <p:cNvPr id="19" name="">
            <a:extLst xmlns:a="http://schemas.openxmlformats.org/drawingml/2006/main">
              <a:ext uri="{FF2B5EF4-FFF2-40B4-BE49-F238E27FC236}">
                <a16:creationId xmlns:a16="http://schemas.microsoft.com/office/drawing/2014/main" id="{583C2BBD-8BEF-40A7-8071-5EB3AD88FEFC}"/>
              </a:ext>
            </a:extLst>
          </p:cNvPr>
          <p:cNvSpPr>
            <a:spLocks xmlns:a="http://schemas.openxmlformats.org/drawingml/2006/main" noGrp="1"/>
          </p:cNvSpPr>
          <p:nvPr/>
        </p:nvSpPr>
        <p:spPr>
          <a:xfrm xmlns:a="http://schemas.openxmlformats.org/drawingml/2006/main">
            <a:off x="81343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Guidance connects people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to service direction</a:t>
            </a:r>
          </a:p>
        </p:txBody>
      </p:sp>
      <p:sp>
        <p:nvSpPr>
          <p:cNvPr id="20" name="">
            <a:extLst xmlns:a="http://schemas.openxmlformats.org/drawingml/2006/main">
              <a:ext uri="{FF2B5EF4-FFF2-40B4-BE49-F238E27FC236}">
                <a16:creationId xmlns:a16="http://schemas.microsoft.com/office/drawing/2014/main" id="{54C6E585-30E4-41D0-91A1-C5806B49AD06}"/>
              </a:ext>
            </a:extLst>
          </p:cNvPr>
          <p:cNvSpPr>
            <a:spLocks xmlns:a="http://schemas.openxmlformats.org/drawingml/2006/main" noGrp="1"/>
          </p:cNvSpPr>
          <p:nvPr/>
        </p:nvSpPr>
        <p:spPr>
          <a:xfrm xmlns:a="http://schemas.openxmlformats.org/drawingml/2006/main">
            <a:off x="1619250" y="5219700"/>
            <a:ext cx="895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202A44"/>
                </a:solidFill>
                <a:latin typeface="Arial"/>
                <a:ea typeface="Arial"/>
                <a:cs typeface="Arial"/>
              </a:defRPr>
            </a:pPr>
            <a:r>
              <a:rPr sz="1800" b="1">
                <a:solidFill>
                  <a:srgbClr val="202A44"/>
                </a:solidFill>
                <a:latin typeface="Arial"/>
                <a:ea typeface="Arial"/>
                <a:cs typeface="Arial"/>
              </a:rPr>
              <a:t>The product guides users toward the next step while clinical judgment and content approval remain with people.</a:t>
            </a:r>
          </a:p>
        </p:txBody>
      </p:sp>
      <p:sp>
        <p:nvSpPr>
          <p:cNvPr id="21" name="">
            <a:extLst xmlns:a="http://schemas.openxmlformats.org/drawingml/2006/main">
              <a:ext uri="{FF2B5EF4-FFF2-40B4-BE49-F238E27FC236}">
                <a16:creationId xmlns:a16="http://schemas.microsoft.com/office/drawing/2014/main" id="{3A6E89C9-F6BE-46D8-810C-2E768043555A}"/>
              </a:ext>
            </a:extLst>
          </p:cNvPr>
          <p:cNvSpPr>
            <a:spLocks xmlns:a="http://schemas.openxmlformats.org/drawingml/2006/main" noGrp="1"/>
          </p:cNvSpPr>
          <p:nvPr/>
        </p:nvSpPr>
        <p:spPr>
          <a:xfrm xmlns:a="http://schemas.openxmlformats.org/drawingml/2006/main">
            <a:off x="2381250" y="595312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a:solidFill>
                  <a:srgbClr val="4656A8"/>
                </a:solidFill>
                <a:latin typeface="Arial"/>
                <a:ea typeface="Arial"/>
                <a:cs typeface="Arial"/>
              </a:defRPr>
            </a:pPr>
            <a:r>
              <a:rPr sz="1275">
                <a:solidFill>
                  <a:srgbClr val="4656A8"/>
                </a:solidFill>
                <a:latin typeface="Arial"/>
                <a:ea typeface="Arial"/>
                <a:cs typeface="Arial"/>
              </a:rPr>
              <a:t>Foundation for supervised validation and controlled expansion</a:t>
            </a:r>
          </a:p>
        </p:txBody>
      </p:sp>
      <p:sp>
        <p:nvSpPr>
          <p:cNvPr id="22" name="">
            <a:extLst xmlns:a="http://schemas.openxmlformats.org/drawingml/2006/main">
              <a:ext uri="{FF2B5EF4-FFF2-40B4-BE49-F238E27FC236}">
                <a16:creationId xmlns:a16="http://schemas.microsoft.com/office/drawing/2014/main" id="{BA612B66-CDAD-438C-A7E1-4FB9A1D268A5}"/>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11</a:t>
            </a:r>
          </a:p>
        </p:txBody>
      </p:sp>
    </p:spTree>
    <p:extLst>
      <p:ext uri="{BB962C8B-B14F-4D97-AF65-F5344CB8AC3E}">
        <p14:creationId xmlns:p14="http://schemas.microsoft.com/office/powerpoint/2010/main" val="180512905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F0E697E-754C-47C4-A0E2-E627211B6A8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0EA545-27DA-4A6E-B2A2-4F3EB1AE6F9C}"/>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BC752B34-FF07-4259-8E84-21B22739D15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9BEC4659-FBBA-4175-819D-AEA48668BCA1}"/>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Live demonstration</a:t>
            </a:r>
          </a:p>
        </p:txBody>
      </p:sp>
      <p:sp>
        <p:nvSpPr>
          <p:cNvPr id="5" name="">
            <a:extLst xmlns:a="http://schemas.openxmlformats.org/drawingml/2006/main">
              <a:ext uri="{FF2B5EF4-FFF2-40B4-BE49-F238E27FC236}">
                <a16:creationId xmlns:a16="http://schemas.microsoft.com/office/drawing/2014/main" id="{3A841A6A-EC76-40FC-B5AE-F09837975FB8}"/>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short walkthrough of the user journey and the locked safety-route decision</a:t>
            </a:r>
          </a:p>
        </p:txBody>
      </p:sp>
      <p:sp>
        <p:nvSpPr>
          <p:cNvPr id="6" name="">
            <a:extLst xmlns:a="http://schemas.openxmlformats.org/drawingml/2006/main">
              <a:ext uri="{FF2B5EF4-FFF2-40B4-BE49-F238E27FC236}">
                <a16:creationId xmlns:a16="http://schemas.microsoft.com/office/drawing/2014/main" id="{E33EAA7A-4905-4827-B158-36F7AE6A86FD}"/>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11EE4B8-4581-448A-A05A-F7D17713EB39}"/>
              </a:ext>
            </a:extLst>
          </p:cNvPr>
          <p:cNvSpPr>
            <a:spLocks xmlns:a="http://schemas.openxmlformats.org/drawingml/2006/main" noGrp="1"/>
          </p:cNvSpPr>
          <p:nvPr/>
        </p:nvSpPr>
        <p:spPr>
          <a:xfrm xmlns:a="http://schemas.openxmlformats.org/drawingml/2006/main">
            <a:off x="952500" y="26670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DEMO FLOW</a:t>
            </a:r>
          </a:p>
        </p:txBody>
      </p:sp>
      <p:sp>
        <p:nvSpPr>
          <p:cNvPr id="8" name="">
            <a:extLst xmlns:a="http://schemas.openxmlformats.org/drawingml/2006/main">
              <a:ext uri="{FF2B5EF4-FFF2-40B4-BE49-F238E27FC236}">
                <a16:creationId xmlns:a16="http://schemas.microsoft.com/office/drawing/2014/main" id="{00FC1634-FBA3-4C15-9B2E-3EDF9E22FFB6}"/>
              </a:ext>
            </a:extLst>
          </p:cNvPr>
          <p:cNvSpPr>
            <a:spLocks xmlns:a="http://schemas.openxmlformats.org/drawingml/2006/main" noGrp="1"/>
          </p:cNvSpPr>
          <p:nvPr/>
        </p:nvSpPr>
        <p:spPr>
          <a:xfrm xmlns:a="http://schemas.openxmlformats.org/drawingml/2006/main">
            <a:off x="952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DC6D74A0-FF8D-4EEC-8146-3E5EF6D6DE64}"/>
              </a:ext>
            </a:extLst>
          </p:cNvPr>
          <p:cNvSpPr>
            <a:spLocks xmlns:a="http://schemas.openxmlformats.org/drawingml/2006/main" noGrp="1"/>
          </p:cNvSpPr>
          <p:nvPr/>
        </p:nvSpPr>
        <p:spPr>
          <a:xfrm xmlns:a="http://schemas.openxmlformats.org/drawingml/2006/main">
            <a:off x="1219200" y="3429000"/>
            <a:ext cx="457200" cy="4572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3A0C1A-0ED5-4721-A0D9-A912C4380BDD}"/>
              </a:ext>
            </a:extLst>
          </p:cNvPr>
          <p:cNvSpPr>
            <a:spLocks xmlns:a="http://schemas.openxmlformats.org/drawingml/2006/main" noGrp="1"/>
          </p:cNvSpPr>
          <p:nvPr/>
        </p:nvSpPr>
        <p:spPr>
          <a:xfrm xmlns:a="http://schemas.openxmlformats.org/drawingml/2006/main">
            <a:off x="1219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201139BA-8712-4F70-8909-021870918B29}"/>
              </a:ext>
            </a:extLst>
          </p:cNvPr>
          <p:cNvSpPr>
            <a:spLocks xmlns:a="http://schemas.openxmlformats.org/drawingml/2006/main" noGrp="1"/>
          </p:cNvSpPr>
          <p:nvPr/>
        </p:nvSpPr>
        <p:spPr>
          <a:xfrm xmlns:a="http://schemas.openxmlformats.org/drawingml/2006/main">
            <a:off x="1219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Start the Bengali journey</a:t>
            </a:r>
          </a:p>
        </p:txBody>
      </p:sp>
      <p:sp>
        <p:nvSpPr>
          <p:cNvPr id="12" name="">
            <a:extLst xmlns:a="http://schemas.openxmlformats.org/drawingml/2006/main">
              <a:ext uri="{FF2B5EF4-FFF2-40B4-BE49-F238E27FC236}">
                <a16:creationId xmlns:a16="http://schemas.microsoft.com/office/drawing/2014/main" id="{00FD03B9-F1B5-41B6-AB95-8EBB68316011}"/>
              </a:ext>
            </a:extLst>
          </p:cNvPr>
          <p:cNvSpPr>
            <a:spLocks xmlns:a="http://schemas.openxmlformats.org/drawingml/2006/main" noGrp="1"/>
          </p:cNvSpPr>
          <p:nvPr/>
        </p:nvSpPr>
        <p:spPr>
          <a:xfrm xmlns:a="http://schemas.openxmlformats.org/drawingml/2006/main">
            <a:off x="1219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Choose voice or text input</a:t>
            </a:r>
          </a:p>
        </p:txBody>
      </p:sp>
      <p:sp>
        <p:nvSpPr>
          <p:cNvPr id="13" name="">
            <a:extLst xmlns:a="http://schemas.openxmlformats.org/drawingml/2006/main">
              <a:ext uri="{FF2B5EF4-FFF2-40B4-BE49-F238E27FC236}">
                <a16:creationId xmlns:a16="http://schemas.microsoft.com/office/drawing/2014/main" id="{F1B68324-3409-4414-83D2-DB5FAFAB97DB}"/>
              </a:ext>
            </a:extLst>
          </p:cNvPr>
          <p:cNvSpPr>
            <a:spLocks xmlns:a="http://schemas.openxmlformats.org/drawingml/2006/main" noGrp="1"/>
          </p:cNvSpPr>
          <p:nvPr/>
        </p:nvSpPr>
        <p:spPr>
          <a:xfrm xmlns:a="http://schemas.openxmlformats.org/drawingml/2006/main">
            <a:off x="4381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CCD1B659-2D31-4E4E-9233-A59069F53318}"/>
              </a:ext>
            </a:extLst>
          </p:cNvPr>
          <p:cNvSpPr>
            <a:spLocks xmlns:a="http://schemas.openxmlformats.org/drawingml/2006/main" noGrp="1"/>
          </p:cNvSpPr>
          <p:nvPr/>
        </p:nvSpPr>
        <p:spPr>
          <a:xfrm xmlns:a="http://schemas.openxmlformats.org/drawingml/2006/main">
            <a:off x="4648200" y="3429000"/>
            <a:ext cx="457200" cy="4572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A4FB7A-AC2F-498B-850A-E6A27E5A4602}"/>
              </a:ext>
            </a:extLst>
          </p:cNvPr>
          <p:cNvSpPr>
            <a:spLocks xmlns:a="http://schemas.openxmlformats.org/drawingml/2006/main" noGrp="1"/>
          </p:cNvSpPr>
          <p:nvPr/>
        </p:nvSpPr>
        <p:spPr>
          <a:xfrm xmlns:a="http://schemas.openxmlformats.org/drawingml/2006/main">
            <a:off x="4648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C5F77B76-FAB4-4340-BEB5-734999411E7F}"/>
              </a:ext>
            </a:extLst>
          </p:cNvPr>
          <p:cNvSpPr>
            <a:spLocks xmlns:a="http://schemas.openxmlformats.org/drawingml/2006/main" noGrp="1"/>
          </p:cNvSpPr>
          <p:nvPr/>
        </p:nvSpPr>
        <p:spPr>
          <a:xfrm xmlns:a="http://schemas.openxmlformats.org/drawingml/2006/main">
            <a:off x="4648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Select eye symptoms</a:t>
            </a:r>
          </a:p>
        </p:txBody>
      </p:sp>
      <p:sp>
        <p:nvSpPr>
          <p:cNvPr id="17" name="">
            <a:extLst xmlns:a="http://schemas.openxmlformats.org/drawingml/2006/main">
              <a:ext uri="{FF2B5EF4-FFF2-40B4-BE49-F238E27FC236}">
                <a16:creationId xmlns:a16="http://schemas.microsoft.com/office/drawing/2014/main" id="{E21567ED-89FA-4823-ABD7-EE7C54C99846}"/>
              </a:ext>
            </a:extLst>
          </p:cNvPr>
          <p:cNvSpPr>
            <a:spLocks xmlns:a="http://schemas.openxmlformats.org/drawingml/2006/main" noGrp="1"/>
          </p:cNvSpPr>
          <p:nvPr/>
        </p:nvSpPr>
        <p:spPr>
          <a:xfrm xmlns:a="http://schemas.openxmlformats.org/drawingml/2006/main">
            <a:off x="4648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Use fixed, Bengali-first options</a:t>
            </a:r>
          </a:p>
        </p:txBody>
      </p:sp>
      <p:sp>
        <p:nvSpPr>
          <p:cNvPr id="18" name="">
            <a:extLst xmlns:a="http://schemas.openxmlformats.org/drawingml/2006/main">
              <a:ext uri="{FF2B5EF4-FFF2-40B4-BE49-F238E27FC236}">
                <a16:creationId xmlns:a16="http://schemas.microsoft.com/office/drawing/2014/main" id="{5BD90F13-FDAD-456B-AA0E-7D7C528CCCF7}"/>
              </a:ext>
            </a:extLst>
          </p:cNvPr>
          <p:cNvSpPr>
            <a:spLocks xmlns:a="http://schemas.openxmlformats.org/drawingml/2006/main" noGrp="1"/>
          </p:cNvSpPr>
          <p:nvPr/>
        </p:nvSpPr>
        <p:spPr>
          <a:xfrm xmlns:a="http://schemas.openxmlformats.org/drawingml/2006/main">
            <a:off x="7810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9" name="">
            <a:extLst xmlns:a="http://schemas.openxmlformats.org/drawingml/2006/main">
              <a:ext uri="{FF2B5EF4-FFF2-40B4-BE49-F238E27FC236}">
                <a16:creationId xmlns:a16="http://schemas.microsoft.com/office/drawing/2014/main" id="{0AC7620D-65EE-4405-B6E2-2294C718078E}"/>
              </a:ext>
            </a:extLst>
          </p:cNvPr>
          <p:cNvSpPr>
            <a:spLocks xmlns:a="http://schemas.openxmlformats.org/drawingml/2006/main" noGrp="1"/>
          </p:cNvSpPr>
          <p:nvPr/>
        </p:nvSpPr>
        <p:spPr>
          <a:xfrm xmlns:a="http://schemas.openxmlformats.org/drawingml/2006/main">
            <a:off x="8077200" y="3429000"/>
            <a:ext cx="457200" cy="4572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207001C-5BC3-4073-9964-2378F25A823A}"/>
              </a:ext>
            </a:extLst>
          </p:cNvPr>
          <p:cNvSpPr>
            <a:spLocks xmlns:a="http://schemas.openxmlformats.org/drawingml/2006/main" noGrp="1"/>
          </p:cNvSpPr>
          <p:nvPr/>
        </p:nvSpPr>
        <p:spPr>
          <a:xfrm xmlns:a="http://schemas.openxmlformats.org/drawingml/2006/main">
            <a:off x="8077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A2ADBB6B-C8AE-41C4-90CE-07104FD7FABE}"/>
              </a:ext>
            </a:extLst>
          </p:cNvPr>
          <p:cNvSpPr>
            <a:spLocks xmlns:a="http://schemas.openxmlformats.org/drawingml/2006/main" noGrp="1"/>
          </p:cNvSpPr>
          <p:nvPr/>
        </p:nvSpPr>
        <p:spPr>
          <a:xfrm xmlns:a="http://schemas.openxmlformats.org/drawingml/2006/main">
            <a:off x="8077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View the safe result</a:t>
            </a:r>
          </a:p>
        </p:txBody>
      </p:sp>
      <p:sp>
        <p:nvSpPr>
          <p:cNvPr id="22" name="">
            <a:extLst xmlns:a="http://schemas.openxmlformats.org/drawingml/2006/main">
              <a:ext uri="{FF2B5EF4-FFF2-40B4-BE49-F238E27FC236}">
                <a16:creationId xmlns:a16="http://schemas.microsoft.com/office/drawing/2014/main" id="{E2D73620-BEDB-4B1C-8683-9B37D817A76C}"/>
              </a:ext>
            </a:extLst>
          </p:cNvPr>
          <p:cNvSpPr>
            <a:spLocks xmlns:a="http://schemas.openxmlformats.org/drawingml/2006/main" noGrp="1"/>
          </p:cNvSpPr>
          <p:nvPr/>
        </p:nvSpPr>
        <p:spPr>
          <a:xfrm xmlns:a="http://schemas.openxmlformats.org/drawingml/2006/main">
            <a:off x="8077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Show route, guidance, and next action</a:t>
            </a:r>
          </a:p>
        </p:txBody>
      </p:sp>
      <p:sp>
        <p:nvSpPr>
          <p:cNvPr id="23" name="">
            <a:extLst xmlns:a="http://schemas.openxmlformats.org/drawingml/2006/main">
              <a:ext uri="{FF2B5EF4-FFF2-40B4-BE49-F238E27FC236}">
                <a16:creationId xmlns:a16="http://schemas.microsoft.com/office/drawing/2014/main" id="{C918394C-8C5B-41E9-90D1-86111E30DA6B}"/>
              </a:ext>
            </a:extLst>
          </p:cNvPr>
          <p:cNvSpPr>
            <a:spLocks xmlns:a="http://schemas.openxmlformats.org/drawingml/2006/main" noGrp="1"/>
          </p:cNvSpPr>
          <p:nvPr/>
        </p:nvSpPr>
        <p:spPr>
          <a:xfrm xmlns:a="http://schemas.openxmlformats.org/drawingml/2006/main">
            <a:off x="1657350" y="5543550"/>
            <a:ext cx="8877300" cy="552450"/>
          </a:xfrm>
          <a:prstGeom xmlns:a="http://schemas.openxmlformats.org/drawingml/2006/main" prst="roundRect">
            <a:avLst>
              <a:gd name="adj" fmla="val 13793"/>
            </a:avLst>
          </a:prstGeom>
          <a:solidFill xmlns:a="http://schemas.openxmlformats.org/drawingml/2006/main">
            <a:srgbClr val="E9E7F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814A6B4-270F-4151-9248-6BF577B036CD}"/>
              </a:ext>
            </a:extLst>
          </p:cNvPr>
          <p:cNvSpPr>
            <a:spLocks xmlns:a="http://schemas.openxmlformats.org/drawingml/2006/main" noGrp="1"/>
          </p:cNvSpPr>
          <p:nvPr/>
        </p:nvSpPr>
        <p:spPr>
          <a:xfrm xmlns:a="http://schemas.openxmlformats.org/drawingml/2006/main">
            <a:off x="1962150" y="5715000"/>
            <a:ext cx="8267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Demo check: the Java deterministic engine fixes the route before PostgreSQL RAG and Local Ollama provide the explanation.</a:t>
            </a:r>
          </a:p>
        </p:txBody>
      </p:sp>
      <p:sp>
        <p:nvSpPr>
          <p:cNvPr id="25" name="">
            <a:extLst xmlns:a="http://schemas.openxmlformats.org/drawingml/2006/main">
              <a:ext uri="{FF2B5EF4-FFF2-40B4-BE49-F238E27FC236}">
                <a16:creationId xmlns:a16="http://schemas.microsoft.com/office/drawing/2014/main" id="{07486BA9-0D2F-4EB5-935E-96FC0272881D}"/>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12</a:t>
            </a:r>
          </a:p>
        </p:txBody>
      </p:sp>
    </p:spTree>
    <p:extLst>
      <p:ext uri="{BB962C8B-B14F-4D97-AF65-F5344CB8AC3E}">
        <p14:creationId xmlns:p14="http://schemas.microsoft.com/office/powerpoint/2010/main" val="86363409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279760-B390-488A-B7E9-D50332061F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445375-8A88-4350-A90F-2B2CA10F8030}"/>
              </a:ext>
            </a:extLst>
          </p:cNvPr>
          <p:cNvSpPr>
            <a:spLocks xmlns:a="http://schemas.openxmlformats.org/drawingml/2006/main" noGrp="1"/>
          </p:cNvSpPr>
          <p:nvPr/>
        </p:nvSpPr>
        <p:spPr>
          <a:xfrm xmlns:a="http://schemas.openxmlformats.org/drawingml/2006/main">
            <a:off x="990600" y="81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A599CC87-C68D-41B1-9801-E4A44BFB29A3}"/>
              </a:ext>
            </a:extLst>
          </p:cNvPr>
          <p:cNvSpPr>
            <a:spLocks xmlns:a="http://schemas.openxmlformats.org/drawingml/2006/main" noGrp="1"/>
          </p:cNvSpPr>
          <p:nvPr/>
        </p:nvSpPr>
        <p:spPr>
          <a:xfrm xmlns:a="http://schemas.openxmlformats.org/drawingml/2006/main">
            <a:off x="990600" y="1381125"/>
            <a:ext cx="18097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BCBE3A-B580-4276-A427-E7AE623208F2}"/>
              </a:ext>
            </a:extLst>
          </p:cNvPr>
          <p:cNvSpPr>
            <a:spLocks xmlns:a="http://schemas.openxmlformats.org/drawingml/2006/main" noGrp="1"/>
          </p:cNvSpPr>
          <p:nvPr/>
        </p:nvSpPr>
        <p:spPr>
          <a:xfrm xmlns:a="http://schemas.openxmlformats.org/drawingml/2006/main">
            <a:off x="990600" y="22383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Thank you</a:t>
            </a:r>
          </a:p>
        </p:txBody>
      </p:sp>
      <p:sp>
        <p:nvSpPr>
          <p:cNvPr id="5" name="">
            <a:extLst xmlns:a="http://schemas.openxmlformats.org/drawingml/2006/main">
              <a:ext uri="{FF2B5EF4-FFF2-40B4-BE49-F238E27FC236}">
                <a16:creationId xmlns:a16="http://schemas.microsoft.com/office/drawing/2014/main" id="{7F04372B-E69E-451A-84F0-8F21C83D5B57}"/>
              </a:ext>
            </a:extLst>
          </p:cNvPr>
          <p:cNvSpPr>
            <a:spLocks xmlns:a="http://schemas.openxmlformats.org/drawingml/2006/main" noGrp="1"/>
          </p:cNvSpPr>
          <p:nvPr/>
        </p:nvSpPr>
        <p:spPr>
          <a:xfrm xmlns:a="http://schemas.openxmlformats.org/drawingml/2006/main">
            <a:off x="990600" y="3067050"/>
            <a:ext cx="5810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DDE8F6"/>
                </a:solidFill>
                <a:latin typeface="Arial"/>
                <a:ea typeface="Arial"/>
                <a:cs typeface="Arial"/>
              </a:defRPr>
            </a:pPr>
            <a:r>
              <a:rPr sz="1650">
                <a:solidFill>
                  <a:srgbClr val="DDE8F6"/>
                </a:solidFill>
                <a:latin typeface="Arial"/>
                <a:ea typeface="Arial"/>
                <a:cs typeface="Arial"/>
              </a:rPr>
              <a:t>Questions and discussion</a:t>
            </a:r>
          </a:p>
        </p:txBody>
      </p:sp>
      <p:sp>
        <p:nvSpPr>
          <p:cNvPr id="6" name="">
            <a:extLst xmlns:a="http://schemas.openxmlformats.org/drawingml/2006/main">
              <a:ext uri="{FF2B5EF4-FFF2-40B4-BE49-F238E27FC236}">
                <a16:creationId xmlns:a16="http://schemas.microsoft.com/office/drawing/2014/main" id="{7A7215BD-1577-4A16-A1E6-C497889D3C33}"/>
              </a:ext>
            </a:extLst>
          </p:cNvPr>
          <p:cNvSpPr>
            <a:spLocks xmlns:a="http://schemas.openxmlformats.org/drawingml/2006/main" noGrp="1"/>
          </p:cNvSpPr>
          <p:nvPr/>
        </p:nvSpPr>
        <p:spPr>
          <a:xfrm xmlns:a="http://schemas.openxmlformats.org/drawingml/2006/main">
            <a:off x="990600" y="51054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FFFFFF"/>
                </a:solidFill>
                <a:latin typeface="Arial"/>
                <a:ea typeface="Arial"/>
                <a:cs typeface="Arial"/>
              </a:defRPr>
            </a:pPr>
            <a:r>
              <a:rPr sz="1350">
                <a:solidFill>
                  <a:srgbClr val="FFFFFF"/>
                </a:solidFill>
                <a:latin typeface="Arial"/>
                <a:ea typeface="Arial"/>
                <a:cs typeface="Arial"/>
              </a:rPr>
              <a:t>Reliable Bengali eye-care guidance with a fixed safety route</a:t>
            </a:r>
          </a:p>
        </p:txBody>
      </p:sp>
      <p:sp>
        <p:nvSpPr>
          <p:cNvPr id="7" name="">
            <a:extLst xmlns:a="http://schemas.openxmlformats.org/drawingml/2006/main">
              <a:ext uri="{FF2B5EF4-FFF2-40B4-BE49-F238E27FC236}">
                <a16:creationId xmlns:a16="http://schemas.microsoft.com/office/drawing/2014/main" id="{BB619EFA-9B7F-43D0-A2C2-DE42286911D6}"/>
              </a:ext>
            </a:extLst>
          </p:cNvPr>
          <p:cNvSpPr>
            <a:spLocks xmlns:a="http://schemas.openxmlformats.org/drawingml/2006/main" noGrp="1"/>
          </p:cNvSpPr>
          <p:nvPr/>
        </p:nvSpPr>
        <p:spPr>
          <a:xfrm xmlns:a="http://schemas.openxmlformats.org/drawingml/2006/main">
            <a:off x="990600" y="5524500"/>
            <a:ext cx="714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DE8F6"/>
                </a:solidFill>
                <a:latin typeface="Arial"/>
                <a:ea typeface="Arial"/>
                <a:cs typeface="Arial"/>
              </a:defRPr>
            </a:pPr>
            <a:r>
              <a:rPr sz="1125">
                <a:solidFill>
                  <a:srgbClr val="DDE8F6"/>
                </a:solidFill>
                <a:latin typeface="Arial"/>
                <a:ea typeface="Arial"/>
                <a:cs typeface="Arial"/>
              </a:rPr>
              <a:t>Voice and text access · approved clinical content · clear next action</a:t>
            </a:r>
          </a:p>
        </p:txBody>
      </p:sp>
      <p:sp>
        <p:nvSpPr>
          <p:cNvPr id="8" name="">
            <a:extLst xmlns:a="http://schemas.openxmlformats.org/drawingml/2006/main">
              <a:ext uri="{FF2B5EF4-FFF2-40B4-BE49-F238E27FC236}">
                <a16:creationId xmlns:a16="http://schemas.microsoft.com/office/drawing/2014/main" id="{6FED4DD0-BFF1-40AD-B312-D5A501AA5E05}"/>
              </a:ext>
            </a:extLst>
          </p:cNvPr>
          <p:cNvSpPr>
            <a:spLocks xmlns:a="http://schemas.openxmlformats.org/drawingml/2006/main" noGrp="1"/>
          </p:cNvSpPr>
          <p:nvPr/>
        </p:nvSpPr>
        <p:spPr>
          <a:xfrm xmlns:a="http://schemas.openxmlformats.org/drawingml/2006/main">
            <a:off x="990600" y="6153150"/>
            <a:ext cx="102108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EDF10E-4D21-4CD3-B527-586A1BC6A839}"/>
              </a:ext>
            </a:extLst>
          </p:cNvPr>
          <p:cNvSpPr>
            <a:spLocks xmlns:a="http://schemas.openxmlformats.org/drawingml/2006/main" noGrp="1"/>
          </p:cNvSpPr>
          <p:nvPr/>
        </p:nvSpPr>
        <p:spPr>
          <a:xfrm xmlns:a="http://schemas.openxmlformats.org/drawingml/2006/main">
            <a:off x="990600" y="634365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10" name="">
            <a:extLst xmlns:a="http://schemas.openxmlformats.org/drawingml/2006/main">
              <a:ext uri="{FF2B5EF4-FFF2-40B4-BE49-F238E27FC236}">
                <a16:creationId xmlns:a16="http://schemas.microsoft.com/office/drawing/2014/main" id="{3D8A0D5E-60A7-462B-8072-1D40BFB1F8BB}"/>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13</a:t>
            </a:r>
          </a:p>
        </p:txBody>
      </p:sp>
    </p:spTree>
    <p:extLst>
      <p:ext uri="{BB962C8B-B14F-4D97-AF65-F5344CB8AC3E}">
        <p14:creationId xmlns:p14="http://schemas.microsoft.com/office/powerpoint/2010/main" val="21395984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2026-09-05T15:49:57.3890000Z</dcterms:created>
  <dcterms:modified xsi:type="dcterms:W3CDTF">2026-09-05T15:49:57.3890000Z</dcterms:modified>
</coreProperties>
</file>